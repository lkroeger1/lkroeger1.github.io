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84" r:id="rId4"/>
    <p:sldMasterId id="2147483718" r:id="rId5"/>
  </p:sldMasterIdLst>
  <p:notesMasterIdLst>
    <p:notesMasterId r:id="rId21"/>
  </p:notesMasterIdLst>
  <p:handoutMasterIdLst>
    <p:handoutMasterId r:id="rId22"/>
  </p:handoutMasterIdLst>
  <p:sldIdLst>
    <p:sldId id="263" r:id="rId6"/>
    <p:sldId id="299" r:id="rId7"/>
    <p:sldId id="318" r:id="rId8"/>
    <p:sldId id="319" r:id="rId9"/>
    <p:sldId id="316" r:id="rId10"/>
    <p:sldId id="303" r:id="rId11"/>
    <p:sldId id="320" r:id="rId12"/>
    <p:sldId id="330" r:id="rId13"/>
    <p:sldId id="331" r:id="rId14"/>
    <p:sldId id="324" r:id="rId15"/>
    <p:sldId id="332" r:id="rId16"/>
    <p:sldId id="327" r:id="rId17"/>
    <p:sldId id="323" r:id="rId18"/>
    <p:sldId id="325" r:id="rId19"/>
    <p:sldId id="329" r:id="rId20"/>
  </p:sldIdLst>
  <p:sldSz cx="11520488" cy="648017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4AF4B"/>
    <a:srgbClr val="168638"/>
    <a:srgbClr val="FFFFFF"/>
    <a:srgbClr val="EFD5E8"/>
    <a:srgbClr val="1B1F23"/>
    <a:srgbClr val="30879C"/>
    <a:srgbClr val="318CA1"/>
    <a:srgbClr val="3494AB"/>
    <a:srgbClr val="E3F0E7"/>
    <a:srgbClr val="B4B4B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8928867-3634-B327-F95D-6167614C1A1F}" v="2" dt="2026-08-20T06:16:02.393"/>
    <p1510:client id="{7116167A-8D9A-C5E8-9D43-2EA714EF564C}" v="85" dt="2026-08-19T18:33:14.819"/>
    <p1510:client id="{72326BF7-3DC0-9B4F-9087-E2FF53BE766B}" v="1494" dt="2026-08-20T13:50:33.13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7160"/>
    <p:restoredTop sz="94598"/>
  </p:normalViewPr>
  <p:slideViewPr>
    <p:cSldViewPr snapToGrid="0">
      <p:cViewPr varScale="1">
        <p:scale>
          <a:sx n="86" d="100"/>
          <a:sy n="86" d="100"/>
        </p:scale>
        <p:origin x="232" y="10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viewProps" Target="viewProp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presProps" Target="presProps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handoutMaster" Target="handoutMasters/handoutMaster1.xml"/><Relationship Id="rId27" Type="http://schemas.microsoft.com/office/2015/10/relationships/revisionInfo" Target="revisionInfo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97AD5FE-7647-1959-A5F6-1C581314C60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C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35C3953-573F-4EB5-E520-7376F6A1377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5787029-FC2C-4640-9AE8-A7E4563DD7D6}" type="datetimeFigureOut">
              <a:rPr lang="de-CH" smtClean="0"/>
              <a:t>19.08.26</a:t>
            </a:fld>
            <a:endParaRPr lang="de-C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ED76DC8-E594-18E1-0FB2-574F2AD5F31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C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F42FCE3-CBFB-397C-8D47-701A8FB7D0C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FBD1134-AC4A-4522-946B-11816DE44094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63799505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24DC17-3E8D-F94C-91D3-5E624AEBA41F}" type="datetimeFigureOut">
              <a:rPr lang="en-US" smtClean="0"/>
              <a:t>8/19/26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35ABEB-D898-3E42-AE61-56CF49C1D6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55860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864017" rtl="0" eaLnBrk="1" latinLnBrk="0" hangingPunct="1">
      <a:defRPr sz="1134" kern="1200">
        <a:solidFill>
          <a:schemeClr val="tx1"/>
        </a:solidFill>
        <a:latin typeface="+mn-lt"/>
        <a:ea typeface="+mn-ea"/>
        <a:cs typeface="+mn-cs"/>
      </a:defRPr>
    </a:lvl1pPr>
    <a:lvl2pPr marL="432008" algn="l" defTabSz="864017" rtl="0" eaLnBrk="1" latinLnBrk="0" hangingPunct="1">
      <a:defRPr sz="1134" kern="1200">
        <a:solidFill>
          <a:schemeClr val="tx1"/>
        </a:solidFill>
        <a:latin typeface="+mn-lt"/>
        <a:ea typeface="+mn-ea"/>
        <a:cs typeface="+mn-cs"/>
      </a:defRPr>
    </a:lvl2pPr>
    <a:lvl3pPr marL="864017" algn="l" defTabSz="864017" rtl="0" eaLnBrk="1" latinLnBrk="0" hangingPunct="1">
      <a:defRPr sz="1134" kern="1200">
        <a:solidFill>
          <a:schemeClr val="tx1"/>
        </a:solidFill>
        <a:latin typeface="+mn-lt"/>
        <a:ea typeface="+mn-ea"/>
        <a:cs typeface="+mn-cs"/>
      </a:defRPr>
    </a:lvl3pPr>
    <a:lvl4pPr marL="1296025" algn="l" defTabSz="864017" rtl="0" eaLnBrk="1" latinLnBrk="0" hangingPunct="1">
      <a:defRPr sz="1134" kern="1200">
        <a:solidFill>
          <a:schemeClr val="tx1"/>
        </a:solidFill>
        <a:latin typeface="+mn-lt"/>
        <a:ea typeface="+mn-ea"/>
        <a:cs typeface="+mn-cs"/>
      </a:defRPr>
    </a:lvl4pPr>
    <a:lvl5pPr marL="1728033" algn="l" defTabSz="864017" rtl="0" eaLnBrk="1" latinLnBrk="0" hangingPunct="1">
      <a:defRPr sz="1134" kern="1200">
        <a:solidFill>
          <a:schemeClr val="tx1"/>
        </a:solidFill>
        <a:latin typeface="+mn-lt"/>
        <a:ea typeface="+mn-ea"/>
        <a:cs typeface="+mn-cs"/>
      </a:defRPr>
    </a:lvl5pPr>
    <a:lvl6pPr marL="2160041" algn="l" defTabSz="864017" rtl="0" eaLnBrk="1" latinLnBrk="0" hangingPunct="1">
      <a:defRPr sz="1134" kern="1200">
        <a:solidFill>
          <a:schemeClr val="tx1"/>
        </a:solidFill>
        <a:latin typeface="+mn-lt"/>
        <a:ea typeface="+mn-ea"/>
        <a:cs typeface="+mn-cs"/>
      </a:defRPr>
    </a:lvl6pPr>
    <a:lvl7pPr marL="2592050" algn="l" defTabSz="864017" rtl="0" eaLnBrk="1" latinLnBrk="0" hangingPunct="1">
      <a:defRPr sz="1134" kern="1200">
        <a:solidFill>
          <a:schemeClr val="tx1"/>
        </a:solidFill>
        <a:latin typeface="+mn-lt"/>
        <a:ea typeface="+mn-ea"/>
        <a:cs typeface="+mn-cs"/>
      </a:defRPr>
    </a:lvl7pPr>
    <a:lvl8pPr marL="3024058" algn="l" defTabSz="864017" rtl="0" eaLnBrk="1" latinLnBrk="0" hangingPunct="1">
      <a:defRPr sz="1134" kern="1200">
        <a:solidFill>
          <a:schemeClr val="tx1"/>
        </a:solidFill>
        <a:latin typeface="+mn-lt"/>
        <a:ea typeface="+mn-ea"/>
        <a:cs typeface="+mn-cs"/>
      </a:defRPr>
    </a:lvl8pPr>
    <a:lvl9pPr marL="3456066" algn="l" defTabSz="864017" rtl="0" eaLnBrk="1" latinLnBrk="0" hangingPunct="1">
      <a:defRPr sz="1134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35ABEB-D898-3E42-AE61-56CF49C1D686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317960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35ABEB-D898-3E42-AE61-56CF49C1D686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46241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35ABEB-D898-3E42-AE61-56CF49C1D686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613728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35ABEB-D898-3E42-AE61-56CF49C1D686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244583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35ABEB-D898-3E42-AE61-56CF49C1D686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712886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35ABEB-D898-3E42-AE61-56CF49C1D686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463086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35ABEB-D898-3E42-AE61-56CF49C1D686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531090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35ABEB-D898-3E42-AE61-56CF49C1D686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95593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7.sv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svg"/><Relationship Id="rId4" Type="http://schemas.openxmlformats.org/officeDocument/2006/relationships/image" Target="../media/image6.svg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Isosceles Triangle 42">
            <a:extLst>
              <a:ext uri="{FF2B5EF4-FFF2-40B4-BE49-F238E27FC236}">
                <a16:creationId xmlns:a16="http://schemas.microsoft.com/office/drawing/2014/main" id="{8D234E9D-C054-5674-1BA3-6CDBCAEC8DE6}"/>
              </a:ext>
            </a:extLst>
          </p:cNvPr>
          <p:cNvSpPr/>
          <p:nvPr userDrawn="1"/>
        </p:nvSpPr>
        <p:spPr>
          <a:xfrm>
            <a:off x="7123112" y="2082799"/>
            <a:ext cx="4397376" cy="4397376"/>
          </a:xfrm>
          <a:prstGeom prst="triangle">
            <a:avLst>
              <a:gd name="adj" fmla="val 100000"/>
            </a:avLst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b="1" i="0" cap="none" spc="0" noProof="0">
              <a:ln>
                <a:noFill/>
              </a:ln>
              <a:solidFill>
                <a:schemeClr val="bg2"/>
              </a:solidFill>
              <a:effectLst/>
              <a:latin typeface="Arial Narrow" panose="020B0604020202020204" pitchFamily="34" charset="0"/>
              <a:cs typeface="Arial Narrow" panose="020B0604020202020204" pitchFamily="34" charset="0"/>
            </a:endParaRPr>
          </a:p>
        </p:txBody>
      </p:sp>
      <p:pic>
        <p:nvPicPr>
          <p:cNvPr id="21" name="Graphic 20">
            <a:extLst>
              <a:ext uri="{FF2B5EF4-FFF2-40B4-BE49-F238E27FC236}">
                <a16:creationId xmlns:a16="http://schemas.microsoft.com/office/drawing/2014/main" id="{DE74E66C-D0DE-D973-3A0F-2E71084138B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60474" y="560848"/>
            <a:ext cx="1670462" cy="278410"/>
          </a:xfrm>
          <a:prstGeom prst="rect">
            <a:avLst/>
          </a:prstGeom>
        </p:spPr>
      </p:pic>
      <p:sp>
        <p:nvSpPr>
          <p:cNvPr id="30" name="Subtitle 2">
            <a:extLst>
              <a:ext uri="{FF2B5EF4-FFF2-40B4-BE49-F238E27FC236}">
                <a16:creationId xmlns:a16="http://schemas.microsoft.com/office/drawing/2014/main" id="{D93D6F44-AA10-891D-BF7D-311C32BF0F90}"/>
              </a:ext>
            </a:extLst>
          </p:cNvPr>
          <p:cNvSpPr>
            <a:spLocks noGrp="1"/>
          </p:cNvSpPr>
          <p:nvPr userDrawn="1">
            <p:ph type="subTitle" idx="1"/>
          </p:nvPr>
        </p:nvSpPr>
        <p:spPr>
          <a:xfrm>
            <a:off x="360476" y="2944056"/>
            <a:ext cx="5760000" cy="360000"/>
          </a:xfrm>
        </p:spPr>
        <p:txBody>
          <a:bodyPr lIns="0" tIns="0" rIns="0" bIns="0" anchor="b"/>
          <a:lstStyle>
            <a:lvl1pPr marL="0" indent="0" algn="l">
              <a:buNone/>
              <a:defRPr sz="2400" b="0">
                <a:solidFill>
                  <a:schemeClr val="tx1"/>
                </a:solidFill>
                <a:latin typeface="Calibri Light" panose="020F0302020204030204" pitchFamily="34" charset="0"/>
                <a:ea typeface="Roboto Condensed Light" panose="02000000000000000000" pitchFamily="2" charset="0"/>
                <a:cs typeface="Calibri Light" panose="020F0302020204030204" pitchFamily="34" charset="0"/>
              </a:defRPr>
            </a:lvl1pPr>
            <a:lvl2pPr marL="432008" indent="0" algn="ctr">
              <a:buNone/>
              <a:defRPr sz="1890"/>
            </a:lvl2pPr>
            <a:lvl3pPr marL="864017" indent="0" algn="ctr">
              <a:buNone/>
              <a:defRPr sz="1701"/>
            </a:lvl3pPr>
            <a:lvl4pPr marL="1296025" indent="0" algn="ctr">
              <a:buNone/>
              <a:defRPr sz="1512"/>
            </a:lvl4pPr>
            <a:lvl5pPr marL="1728033" indent="0" algn="ctr">
              <a:buNone/>
              <a:defRPr sz="1512"/>
            </a:lvl5pPr>
            <a:lvl6pPr marL="2160041" indent="0" algn="ctr">
              <a:buNone/>
              <a:defRPr sz="1512"/>
            </a:lvl6pPr>
            <a:lvl7pPr marL="2592050" indent="0" algn="ctr">
              <a:buNone/>
              <a:defRPr sz="1512"/>
            </a:lvl7pPr>
            <a:lvl8pPr marL="3024058" indent="0" algn="ctr">
              <a:buNone/>
              <a:defRPr sz="1512"/>
            </a:lvl8pPr>
            <a:lvl9pPr marL="3456066" indent="0" algn="ctr">
              <a:buNone/>
              <a:defRPr sz="1512"/>
            </a:lvl9pPr>
          </a:lstStyle>
          <a:p>
            <a:r>
              <a:rPr lang="en-GB" noProof="0"/>
              <a:t>Click to edit Master subtitle style</a:t>
            </a:r>
            <a:endParaRPr lang="en-US" noProof="0"/>
          </a:p>
        </p:txBody>
      </p:sp>
      <p:sp>
        <p:nvSpPr>
          <p:cNvPr id="31" name="Title 8">
            <a:extLst>
              <a:ext uri="{FF2B5EF4-FFF2-40B4-BE49-F238E27FC236}">
                <a16:creationId xmlns:a16="http://schemas.microsoft.com/office/drawing/2014/main" id="{5D78059F-19FB-CAFA-4937-958597D5C90B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360474" y="1752630"/>
            <a:ext cx="10080000" cy="1080000"/>
          </a:xfrm>
        </p:spPr>
        <p:txBody>
          <a:bodyPr anchor="t"/>
          <a:lstStyle>
            <a:lvl1pPr>
              <a:defRPr sz="3600" b="0">
                <a:solidFill>
                  <a:schemeClr val="accent3"/>
                </a:solidFill>
                <a:latin typeface="+mj-lt"/>
                <a:ea typeface="Roboto Condensed" panose="02000000000000000000" pitchFamily="2" charset="0"/>
              </a:defRPr>
            </a:lvl1pPr>
          </a:lstStyle>
          <a:p>
            <a:r>
              <a:rPr lang="en-US" noProof="0"/>
              <a:t>Click to edit Master title style (in case you have a</a:t>
            </a:r>
            <a:br>
              <a:rPr lang="en-US" noProof="0"/>
            </a:br>
            <a:r>
              <a:rPr lang="en-US" noProof="0"/>
              <a:t>very very long title it can also span multiple lines)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2C68568A-23B5-DA36-6C0D-2408AF9BED45}"/>
              </a:ext>
            </a:extLst>
          </p:cNvPr>
          <p:cNvSpPr/>
          <p:nvPr userDrawn="1"/>
        </p:nvSpPr>
        <p:spPr>
          <a:xfrm rot="2700000">
            <a:off x="9401118" y="3293580"/>
            <a:ext cx="1528333" cy="1528333"/>
          </a:xfrm>
          <a:prstGeom prst="roundRect">
            <a:avLst>
              <a:gd name="adj" fmla="val 4159"/>
            </a:avLst>
          </a:prstGeom>
          <a:solidFill>
            <a:schemeClr val="bg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noProof="0"/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9E5778BE-53D9-EBE2-E1E3-9486D873D633}"/>
              </a:ext>
            </a:extLst>
          </p:cNvPr>
          <p:cNvSpPr/>
          <p:nvPr userDrawn="1"/>
        </p:nvSpPr>
        <p:spPr>
          <a:xfrm rot="2700000">
            <a:off x="8951419" y="3642920"/>
            <a:ext cx="814296" cy="834811"/>
          </a:xfrm>
          <a:prstGeom prst="roundRect">
            <a:avLst>
              <a:gd name="adj" fmla="val 8380"/>
            </a:avLst>
          </a:prstGeom>
          <a:solidFill>
            <a:schemeClr val="bg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noProof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D34F58EB-B7F2-49D6-1DDD-84753A25C0D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846157" y="3067742"/>
            <a:ext cx="2313855" cy="1985634"/>
          </a:xfrm>
          <a:prstGeom prst="rect">
            <a:avLst/>
          </a:prstGeom>
          <a:ln w="66675">
            <a:noFill/>
          </a:ln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83722F6A-3AA4-BFC3-F572-3A7E83CD6F6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822350" y="5265126"/>
            <a:ext cx="295971" cy="253989"/>
          </a:xfrm>
          <a:prstGeom prst="rect">
            <a:avLst/>
          </a:prstGeom>
        </p:spPr>
      </p:pic>
      <p:pic>
        <p:nvPicPr>
          <p:cNvPr id="26" name="Graphic 25">
            <a:extLst>
              <a:ext uri="{FF2B5EF4-FFF2-40B4-BE49-F238E27FC236}">
                <a16:creationId xmlns:a16="http://schemas.microsoft.com/office/drawing/2014/main" id="{2FC50372-BF19-6EDB-06B0-B684360D324B}"/>
              </a:ext>
            </a:extLst>
          </p:cNvPr>
          <p:cNvPicPr>
            <a:picLocks noChangeAspect="1"/>
          </p:cNvPicPr>
          <p:nvPr userDrawn="1"/>
        </p:nvPicPr>
        <p:blipFill>
          <a:blip>
            <a:alphaModFix/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844045" y="6122365"/>
            <a:ext cx="255370" cy="176668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290F954B-C9F2-7811-FBF9-F2B6708CE96A}"/>
              </a:ext>
            </a:extLst>
          </p:cNvPr>
          <p:cNvSpPr txBox="1"/>
          <p:nvPr userDrawn="1"/>
        </p:nvSpPr>
        <p:spPr>
          <a:xfrm>
            <a:off x="8755030" y="5248677"/>
            <a:ext cx="2088092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300" b="0" i="0" u="none" noProof="0">
                <a:solidFill>
                  <a:schemeClr val="bg2"/>
                </a:solidFill>
                <a:latin typeface="Calibri Light" panose="020F0302020204030204" pitchFamily="34" charset="0"/>
                <a:ea typeface="Roboto Condensed Light" panose="02000000000000000000" pitchFamily="2" charset="0"/>
                <a:cs typeface="Calibri Light" panose="020F0302020204030204" pitchFamily="34" charset="0"/>
              </a:rPr>
              <a:t>pulp-</a:t>
            </a:r>
            <a:r>
              <a:rPr lang="en-US" sz="1300" b="0" i="0" u="none" noProof="0" err="1">
                <a:solidFill>
                  <a:schemeClr val="bg2"/>
                </a:solidFill>
                <a:latin typeface="Calibri Light" panose="020F0302020204030204" pitchFamily="34" charset="0"/>
                <a:ea typeface="Roboto Condensed Light" panose="02000000000000000000" pitchFamily="2" charset="0"/>
                <a:cs typeface="Calibri Light" panose="020F0302020204030204" pitchFamily="34" charset="0"/>
              </a:rPr>
              <a:t>platform.org</a:t>
            </a:r>
            <a:endParaRPr lang="en-US" sz="1300" b="0" i="0" u="none" noProof="0">
              <a:solidFill>
                <a:schemeClr val="bg2"/>
              </a:solidFill>
              <a:latin typeface="Calibri Light" panose="020F0302020204030204" pitchFamily="34" charset="0"/>
              <a:ea typeface="Roboto Condensed Light" panose="02000000000000000000" pitchFamily="2" charset="0"/>
              <a:cs typeface="Calibri Light" panose="020F0302020204030204" pitchFamily="34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8E24402-6167-3DAC-15F7-96A8C18DA6C3}"/>
              </a:ext>
            </a:extLst>
          </p:cNvPr>
          <p:cNvSpPr txBox="1"/>
          <p:nvPr userDrawn="1"/>
        </p:nvSpPr>
        <p:spPr>
          <a:xfrm>
            <a:off x="9273006" y="5520227"/>
            <a:ext cx="1570116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300" b="0" i="0" u="none" noProof="0">
                <a:solidFill>
                  <a:schemeClr val="bg2"/>
                </a:solidFill>
                <a:latin typeface="Calibri Light" panose="020F0302020204030204" pitchFamily="34" charset="0"/>
                <a:ea typeface="Roboto Condensed Light" panose="02000000000000000000" pitchFamily="2" charset="0"/>
                <a:cs typeface="Calibri Light" panose="020F0302020204030204" pitchFamily="34" charset="0"/>
              </a:rPr>
              <a:t>@</a:t>
            </a:r>
            <a:r>
              <a:rPr lang="en-US" sz="1300" b="0" i="0" u="none" noProof="0" err="1">
                <a:solidFill>
                  <a:schemeClr val="bg2"/>
                </a:solidFill>
                <a:latin typeface="Calibri Light" panose="020F0302020204030204" pitchFamily="34" charset="0"/>
                <a:ea typeface="Roboto Condensed Light" panose="02000000000000000000" pitchFamily="2" charset="0"/>
                <a:cs typeface="Calibri Light" panose="020F0302020204030204" pitchFamily="34" charset="0"/>
              </a:rPr>
              <a:t>pulp_platform</a:t>
            </a:r>
            <a:endParaRPr lang="en-US" sz="1300" b="0" i="0" u="none" noProof="0">
              <a:solidFill>
                <a:schemeClr val="bg2"/>
              </a:solidFill>
              <a:latin typeface="Calibri Light" panose="020F0302020204030204" pitchFamily="34" charset="0"/>
              <a:ea typeface="Roboto Condensed Light" panose="02000000000000000000" pitchFamily="2" charset="0"/>
              <a:cs typeface="Calibri Light" panose="020F0302020204030204" pitchFamily="34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F70316D-DDCE-8E08-F033-57AFE61CA03C}"/>
              </a:ext>
            </a:extLst>
          </p:cNvPr>
          <p:cNvSpPr txBox="1"/>
          <p:nvPr userDrawn="1"/>
        </p:nvSpPr>
        <p:spPr>
          <a:xfrm>
            <a:off x="8282406" y="6053732"/>
            <a:ext cx="2560716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300" b="0" i="0" u="none" noProof="0" err="1">
                <a:solidFill>
                  <a:schemeClr val="bg2"/>
                </a:solidFill>
                <a:latin typeface="Calibri Light" panose="020F0302020204030204" pitchFamily="34" charset="0"/>
                <a:ea typeface="Roboto Condensed Light" panose="02000000000000000000" pitchFamily="2" charset="0"/>
                <a:cs typeface="Calibri Light" panose="020F0302020204030204" pitchFamily="34" charset="0"/>
              </a:rPr>
              <a:t>youtube.com</a:t>
            </a:r>
            <a:r>
              <a:rPr lang="en-US" sz="1300" b="0" i="0" u="none" noProof="0">
                <a:solidFill>
                  <a:schemeClr val="bg2"/>
                </a:solidFill>
                <a:latin typeface="Calibri Light" panose="020F0302020204030204" pitchFamily="34" charset="0"/>
                <a:ea typeface="Roboto Condensed Light" panose="02000000000000000000" pitchFamily="2" charset="0"/>
                <a:cs typeface="Calibri Light" panose="020F0302020204030204" pitchFamily="34" charset="0"/>
              </a:rPr>
              <a:t>/</a:t>
            </a:r>
            <a:r>
              <a:rPr lang="en-US" sz="1300" b="0" i="0" u="none" noProof="0" err="1">
                <a:solidFill>
                  <a:schemeClr val="bg2"/>
                </a:solidFill>
                <a:latin typeface="Calibri Light" panose="020F0302020204030204" pitchFamily="34" charset="0"/>
                <a:ea typeface="Roboto Condensed Light" panose="02000000000000000000" pitchFamily="2" charset="0"/>
                <a:cs typeface="Calibri Light" panose="020F0302020204030204" pitchFamily="34" charset="0"/>
              </a:rPr>
              <a:t>pulp_platform</a:t>
            </a:r>
            <a:endParaRPr lang="en-US" sz="1300" b="0" i="0" u="none" noProof="0">
              <a:solidFill>
                <a:schemeClr val="bg2"/>
              </a:solidFill>
              <a:latin typeface="Calibri Light" panose="020F0302020204030204" pitchFamily="34" charset="0"/>
              <a:ea typeface="Roboto Condensed Light" panose="02000000000000000000" pitchFamily="2" charset="0"/>
              <a:cs typeface="Calibri Light" panose="020F0302020204030204" pitchFamily="34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5C09BED-6F4B-D060-60EF-CB1FD4E4F544}"/>
              </a:ext>
            </a:extLst>
          </p:cNvPr>
          <p:cNvSpPr txBox="1"/>
          <p:nvPr userDrawn="1"/>
        </p:nvSpPr>
        <p:spPr>
          <a:xfrm>
            <a:off x="360475" y="5558647"/>
            <a:ext cx="5718107" cy="679217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marL="0" marR="0" lvl="0" indent="0" algn="l" defTabSz="7200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 b="1" i="0" noProof="0">
                <a:solidFill>
                  <a:schemeClr val="tx1"/>
                </a:solidFill>
                <a:latin typeface="+mj-lt"/>
                <a:ea typeface="Roboto Condensed" panose="02000000000000000000" pitchFamily="2" charset="0"/>
                <a:cs typeface="Arial Narrow" panose="020B0604020202020204" pitchFamily="34" charset="0"/>
              </a:rPr>
              <a:t>PULP Platform</a:t>
            </a:r>
            <a:br>
              <a:rPr lang="en-US" sz="1800" b="0" i="0" noProof="0">
                <a:solidFill>
                  <a:schemeClr val="tx1"/>
                </a:solidFill>
                <a:latin typeface="+mj-lt"/>
                <a:ea typeface="Roboto Condensed" panose="02000000000000000000" pitchFamily="2" charset="0"/>
                <a:cs typeface="Arial Narrow" panose="020B0604020202020204" pitchFamily="34" charset="0"/>
              </a:rPr>
            </a:br>
            <a:r>
              <a:rPr lang="en-US" sz="1800" b="0" i="0" noProof="0">
                <a:solidFill>
                  <a:schemeClr val="tx1"/>
                </a:solidFill>
                <a:latin typeface="Calibri Light" panose="020F0302020204030204" pitchFamily="34" charset="0"/>
                <a:ea typeface="Roboto Condensed Light" panose="02000000000000000000" pitchFamily="2" charset="0"/>
                <a:cs typeface="Calibri Light" panose="020F0302020204030204" pitchFamily="34" charset="0"/>
              </a:rPr>
              <a:t>Open Source Hardware, the way it should be!</a:t>
            </a:r>
          </a:p>
        </p:txBody>
      </p:sp>
      <p:sp>
        <p:nvSpPr>
          <p:cNvPr id="36" name="Text Placeholder 8">
            <a:extLst>
              <a:ext uri="{FF2B5EF4-FFF2-40B4-BE49-F238E27FC236}">
                <a16:creationId xmlns:a16="http://schemas.microsoft.com/office/drawing/2014/main" id="{E1C72157-447E-AAA3-80DA-9A3928C6C6A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60476" y="3670855"/>
            <a:ext cx="5760000" cy="1619466"/>
          </a:xfrm>
        </p:spPr>
        <p:txBody>
          <a:bodyPr/>
          <a:lstStyle>
            <a:lvl1pPr marL="0" indent="0">
              <a:buNone/>
              <a:defRPr sz="2000" b="0">
                <a:solidFill>
                  <a:schemeClr val="accent3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b="1" noProof="0">
                <a:latin typeface="+mj-lt"/>
              </a:rPr>
              <a:t>Author Name 1    </a:t>
            </a:r>
            <a:r>
              <a:rPr lang="en-US" noProof="0">
                <a:solidFill>
                  <a:schemeClr val="tx1"/>
                </a:solidFill>
              </a:rPr>
              <a:t>mail1@iis.ee.ethz.ch</a:t>
            </a:r>
            <a:br>
              <a:rPr lang="en-US" noProof="0">
                <a:solidFill>
                  <a:schemeClr val="tx1"/>
                </a:solidFill>
              </a:rPr>
            </a:br>
            <a:r>
              <a:rPr lang="en-US" b="1" noProof="0">
                <a:latin typeface="+mj-lt"/>
              </a:rPr>
              <a:t>Author Name 2    </a:t>
            </a:r>
            <a:r>
              <a:rPr lang="en-US" noProof="0">
                <a:solidFill>
                  <a:schemeClr val="tx1"/>
                </a:solidFill>
              </a:rPr>
              <a:t>mail2@iis.ee.ethz.ch</a:t>
            </a:r>
            <a:br>
              <a:rPr lang="en-US" b="1" noProof="0">
                <a:latin typeface="+mj-lt"/>
              </a:rPr>
            </a:br>
            <a:r>
              <a:rPr lang="en-US" b="1" noProof="0">
                <a:latin typeface="+mj-lt"/>
              </a:rPr>
              <a:t>Author Name 3    </a:t>
            </a:r>
            <a:r>
              <a:rPr lang="en-US" noProof="0">
                <a:solidFill>
                  <a:schemeClr val="tx1"/>
                </a:solidFill>
              </a:rPr>
              <a:t>mail3@unibo.it</a:t>
            </a:r>
            <a:br>
              <a:rPr lang="en-US" b="1" noProof="0">
                <a:latin typeface="+mj-lt"/>
              </a:rPr>
            </a:br>
            <a:r>
              <a:rPr lang="en-US" b="1" noProof="0">
                <a:latin typeface="+mj-lt"/>
              </a:rPr>
              <a:t>Author Name 4    </a:t>
            </a:r>
            <a:r>
              <a:rPr lang="en-US" noProof="0">
                <a:solidFill>
                  <a:schemeClr val="tx1"/>
                </a:solidFill>
              </a:rPr>
              <a:t>mail4@unibo.it</a:t>
            </a:r>
            <a:endParaRPr lang="en-US" b="1" noProof="0">
              <a:latin typeface="+mj-lt"/>
            </a:endParaRPr>
          </a:p>
        </p:txBody>
      </p:sp>
      <p:pic>
        <p:nvPicPr>
          <p:cNvPr id="12" name="Picture 11" descr="A logo on a black background&#10;&#10;Description automatically generated">
            <a:extLst>
              <a:ext uri="{FF2B5EF4-FFF2-40B4-BE49-F238E27FC236}">
                <a16:creationId xmlns:a16="http://schemas.microsoft.com/office/drawing/2014/main" id="{67B48A85-951C-6934-67B0-C701770193F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/>
          <a:srcRect l="7432" t="9486" r="7777" b="7244"/>
          <a:stretch/>
        </p:blipFill>
        <p:spPr>
          <a:xfrm>
            <a:off x="2157272" y="242311"/>
            <a:ext cx="1322773" cy="1029811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D2AB48B9-8C32-846F-516D-BB66869FBA1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l="23662" t="14200" r="22637" b="12205"/>
          <a:stretch/>
        </p:blipFill>
        <p:spPr>
          <a:xfrm>
            <a:off x="10861001" y="5566195"/>
            <a:ext cx="218671" cy="219191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A867DE6B-6AD0-3722-FF10-5C1FEA0276B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862738" y="5845909"/>
            <a:ext cx="215198" cy="21519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A06BFA9-ED02-5DE2-9B98-A27E71DAED0F}"/>
              </a:ext>
            </a:extLst>
          </p:cNvPr>
          <p:cNvSpPr txBox="1"/>
          <p:nvPr userDrawn="1"/>
        </p:nvSpPr>
        <p:spPr>
          <a:xfrm>
            <a:off x="8873752" y="5788000"/>
            <a:ext cx="196937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300" b="0" i="0" u="none" noProof="0">
                <a:solidFill>
                  <a:schemeClr val="bg2"/>
                </a:solidFill>
                <a:latin typeface="Calibri Light" panose="020F0302020204030204" pitchFamily="34" charset="0"/>
                <a:ea typeface="Roboto Condensed Light" panose="02000000000000000000" pitchFamily="2" charset="0"/>
                <a:cs typeface="Calibri Light" panose="020F0302020204030204" pitchFamily="34" charset="0"/>
              </a:rPr>
              <a:t>company/pulp-platform</a:t>
            </a:r>
          </a:p>
        </p:txBody>
      </p:sp>
    </p:spTree>
    <p:extLst>
      <p:ext uri="{BB962C8B-B14F-4D97-AF65-F5344CB8AC3E}">
        <p14:creationId xmlns:p14="http://schemas.microsoft.com/office/powerpoint/2010/main" val="7377763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ndar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4D077E-5042-0548-869A-7270756A62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r>
              <a:rPr lang="en-GB" noProof="0"/>
              <a:t>Click to edit Master title style</a:t>
            </a:r>
            <a:endParaRPr lang="en-US" noProof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70174C9C-B987-0541-A176-A2B2DAD7ED2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99068" y="936000"/>
            <a:ext cx="10080003" cy="5220000"/>
          </a:xfrm>
        </p:spPr>
        <p:txBody>
          <a:bodyPr lIns="0"/>
          <a:lstStyle>
            <a:lvl1pPr marL="288004" indent="-288004">
              <a:buClrTx/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504000" indent="-216004">
              <a:buClrTx/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720000" indent="-216004">
              <a:buClrTx/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</a:defRPr>
            </a:lvl3pPr>
            <a:lvl4pPr marL="936000" indent="-216004">
              <a:buClrTx/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4pPr>
            <a:lvl5pPr marL="1152000" indent="-216004">
              <a:buClrTx/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US" noProof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AE741D-DF86-4A3D-DF9D-A4FFA6F777AC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de-DE"/>
              <a:t>SoC DaML Mini Project Presentation Lars Kröger, 20.08.2026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287C1C-F0E1-9B48-6BC9-7FFF56ADE91A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33867F2A-E750-44E7-A740-D3E09DF683A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53506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041" userDrawn="1">
          <p15:clr>
            <a:srgbClr val="FBAE40"/>
          </p15:clr>
        </p15:guide>
        <p15:guide id="2" pos="3628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-by-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60B9BE-1D26-7346-9AA8-506C5668F5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/>
              <a:t>Click to edit Master title style</a:t>
            </a:r>
            <a:endParaRPr lang="en-US" noProof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3728336-7315-434C-A2F3-4C0D9A3AA4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99068" y="936000"/>
            <a:ext cx="5040000" cy="5220000"/>
          </a:xfrm>
        </p:spPr>
        <p:txBody>
          <a:bodyPr lIns="0"/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US" noProof="0"/>
          </a:p>
        </p:txBody>
      </p:sp>
      <p:sp>
        <p:nvSpPr>
          <p:cNvPr id="8" name="Content Placeholder 6">
            <a:extLst>
              <a:ext uri="{FF2B5EF4-FFF2-40B4-BE49-F238E27FC236}">
                <a16:creationId xmlns:a16="http://schemas.microsoft.com/office/drawing/2014/main" id="{68EB7E14-95DC-BD46-A92B-290E248FFCB6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339071" y="936000"/>
            <a:ext cx="5040000" cy="5220000"/>
          </a:xfrm>
        </p:spPr>
        <p:txBody>
          <a:bodyPr lIns="0"/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US" noProof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C9B5078-341C-4154-4064-BE0AD2B3F9D4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de-DE"/>
              <a:t>SoC DaML Mini Project Presentation Lars Kröger, 20.08.2026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FEADA4-720D-7361-338C-106924EF745A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33867F2A-E750-44E7-A740-D3E09DF683A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89434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041" userDrawn="1">
          <p15:clr>
            <a:srgbClr val="FBAE40"/>
          </p15:clr>
        </p15:guide>
        <p15:guide id="2" pos="3628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in-Thi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60B9BE-1D26-7346-9AA8-506C5668F5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/>
              <a:t>Click to edit Master title style</a:t>
            </a:r>
            <a:endParaRPr lang="en-US" noProof="0"/>
          </a:p>
        </p:txBody>
      </p:sp>
      <p:sp>
        <p:nvSpPr>
          <p:cNvPr id="8" name="Content Placeholder 6">
            <a:extLst>
              <a:ext uri="{FF2B5EF4-FFF2-40B4-BE49-F238E27FC236}">
                <a16:creationId xmlns:a16="http://schemas.microsoft.com/office/drawing/2014/main" id="{68EB7E14-95DC-BD46-A92B-290E248FFCB6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899071" y="936000"/>
            <a:ext cx="6480000" cy="5220000"/>
          </a:xfrm>
        </p:spPr>
        <p:txBody>
          <a:bodyPr/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US" noProof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3728336-7315-434C-A2F3-4C0D9A3AA4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99071" y="936000"/>
            <a:ext cx="3600000" cy="5220000"/>
          </a:xfrm>
        </p:spPr>
        <p:txBody>
          <a:bodyPr/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US" noProof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3BBB8B8-3BA4-B4B8-A5C5-6B943984B65D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de-DE"/>
              <a:t>SoC DaML Mini Project Presentation Lars Kröger, 20.08.2026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BC55C4-9751-FC37-00B6-D3B10C1817FF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33867F2A-E750-44E7-A740-D3E09DF683A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20231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ick-Th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60B9BE-1D26-7346-9AA8-506C5668F5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/>
              <a:t>Click to edit Master title style</a:t>
            </a:r>
            <a:endParaRPr lang="en-US" noProof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3728336-7315-434C-A2F3-4C0D9A3AA4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99071" y="936000"/>
            <a:ext cx="6480000" cy="5220000"/>
          </a:xfrm>
        </p:spPr>
        <p:txBody>
          <a:bodyPr/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US" noProof="0"/>
          </a:p>
        </p:txBody>
      </p:sp>
      <p:sp>
        <p:nvSpPr>
          <p:cNvPr id="8" name="Content Placeholder 6">
            <a:extLst>
              <a:ext uri="{FF2B5EF4-FFF2-40B4-BE49-F238E27FC236}">
                <a16:creationId xmlns:a16="http://schemas.microsoft.com/office/drawing/2014/main" id="{68EB7E14-95DC-BD46-A92B-290E248FFCB6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779071" y="936000"/>
            <a:ext cx="3600000" cy="5220000"/>
          </a:xfrm>
        </p:spPr>
        <p:txBody>
          <a:bodyPr/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US" noProof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BF29531-4266-41D8-C902-18438A77E806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de-DE"/>
              <a:t>SoC DaML Mini Project Presentation Lars Kröger, 20.08.2026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EADBFD-8297-D7FA-8C82-37223A28A9F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33867F2A-E750-44E7-A740-D3E09DF683A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73269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plus tw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B71930-E256-A84E-8AC4-067EFE37D2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44A658AA-5F13-9145-AA9C-7217BB8AFC6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99071" y="936000"/>
            <a:ext cx="10080000" cy="2520000"/>
          </a:xfrm>
          <a:effectLst/>
        </p:spPr>
        <p:txBody>
          <a:bodyPr/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US" noProof="0"/>
          </a:p>
        </p:txBody>
      </p:sp>
      <p:sp>
        <p:nvSpPr>
          <p:cNvPr id="8" name="Content Placeholder 6">
            <a:extLst>
              <a:ext uri="{FF2B5EF4-FFF2-40B4-BE49-F238E27FC236}">
                <a16:creationId xmlns:a16="http://schemas.microsoft.com/office/drawing/2014/main" id="{DBBDF1A2-5CF8-E945-BD80-7B75AF0E158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299071" y="3458850"/>
            <a:ext cx="5040000" cy="2700000"/>
          </a:xfrm>
        </p:spPr>
        <p:txBody>
          <a:bodyPr/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US" noProof="0"/>
          </a:p>
        </p:txBody>
      </p:sp>
      <p:sp>
        <p:nvSpPr>
          <p:cNvPr id="9" name="Content Placeholder 6">
            <a:extLst>
              <a:ext uri="{FF2B5EF4-FFF2-40B4-BE49-F238E27FC236}">
                <a16:creationId xmlns:a16="http://schemas.microsoft.com/office/drawing/2014/main" id="{D52D67F4-7CD9-7D48-9F3C-897EB7BBCA2F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5339071" y="3458850"/>
            <a:ext cx="5040000" cy="2700000"/>
          </a:xfrm>
        </p:spPr>
        <p:txBody>
          <a:bodyPr/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US" noProof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E8C37B2-5C80-94D6-1AEA-FC88E0D7A649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r>
              <a:rPr lang="de-DE"/>
              <a:t>SoC DaML Mini Project Presentation Lars Kröger, 20.08.2026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601DA4-BFA2-822A-E2BF-DBC2248BD71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33867F2A-E750-44E7-A740-D3E09DF683A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06378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by-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308099" y="936000"/>
            <a:ext cx="3240000" cy="5040000"/>
          </a:xfrm>
        </p:spPr>
        <p:txBody>
          <a:bodyPr lIns="140400" rIns="0"/>
          <a:lstStyle>
            <a:lvl1pPr>
              <a:lnSpc>
                <a:spcPct val="100000"/>
              </a:lnSpc>
              <a:spcBef>
                <a:spcPts val="472"/>
              </a:spcBef>
              <a:defRPr sz="1890"/>
            </a:lvl1pPr>
            <a:lvl2pPr>
              <a:lnSpc>
                <a:spcPct val="100000"/>
              </a:lnSpc>
              <a:spcBef>
                <a:spcPts val="378"/>
              </a:spcBef>
              <a:defRPr sz="1701"/>
            </a:lvl2pPr>
            <a:lvl3pPr>
              <a:lnSpc>
                <a:spcPct val="100000"/>
              </a:lnSpc>
              <a:spcBef>
                <a:spcPts val="378"/>
              </a:spcBef>
              <a:defRPr sz="1512"/>
            </a:lvl3pPr>
            <a:lvl4pPr marL="1018520" indent="-168003">
              <a:lnSpc>
                <a:spcPct val="100000"/>
              </a:lnSpc>
              <a:spcBef>
                <a:spcPts val="378"/>
              </a:spcBef>
              <a:defRPr sz="1323"/>
            </a:lvl4pPr>
            <a:lvl5pPr>
              <a:defRPr sz="1323"/>
            </a:lvl5pPr>
            <a:lvl6pPr>
              <a:defRPr sz="1701"/>
            </a:lvl6pPr>
            <a:lvl7pPr>
              <a:defRPr sz="1701"/>
            </a:lvl7pPr>
            <a:lvl8pPr>
              <a:defRPr sz="1701"/>
            </a:lvl8pPr>
            <a:lvl9pPr>
              <a:defRPr sz="1701"/>
            </a:lvl9pPr>
          </a:lstStyle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US" noProof="0"/>
          </a:p>
        </p:txBody>
      </p:sp>
      <p:sp>
        <p:nvSpPr>
          <p:cNvPr id="9" name="Inhaltsplatzhalter 2">
            <a:extLst>
              <a:ext uri="{FF2B5EF4-FFF2-40B4-BE49-F238E27FC236}">
                <a16:creationId xmlns:a16="http://schemas.microsoft.com/office/drawing/2014/main" id="{7EFD657C-081B-244B-977B-C089FB58A1D2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3728103" y="936000"/>
            <a:ext cx="3240000" cy="5040000"/>
          </a:xfrm>
        </p:spPr>
        <p:txBody>
          <a:bodyPr lIns="140400" rIns="0"/>
          <a:lstStyle>
            <a:lvl1pPr>
              <a:lnSpc>
                <a:spcPct val="100000"/>
              </a:lnSpc>
              <a:spcBef>
                <a:spcPts val="472"/>
              </a:spcBef>
              <a:defRPr sz="1890"/>
            </a:lvl1pPr>
            <a:lvl2pPr>
              <a:lnSpc>
                <a:spcPct val="100000"/>
              </a:lnSpc>
              <a:spcBef>
                <a:spcPts val="378"/>
              </a:spcBef>
              <a:defRPr sz="1701"/>
            </a:lvl2pPr>
            <a:lvl3pPr>
              <a:lnSpc>
                <a:spcPct val="100000"/>
              </a:lnSpc>
              <a:spcBef>
                <a:spcPts val="378"/>
              </a:spcBef>
              <a:defRPr sz="1512"/>
            </a:lvl3pPr>
            <a:lvl4pPr marL="1018520" indent="-168003">
              <a:lnSpc>
                <a:spcPct val="100000"/>
              </a:lnSpc>
              <a:spcBef>
                <a:spcPts val="378"/>
              </a:spcBef>
              <a:defRPr sz="1323"/>
            </a:lvl4pPr>
            <a:lvl5pPr>
              <a:defRPr sz="1323"/>
            </a:lvl5pPr>
            <a:lvl6pPr>
              <a:defRPr sz="1701"/>
            </a:lvl6pPr>
            <a:lvl7pPr>
              <a:defRPr sz="1701"/>
            </a:lvl7pPr>
            <a:lvl8pPr>
              <a:defRPr sz="1701"/>
            </a:lvl8pPr>
            <a:lvl9pPr>
              <a:defRPr sz="1701"/>
            </a:lvl9pPr>
          </a:lstStyle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US" noProof="0"/>
          </a:p>
        </p:txBody>
      </p:sp>
      <p:sp>
        <p:nvSpPr>
          <p:cNvPr id="10" name="Inhaltsplatzhalter 2">
            <a:extLst>
              <a:ext uri="{FF2B5EF4-FFF2-40B4-BE49-F238E27FC236}">
                <a16:creationId xmlns:a16="http://schemas.microsoft.com/office/drawing/2014/main" id="{C466C897-17D8-464D-80AC-5BEDA0432F94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7148103" y="936000"/>
            <a:ext cx="3240000" cy="5040000"/>
          </a:xfrm>
        </p:spPr>
        <p:txBody>
          <a:bodyPr lIns="140400" rIns="0"/>
          <a:lstStyle>
            <a:lvl1pPr>
              <a:lnSpc>
                <a:spcPct val="100000"/>
              </a:lnSpc>
              <a:spcBef>
                <a:spcPts val="472"/>
              </a:spcBef>
              <a:defRPr sz="1890"/>
            </a:lvl1pPr>
            <a:lvl2pPr>
              <a:lnSpc>
                <a:spcPct val="100000"/>
              </a:lnSpc>
              <a:spcBef>
                <a:spcPts val="378"/>
              </a:spcBef>
              <a:defRPr sz="1701"/>
            </a:lvl2pPr>
            <a:lvl3pPr>
              <a:lnSpc>
                <a:spcPct val="100000"/>
              </a:lnSpc>
              <a:spcBef>
                <a:spcPts val="378"/>
              </a:spcBef>
              <a:defRPr sz="1512"/>
            </a:lvl3pPr>
            <a:lvl4pPr marL="1018520" indent="-168003">
              <a:lnSpc>
                <a:spcPct val="100000"/>
              </a:lnSpc>
              <a:spcBef>
                <a:spcPts val="378"/>
              </a:spcBef>
              <a:defRPr sz="1323"/>
            </a:lvl4pPr>
            <a:lvl5pPr>
              <a:defRPr sz="1323"/>
            </a:lvl5pPr>
            <a:lvl6pPr>
              <a:defRPr sz="1701"/>
            </a:lvl6pPr>
            <a:lvl7pPr>
              <a:defRPr sz="1701"/>
            </a:lvl7pPr>
            <a:lvl8pPr>
              <a:defRPr sz="1701"/>
            </a:lvl8pPr>
            <a:lvl9pPr>
              <a:defRPr sz="1701"/>
            </a:lvl9pPr>
          </a:lstStyle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US" noProof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03B2C5F9-4358-A05F-BE1B-DC3232E3A5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/>
              <a:t>Click to edit Master title style</a:t>
            </a:r>
            <a:endParaRPr lang="en-US" noProof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4E2525F-FE6F-3F2A-87F8-E53C217DF63D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de-DE"/>
              <a:t>SoC DaML Mini Project Presentation Lars Kröger, 20.08.2026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F30934-A358-D4CE-05CE-858B26903D6B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33867F2A-E750-44E7-A740-D3E09DF683A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4178464"/>
      </p:ext>
    </p:extLst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-bo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303336" y="936000"/>
            <a:ext cx="5040000" cy="2520000"/>
          </a:xfrm>
        </p:spPr>
        <p:txBody>
          <a:bodyPr lIns="140400" rIns="0"/>
          <a:lstStyle>
            <a:lvl1pPr>
              <a:lnSpc>
                <a:spcPct val="100000"/>
              </a:lnSpc>
              <a:spcBef>
                <a:spcPts val="472"/>
              </a:spcBef>
              <a:defRPr sz="1890"/>
            </a:lvl1pPr>
            <a:lvl2pPr>
              <a:lnSpc>
                <a:spcPct val="100000"/>
              </a:lnSpc>
              <a:spcBef>
                <a:spcPts val="378"/>
              </a:spcBef>
              <a:defRPr sz="1701"/>
            </a:lvl2pPr>
            <a:lvl3pPr>
              <a:lnSpc>
                <a:spcPct val="100000"/>
              </a:lnSpc>
              <a:spcBef>
                <a:spcPts val="378"/>
              </a:spcBef>
              <a:defRPr sz="1512"/>
            </a:lvl3pPr>
            <a:lvl4pPr marL="1018520" indent="-168003">
              <a:lnSpc>
                <a:spcPct val="100000"/>
              </a:lnSpc>
              <a:spcBef>
                <a:spcPts val="378"/>
              </a:spcBef>
              <a:defRPr sz="1323"/>
            </a:lvl4pPr>
            <a:lvl5pPr>
              <a:defRPr sz="1323"/>
            </a:lvl5pPr>
            <a:lvl6pPr>
              <a:defRPr sz="1701"/>
            </a:lvl6pPr>
            <a:lvl7pPr>
              <a:defRPr sz="1701"/>
            </a:lvl7pPr>
            <a:lvl8pPr>
              <a:defRPr sz="1701"/>
            </a:lvl8pPr>
            <a:lvl9pPr>
              <a:defRPr sz="1701"/>
            </a:lvl9pPr>
          </a:lstStyle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US" noProof="0"/>
          </a:p>
        </p:txBody>
      </p:sp>
      <p:sp>
        <p:nvSpPr>
          <p:cNvPr id="9" name="Inhaltsplatzhalter 2">
            <a:extLst>
              <a:ext uri="{FF2B5EF4-FFF2-40B4-BE49-F238E27FC236}">
                <a16:creationId xmlns:a16="http://schemas.microsoft.com/office/drawing/2014/main" id="{7EFD657C-081B-244B-977B-C089FB58A1D2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5343340" y="936000"/>
            <a:ext cx="5040000" cy="2520000"/>
          </a:xfrm>
        </p:spPr>
        <p:txBody>
          <a:bodyPr lIns="140400" rIns="0"/>
          <a:lstStyle>
            <a:lvl1pPr>
              <a:lnSpc>
                <a:spcPct val="100000"/>
              </a:lnSpc>
              <a:spcBef>
                <a:spcPts val="472"/>
              </a:spcBef>
              <a:defRPr sz="1890"/>
            </a:lvl1pPr>
            <a:lvl2pPr>
              <a:lnSpc>
                <a:spcPct val="100000"/>
              </a:lnSpc>
              <a:spcBef>
                <a:spcPts val="378"/>
              </a:spcBef>
              <a:defRPr sz="1701"/>
            </a:lvl2pPr>
            <a:lvl3pPr>
              <a:lnSpc>
                <a:spcPct val="100000"/>
              </a:lnSpc>
              <a:spcBef>
                <a:spcPts val="378"/>
              </a:spcBef>
              <a:defRPr sz="1512"/>
            </a:lvl3pPr>
            <a:lvl4pPr marL="1018520" indent="-168003">
              <a:lnSpc>
                <a:spcPct val="100000"/>
              </a:lnSpc>
              <a:spcBef>
                <a:spcPts val="378"/>
              </a:spcBef>
              <a:defRPr sz="1323"/>
            </a:lvl4pPr>
            <a:lvl5pPr>
              <a:defRPr sz="1323"/>
            </a:lvl5pPr>
            <a:lvl6pPr>
              <a:defRPr sz="1701"/>
            </a:lvl6pPr>
            <a:lvl7pPr>
              <a:defRPr sz="1701"/>
            </a:lvl7pPr>
            <a:lvl8pPr>
              <a:defRPr sz="1701"/>
            </a:lvl8pPr>
            <a:lvl9pPr>
              <a:defRPr sz="1701"/>
            </a:lvl9pPr>
          </a:lstStyle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US" noProof="0"/>
          </a:p>
        </p:txBody>
      </p:sp>
      <p:sp>
        <p:nvSpPr>
          <p:cNvPr id="11" name="Inhaltsplatzhalter 2">
            <a:extLst>
              <a:ext uri="{FF2B5EF4-FFF2-40B4-BE49-F238E27FC236}">
                <a16:creationId xmlns:a16="http://schemas.microsoft.com/office/drawing/2014/main" id="{A7A6DD52-705F-8C4E-BFBD-BE67BF0FB65A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303336" y="3456000"/>
            <a:ext cx="5040000" cy="2520000"/>
          </a:xfrm>
        </p:spPr>
        <p:txBody>
          <a:bodyPr lIns="140400" rIns="0"/>
          <a:lstStyle>
            <a:lvl1pPr>
              <a:lnSpc>
                <a:spcPct val="100000"/>
              </a:lnSpc>
              <a:spcBef>
                <a:spcPts val="472"/>
              </a:spcBef>
              <a:defRPr sz="1890"/>
            </a:lvl1pPr>
            <a:lvl2pPr>
              <a:lnSpc>
                <a:spcPct val="100000"/>
              </a:lnSpc>
              <a:spcBef>
                <a:spcPts val="378"/>
              </a:spcBef>
              <a:defRPr sz="1701"/>
            </a:lvl2pPr>
            <a:lvl3pPr>
              <a:lnSpc>
                <a:spcPct val="100000"/>
              </a:lnSpc>
              <a:spcBef>
                <a:spcPts val="378"/>
              </a:spcBef>
              <a:defRPr sz="1512"/>
            </a:lvl3pPr>
            <a:lvl4pPr marL="1018520" indent="-168003">
              <a:lnSpc>
                <a:spcPct val="100000"/>
              </a:lnSpc>
              <a:spcBef>
                <a:spcPts val="378"/>
              </a:spcBef>
              <a:defRPr sz="1323"/>
            </a:lvl4pPr>
            <a:lvl5pPr>
              <a:defRPr sz="1323"/>
            </a:lvl5pPr>
            <a:lvl6pPr>
              <a:defRPr sz="1701"/>
            </a:lvl6pPr>
            <a:lvl7pPr>
              <a:defRPr sz="1701"/>
            </a:lvl7pPr>
            <a:lvl8pPr>
              <a:defRPr sz="1701"/>
            </a:lvl8pPr>
            <a:lvl9pPr>
              <a:defRPr sz="1701"/>
            </a:lvl9pPr>
          </a:lstStyle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US" noProof="0"/>
          </a:p>
        </p:txBody>
      </p:sp>
      <p:sp>
        <p:nvSpPr>
          <p:cNvPr id="12" name="Inhaltsplatzhalter 2">
            <a:extLst>
              <a:ext uri="{FF2B5EF4-FFF2-40B4-BE49-F238E27FC236}">
                <a16:creationId xmlns:a16="http://schemas.microsoft.com/office/drawing/2014/main" id="{A3ED5591-6176-CF4B-A32B-DDE9257B1FB2}"/>
              </a:ext>
            </a:extLst>
          </p:cNvPr>
          <p:cNvSpPr>
            <a:spLocks noGrp="1"/>
          </p:cNvSpPr>
          <p:nvPr>
            <p:ph sz="half" idx="16"/>
          </p:nvPr>
        </p:nvSpPr>
        <p:spPr>
          <a:xfrm>
            <a:off x="5343340" y="3456000"/>
            <a:ext cx="5040000" cy="2520000"/>
          </a:xfrm>
        </p:spPr>
        <p:txBody>
          <a:bodyPr lIns="140400" rIns="0"/>
          <a:lstStyle>
            <a:lvl1pPr>
              <a:lnSpc>
                <a:spcPct val="100000"/>
              </a:lnSpc>
              <a:spcBef>
                <a:spcPts val="472"/>
              </a:spcBef>
              <a:defRPr sz="1890"/>
            </a:lvl1pPr>
            <a:lvl2pPr>
              <a:lnSpc>
                <a:spcPct val="100000"/>
              </a:lnSpc>
              <a:spcBef>
                <a:spcPts val="378"/>
              </a:spcBef>
              <a:defRPr sz="1701"/>
            </a:lvl2pPr>
            <a:lvl3pPr>
              <a:lnSpc>
                <a:spcPct val="100000"/>
              </a:lnSpc>
              <a:spcBef>
                <a:spcPts val="378"/>
              </a:spcBef>
              <a:defRPr sz="1512"/>
            </a:lvl3pPr>
            <a:lvl4pPr marL="1018520" indent="-168003">
              <a:lnSpc>
                <a:spcPct val="100000"/>
              </a:lnSpc>
              <a:spcBef>
                <a:spcPts val="378"/>
              </a:spcBef>
              <a:defRPr sz="1323"/>
            </a:lvl4pPr>
            <a:lvl5pPr>
              <a:defRPr sz="1323"/>
            </a:lvl5pPr>
            <a:lvl6pPr>
              <a:defRPr sz="1701"/>
            </a:lvl6pPr>
            <a:lvl7pPr>
              <a:defRPr sz="1701"/>
            </a:lvl7pPr>
            <a:lvl8pPr>
              <a:defRPr sz="1701"/>
            </a:lvl8pPr>
            <a:lvl9pPr>
              <a:defRPr sz="1701"/>
            </a:lvl9pPr>
          </a:lstStyle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US" noProof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392C3703-F424-8B60-F39C-21AD97BED9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29A470E-C584-A4A1-8BE3-D0FEE7902474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r>
              <a:rPr lang="de-DE"/>
              <a:t>SoC DaML Mini Project Presentation Lars Kröger, 20.08.2026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1DD1A2-6488-61E8-64DC-5E07F8B192F6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33867F2A-E750-44E7-A740-D3E09DF683A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6435080"/>
      </p:ext>
    </p:extLst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7492CF-D048-CF47-9D04-62CE98A96B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81ECC96-5C3D-1CA7-88A0-A48C530751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SoC DaML Mini Project Presentation Lars Kröger, 20.08.2026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198AFC-21DE-CE33-4051-59D40FE7A6C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3867F2A-E750-44E7-A740-D3E09DF683A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93716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ckground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AB950E2-5B08-DE4D-85C1-073281664B68}"/>
              </a:ext>
            </a:extLst>
          </p:cNvPr>
          <p:cNvSpPr txBox="1"/>
          <p:nvPr userDrawn="1"/>
        </p:nvSpPr>
        <p:spPr>
          <a:xfrm>
            <a:off x="943583" y="4941651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720000"/>
            <a:endParaRPr lang="en-US" sz="2400" b="0" i="0">
              <a:solidFill>
                <a:schemeClr val="tx2"/>
              </a:solidFill>
              <a:latin typeface="Arial Narrow" panose="020B0604020202020204" pitchFamily="34" charset="0"/>
              <a:cs typeface="Arial Narrow" panose="020B0604020202020204" pitchFamily="34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C683599-52C6-66B6-B195-3B42A91796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SoC DaML Mini Project Presentation Lars Kröger, 20.08.2026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C986D1-30CD-4299-12D8-EE049F90DC8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3867F2A-E750-44E7-A740-D3E09DF683A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79341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No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4D077E-5042-0548-869A-7270756A62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r>
              <a:rPr lang="en-GB" noProof="0"/>
              <a:t>Click to edit Master title style</a:t>
            </a:r>
            <a:endParaRPr lang="en-US" noProof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70174C9C-B987-0541-A176-A2B2DAD7ED2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99068" y="936000"/>
            <a:ext cx="10080003" cy="5220000"/>
          </a:xfrm>
        </p:spPr>
        <p:txBody>
          <a:bodyPr lIns="0"/>
          <a:lstStyle>
            <a:lvl1pPr marL="288004" indent="-288004">
              <a:buClrTx/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504000" indent="-216004">
              <a:buClrTx/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720000" indent="-216004">
              <a:buClrTx/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</a:defRPr>
            </a:lvl3pPr>
            <a:lvl4pPr marL="936000" indent="-216004">
              <a:buClrTx/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4pPr>
            <a:lvl5pPr marL="1152000" indent="-216004">
              <a:buClrTx/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14568117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7492CF-D048-CF47-9D04-62CE98A96B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798399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dy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2956A24-FE4F-CC41-AE52-8BE952BA285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08471" y="358050"/>
            <a:ext cx="10080003" cy="5940000"/>
          </a:xfrm>
        </p:spPr>
        <p:txBody>
          <a:bodyPr/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US" noProof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BEE65FE-2553-922C-9C05-7425A35329CE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de-DE"/>
              <a:t>SoC DaML Mini Project Presentation Lars Kröger, 20.08.2026</a:t>
            </a:r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81E03E8-F737-F054-80B2-299F72A034BF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33867F2A-E750-44E7-A740-D3E09DF683A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749285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de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F05887B-DECF-1909-0106-C271E1383F76}"/>
              </a:ext>
            </a:extLst>
          </p:cNvPr>
          <p:cNvSpPr/>
          <p:nvPr userDrawn="1"/>
        </p:nvSpPr>
        <p:spPr>
          <a:xfrm>
            <a:off x="5760244" y="0"/>
            <a:ext cx="5760244" cy="6480175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b="1" i="0" cap="none" spc="0">
              <a:ln>
                <a:noFill/>
              </a:ln>
              <a:solidFill>
                <a:schemeClr val="bg2"/>
              </a:solidFill>
              <a:effectLst/>
              <a:latin typeface="Arial Narrow" panose="020B0604020202020204" pitchFamily="34" charset="0"/>
              <a:cs typeface="Arial Narrow" panose="020B06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560B9BE-1D26-7346-9AA8-506C5668F5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/>
              <a:t>Click to edit Master title style</a:t>
            </a:r>
            <a:endParaRPr lang="en-US" noProof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3728336-7315-434C-A2F3-4C0D9A3AA4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99068" y="936000"/>
            <a:ext cx="5040000" cy="5220000"/>
          </a:xfrm>
        </p:spPr>
        <p:txBody>
          <a:bodyPr lIns="0"/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US" noProof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55918503-FD68-0985-DC60-130D6429AF17}"/>
              </a:ext>
            </a:extLst>
          </p:cNvPr>
          <p:cNvGrpSpPr/>
          <p:nvPr userDrawn="1"/>
        </p:nvGrpSpPr>
        <p:grpSpPr>
          <a:xfrm>
            <a:off x="10460009" y="140930"/>
            <a:ext cx="927344" cy="795801"/>
            <a:chOff x="10460009" y="140930"/>
            <a:chExt cx="927344" cy="795801"/>
          </a:xfrm>
        </p:grpSpPr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1770F9B2-741C-86BF-4B24-4F75FD9B6DB8}"/>
                </a:ext>
              </a:extLst>
            </p:cNvPr>
            <p:cNvSpPr/>
            <p:nvPr userDrawn="1"/>
          </p:nvSpPr>
          <p:spPr>
            <a:xfrm rot="2700000">
              <a:off x="10475317" y="359629"/>
              <a:ext cx="358403" cy="358403"/>
            </a:xfrm>
            <a:prstGeom prst="roundRect">
              <a:avLst>
                <a:gd name="adj" fmla="val 5238"/>
              </a:avLst>
            </a:prstGeom>
            <a:solidFill>
              <a:schemeClr val="bg2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de-CH" b="1" i="0" cap="none" spc="0">
                <a:ln>
                  <a:noFill/>
                </a:ln>
                <a:solidFill>
                  <a:schemeClr val="bg2"/>
                </a:solidFill>
                <a:effectLst/>
                <a:latin typeface="Arial Narrow" panose="020B0604020202020204" pitchFamily="34" charset="0"/>
                <a:cs typeface="Arial Narrow" panose="020B0604020202020204" pitchFamily="34" charset="0"/>
              </a:endParaRPr>
            </a:p>
          </p:txBody>
        </p:sp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2A97EAC4-39EA-2FF4-B3A4-C50D63D1EA52}"/>
                </a:ext>
              </a:extLst>
            </p:cNvPr>
            <p:cNvSpPr/>
            <p:nvPr userDrawn="1"/>
          </p:nvSpPr>
          <p:spPr>
            <a:xfrm rot="2700000">
              <a:off x="10666586" y="217186"/>
              <a:ext cx="643289" cy="643289"/>
            </a:xfrm>
            <a:prstGeom prst="roundRect">
              <a:avLst>
                <a:gd name="adj" fmla="val 5238"/>
              </a:avLst>
            </a:prstGeom>
            <a:solidFill>
              <a:schemeClr val="bg2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de-CH" b="1" i="0" cap="none" spc="0">
                <a:ln>
                  <a:noFill/>
                </a:ln>
                <a:solidFill>
                  <a:schemeClr val="bg2"/>
                </a:solidFill>
                <a:effectLst/>
                <a:latin typeface="Arial Narrow" panose="020B0604020202020204" pitchFamily="34" charset="0"/>
                <a:cs typeface="Arial Narrow" panose="020B0604020202020204" pitchFamily="34" charset="0"/>
              </a:endParaRPr>
            </a:p>
          </p:txBody>
        </p:sp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6727814A-F32D-DC8B-CECB-BD209099B53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10460009" y="140930"/>
              <a:ext cx="927344" cy="795801"/>
            </a:xfrm>
            <a:prstGeom prst="rect">
              <a:avLst/>
            </a:prstGeom>
            <a:ln w="66675">
              <a:noFill/>
            </a:ln>
          </p:spPr>
        </p:pic>
      </p:grpSp>
      <p:sp>
        <p:nvSpPr>
          <p:cNvPr id="13" name="Content Placeholder 6">
            <a:extLst>
              <a:ext uri="{FF2B5EF4-FFF2-40B4-BE49-F238E27FC236}">
                <a16:creationId xmlns:a16="http://schemas.microsoft.com/office/drawing/2014/main" id="{FD6D6212-ED77-0BC8-29BC-26AA6DBF805C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5760244" y="936000"/>
            <a:ext cx="5765986" cy="5220000"/>
          </a:xfrm>
        </p:spPr>
        <p:txBody>
          <a:bodyPr lIns="468000" tIns="252000"/>
          <a:lstStyle>
            <a:lvl1pPr marL="0" indent="0">
              <a:lnSpc>
                <a:spcPts val="1000"/>
              </a:lnSpc>
              <a:buNone/>
              <a:defRPr sz="1800" b="0">
                <a:solidFill>
                  <a:schemeClr val="bg2"/>
                </a:solidFill>
                <a:latin typeface="Consolas" panose="020B0609020204030204" pitchFamily="49" charset="0"/>
              </a:defRPr>
            </a:lvl1pPr>
          </a:lstStyle>
          <a:p>
            <a:pPr lvl="0"/>
            <a:r>
              <a:rPr lang="en-US"/>
              <a:t>Click to edit code</a:t>
            </a:r>
          </a:p>
        </p:txBody>
      </p:sp>
    </p:spTree>
    <p:extLst>
      <p:ext uri="{BB962C8B-B14F-4D97-AF65-F5344CB8AC3E}">
        <p14:creationId xmlns:p14="http://schemas.microsoft.com/office/powerpoint/2010/main" val="11078965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de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F05887B-DECF-1909-0106-C271E1383F76}"/>
              </a:ext>
            </a:extLst>
          </p:cNvPr>
          <p:cNvSpPr/>
          <p:nvPr userDrawn="1"/>
        </p:nvSpPr>
        <p:spPr>
          <a:xfrm>
            <a:off x="5760244" y="0"/>
            <a:ext cx="5760244" cy="6480175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b="1" i="0" cap="none" spc="0">
              <a:ln>
                <a:noFill/>
              </a:ln>
              <a:solidFill>
                <a:schemeClr val="bg2"/>
              </a:solidFill>
              <a:effectLst/>
              <a:latin typeface="Arial Narrow" panose="020B0604020202020204" pitchFamily="34" charset="0"/>
              <a:cs typeface="Arial Narrow" panose="020B06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560B9BE-1D26-7346-9AA8-506C5668F5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/>
              <a:t>Click to edit Master title style</a:t>
            </a:r>
            <a:endParaRPr lang="en-US" noProof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3728336-7315-434C-A2F3-4C0D9A3AA4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99068" y="936000"/>
            <a:ext cx="5040000" cy="5220000"/>
          </a:xfrm>
        </p:spPr>
        <p:txBody>
          <a:bodyPr lIns="0"/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US" noProof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55918503-FD68-0985-DC60-130D6429AF17}"/>
              </a:ext>
            </a:extLst>
          </p:cNvPr>
          <p:cNvGrpSpPr/>
          <p:nvPr userDrawn="1"/>
        </p:nvGrpSpPr>
        <p:grpSpPr>
          <a:xfrm>
            <a:off x="10460009" y="140930"/>
            <a:ext cx="927344" cy="795801"/>
            <a:chOff x="10460009" y="140930"/>
            <a:chExt cx="927344" cy="795801"/>
          </a:xfrm>
        </p:grpSpPr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1770F9B2-741C-86BF-4B24-4F75FD9B6DB8}"/>
                </a:ext>
              </a:extLst>
            </p:cNvPr>
            <p:cNvSpPr/>
            <p:nvPr userDrawn="1"/>
          </p:nvSpPr>
          <p:spPr>
            <a:xfrm rot="2700000">
              <a:off x="10475317" y="359629"/>
              <a:ext cx="358403" cy="358403"/>
            </a:xfrm>
            <a:prstGeom prst="roundRect">
              <a:avLst>
                <a:gd name="adj" fmla="val 5238"/>
              </a:avLst>
            </a:prstGeom>
            <a:solidFill>
              <a:schemeClr val="bg2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de-CH" b="1" i="0" cap="none" spc="0">
                <a:ln>
                  <a:noFill/>
                </a:ln>
                <a:solidFill>
                  <a:schemeClr val="bg2"/>
                </a:solidFill>
                <a:effectLst/>
                <a:latin typeface="Arial Narrow" panose="020B0604020202020204" pitchFamily="34" charset="0"/>
                <a:cs typeface="Arial Narrow" panose="020B0604020202020204" pitchFamily="34" charset="0"/>
              </a:endParaRPr>
            </a:p>
          </p:txBody>
        </p:sp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2A97EAC4-39EA-2FF4-B3A4-C50D63D1EA52}"/>
                </a:ext>
              </a:extLst>
            </p:cNvPr>
            <p:cNvSpPr/>
            <p:nvPr userDrawn="1"/>
          </p:nvSpPr>
          <p:spPr>
            <a:xfrm rot="2700000">
              <a:off x="10666586" y="217186"/>
              <a:ext cx="643289" cy="643289"/>
            </a:xfrm>
            <a:prstGeom prst="roundRect">
              <a:avLst>
                <a:gd name="adj" fmla="val 5238"/>
              </a:avLst>
            </a:prstGeom>
            <a:solidFill>
              <a:schemeClr val="bg2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de-CH" b="1" i="0" cap="none" spc="0">
                <a:ln>
                  <a:noFill/>
                </a:ln>
                <a:solidFill>
                  <a:schemeClr val="bg2"/>
                </a:solidFill>
                <a:effectLst/>
                <a:latin typeface="Arial Narrow" panose="020B0604020202020204" pitchFamily="34" charset="0"/>
                <a:cs typeface="Arial Narrow" panose="020B0604020202020204" pitchFamily="34" charset="0"/>
              </a:endParaRPr>
            </a:p>
          </p:txBody>
        </p:sp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6727814A-F32D-DC8B-CECB-BD209099B53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10460009" y="140930"/>
              <a:ext cx="927344" cy="795801"/>
            </a:xfrm>
            <a:prstGeom prst="rect">
              <a:avLst/>
            </a:prstGeom>
            <a:ln w="66675">
              <a:noFill/>
            </a:ln>
          </p:spPr>
        </p:pic>
      </p:grpSp>
      <p:sp>
        <p:nvSpPr>
          <p:cNvPr id="13" name="Content Placeholder 6">
            <a:extLst>
              <a:ext uri="{FF2B5EF4-FFF2-40B4-BE49-F238E27FC236}">
                <a16:creationId xmlns:a16="http://schemas.microsoft.com/office/drawing/2014/main" id="{FD6D6212-ED77-0BC8-29BC-26AA6DBF805C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5760244" y="936000"/>
            <a:ext cx="5765986" cy="5220000"/>
          </a:xfrm>
        </p:spPr>
        <p:txBody>
          <a:bodyPr lIns="468000" tIns="252000"/>
          <a:lstStyle>
            <a:lvl1pPr marL="0" indent="0">
              <a:lnSpc>
                <a:spcPts val="1000"/>
              </a:lnSpc>
              <a:buNone/>
              <a:defRPr sz="1800" b="0">
                <a:solidFill>
                  <a:schemeClr val="bg2"/>
                </a:solidFill>
                <a:latin typeface="Consolas" panose="020B0609020204030204" pitchFamily="49" charset="0"/>
              </a:defRPr>
            </a:lvl1pPr>
          </a:lstStyle>
          <a:p>
            <a:pPr lvl="0"/>
            <a:r>
              <a:rPr lang="en-US"/>
              <a:t>Click to edit code</a:t>
            </a:r>
          </a:p>
        </p:txBody>
      </p:sp>
    </p:spTree>
    <p:extLst>
      <p:ext uri="{BB962C8B-B14F-4D97-AF65-F5344CB8AC3E}">
        <p14:creationId xmlns:p14="http://schemas.microsoft.com/office/powerpoint/2010/main" val="409495711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mpty Whit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0590928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mpty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3820602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inal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F05887B-DECF-1909-0106-C271E1383F76}"/>
              </a:ext>
            </a:extLst>
          </p:cNvPr>
          <p:cNvSpPr/>
          <p:nvPr userDrawn="1"/>
        </p:nvSpPr>
        <p:spPr>
          <a:xfrm>
            <a:off x="5760244" y="0"/>
            <a:ext cx="5760244" cy="6480175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b="1" i="0" cap="none" spc="0">
              <a:ln>
                <a:noFill/>
              </a:ln>
              <a:solidFill>
                <a:schemeClr val="bg2"/>
              </a:solidFill>
              <a:effectLst/>
              <a:latin typeface="Arial Narrow" panose="020B0604020202020204" pitchFamily="34" charset="0"/>
              <a:cs typeface="Arial Narrow" panose="020B0604020202020204" pitchFamily="34" charset="0"/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3728336-7315-434C-A2F3-4C0D9A3AA4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99068" y="196012"/>
            <a:ext cx="5040000" cy="5705167"/>
          </a:xfrm>
        </p:spPr>
        <p:txBody>
          <a:bodyPr lIns="0"/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US" noProof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55918503-FD68-0985-DC60-130D6429AF17}"/>
              </a:ext>
            </a:extLst>
          </p:cNvPr>
          <p:cNvGrpSpPr/>
          <p:nvPr userDrawn="1"/>
        </p:nvGrpSpPr>
        <p:grpSpPr>
          <a:xfrm>
            <a:off x="10460009" y="140930"/>
            <a:ext cx="927344" cy="795801"/>
            <a:chOff x="10460009" y="140930"/>
            <a:chExt cx="927344" cy="795801"/>
          </a:xfrm>
        </p:grpSpPr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1770F9B2-741C-86BF-4B24-4F75FD9B6DB8}"/>
                </a:ext>
              </a:extLst>
            </p:cNvPr>
            <p:cNvSpPr/>
            <p:nvPr userDrawn="1"/>
          </p:nvSpPr>
          <p:spPr>
            <a:xfrm rot="2700000">
              <a:off x="10475317" y="359629"/>
              <a:ext cx="358403" cy="358403"/>
            </a:xfrm>
            <a:prstGeom prst="roundRect">
              <a:avLst>
                <a:gd name="adj" fmla="val 5238"/>
              </a:avLst>
            </a:prstGeom>
            <a:solidFill>
              <a:schemeClr val="bg2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de-CH" b="1" i="0" cap="none" spc="0">
                <a:ln>
                  <a:noFill/>
                </a:ln>
                <a:solidFill>
                  <a:schemeClr val="bg2"/>
                </a:solidFill>
                <a:effectLst/>
                <a:latin typeface="Arial Narrow" panose="020B0604020202020204" pitchFamily="34" charset="0"/>
                <a:cs typeface="Arial Narrow" panose="020B0604020202020204" pitchFamily="34" charset="0"/>
              </a:endParaRPr>
            </a:p>
          </p:txBody>
        </p:sp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2A97EAC4-39EA-2FF4-B3A4-C50D63D1EA52}"/>
                </a:ext>
              </a:extLst>
            </p:cNvPr>
            <p:cNvSpPr/>
            <p:nvPr userDrawn="1"/>
          </p:nvSpPr>
          <p:spPr>
            <a:xfrm rot="2700000">
              <a:off x="10666586" y="217186"/>
              <a:ext cx="643289" cy="643289"/>
            </a:xfrm>
            <a:prstGeom prst="roundRect">
              <a:avLst>
                <a:gd name="adj" fmla="val 5238"/>
              </a:avLst>
            </a:prstGeom>
            <a:solidFill>
              <a:schemeClr val="bg2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de-CH" b="1" i="0" cap="none" spc="0">
                <a:ln>
                  <a:noFill/>
                </a:ln>
                <a:solidFill>
                  <a:schemeClr val="bg2"/>
                </a:solidFill>
                <a:effectLst/>
                <a:latin typeface="Arial Narrow" panose="020B0604020202020204" pitchFamily="34" charset="0"/>
                <a:cs typeface="Arial Narrow" panose="020B0604020202020204" pitchFamily="34" charset="0"/>
              </a:endParaRPr>
            </a:p>
          </p:txBody>
        </p:sp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6727814A-F32D-DC8B-CECB-BD209099B53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10460009" y="140930"/>
              <a:ext cx="927344" cy="795801"/>
            </a:xfrm>
            <a:prstGeom prst="rect">
              <a:avLst/>
            </a:prstGeom>
            <a:ln w="66675">
              <a:noFill/>
            </a:ln>
          </p:spPr>
        </p:pic>
      </p:grpSp>
      <p:sp>
        <p:nvSpPr>
          <p:cNvPr id="3" name="Content Placeholder 6">
            <a:extLst>
              <a:ext uri="{FF2B5EF4-FFF2-40B4-BE49-F238E27FC236}">
                <a16:creationId xmlns:a16="http://schemas.microsoft.com/office/drawing/2014/main" id="{5E33EDD7-5444-BAFF-DEE3-CADA90FFAD11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042453" y="936000"/>
            <a:ext cx="4336617" cy="2659816"/>
          </a:xfrm>
        </p:spPr>
        <p:txBody>
          <a:bodyPr lIns="0"/>
          <a:lstStyle>
            <a:lvl1pPr marL="0" indent="0">
              <a:buNone/>
              <a:defRPr/>
            </a:lvl1pPr>
          </a:lstStyle>
          <a:p>
            <a:pPr lvl="0"/>
            <a:r>
              <a:rPr lang="en-GB" noProof="0"/>
              <a:t>Insert here a nice image summarizing your talk</a:t>
            </a:r>
            <a:endParaRPr lang="en-US" noProof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8610581A-F37E-6976-E4EB-71BB3408B9E2}"/>
              </a:ext>
            </a:extLst>
          </p:cNvPr>
          <p:cNvGrpSpPr/>
          <p:nvPr userDrawn="1"/>
        </p:nvGrpSpPr>
        <p:grpSpPr>
          <a:xfrm>
            <a:off x="6381557" y="3290109"/>
            <a:ext cx="2225614" cy="2164247"/>
            <a:chOff x="6492044" y="1486792"/>
            <a:chExt cx="3244192" cy="3244192"/>
          </a:xfrm>
        </p:grpSpPr>
        <p:sp>
          <p:nvSpPr>
            <p:cNvPr id="6" name="Google Shape;1096;p28">
              <a:extLst>
                <a:ext uri="{FF2B5EF4-FFF2-40B4-BE49-F238E27FC236}">
                  <a16:creationId xmlns:a16="http://schemas.microsoft.com/office/drawing/2014/main" id="{F60C0024-DA79-82D0-74FB-8D05435A5349}"/>
                </a:ext>
              </a:extLst>
            </p:cNvPr>
            <p:cNvSpPr/>
            <p:nvPr userDrawn="1"/>
          </p:nvSpPr>
          <p:spPr>
            <a:xfrm>
              <a:off x="6492044" y="1486792"/>
              <a:ext cx="3244192" cy="3244192"/>
            </a:xfrm>
            <a:custGeom>
              <a:avLst/>
              <a:gdLst/>
              <a:ahLst/>
              <a:cxnLst/>
              <a:rect l="l" t="t" r="r" b="b"/>
              <a:pathLst>
                <a:path w="158750" h="158750" extrusionOk="0">
                  <a:moveTo>
                    <a:pt x="8255" y="0"/>
                  </a:moveTo>
                  <a:cubicBezTo>
                    <a:pt x="3810" y="0"/>
                    <a:pt x="0" y="3810"/>
                    <a:pt x="0" y="8255"/>
                  </a:cubicBezTo>
                  <a:lnTo>
                    <a:pt x="0" y="119380"/>
                  </a:lnTo>
                  <a:lnTo>
                    <a:pt x="31750" y="87630"/>
                  </a:lnTo>
                  <a:lnTo>
                    <a:pt x="111125" y="87630"/>
                  </a:lnTo>
                  <a:cubicBezTo>
                    <a:pt x="115570" y="87630"/>
                    <a:pt x="119380" y="83820"/>
                    <a:pt x="119380" y="79375"/>
                  </a:cubicBezTo>
                  <a:lnTo>
                    <a:pt x="119380" y="8255"/>
                  </a:lnTo>
                  <a:cubicBezTo>
                    <a:pt x="119380" y="3810"/>
                    <a:pt x="115570" y="0"/>
                    <a:pt x="111125" y="0"/>
                  </a:cubicBezTo>
                  <a:close/>
                  <a:moveTo>
                    <a:pt x="135255" y="31750"/>
                  </a:moveTo>
                  <a:lnTo>
                    <a:pt x="135255" y="103505"/>
                  </a:lnTo>
                  <a:lnTo>
                    <a:pt x="31750" y="103505"/>
                  </a:lnTo>
                  <a:lnTo>
                    <a:pt x="31750" y="119380"/>
                  </a:lnTo>
                  <a:cubicBezTo>
                    <a:pt x="31750" y="123190"/>
                    <a:pt x="35560" y="127000"/>
                    <a:pt x="40005" y="127000"/>
                  </a:cubicBezTo>
                  <a:lnTo>
                    <a:pt x="127000" y="127000"/>
                  </a:lnTo>
                  <a:lnTo>
                    <a:pt x="158750" y="158750"/>
                  </a:lnTo>
                  <a:lnTo>
                    <a:pt x="158750" y="40005"/>
                  </a:lnTo>
                  <a:cubicBezTo>
                    <a:pt x="158750" y="35560"/>
                    <a:pt x="154940" y="31750"/>
                    <a:pt x="151130" y="3175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3379C53B-9759-C374-CBBB-7856A34E8FCD}"/>
                </a:ext>
              </a:extLst>
            </p:cNvPr>
            <p:cNvSpPr txBox="1"/>
            <p:nvPr userDrawn="1"/>
          </p:nvSpPr>
          <p:spPr>
            <a:xfrm>
              <a:off x="6742773" y="1937943"/>
              <a:ext cx="1950037" cy="86965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200" b="1" i="0" u="none">
                  <a:solidFill>
                    <a:schemeClr val="accent3"/>
                  </a:solidFill>
                  <a:latin typeface="+mj-lt"/>
                  <a:ea typeface="Roboto Condensed" panose="02000000000000000000" pitchFamily="2" charset="0"/>
                  <a:cs typeface="Arial Narrow" panose="020B0604020202020204" pitchFamily="34" charset="0"/>
                </a:rPr>
                <a:t>Q&amp;A</a:t>
              </a:r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385BCFFE-035D-2CC3-F32C-E2D80118FB7F}"/>
              </a:ext>
            </a:extLst>
          </p:cNvPr>
          <p:cNvGrpSpPr/>
          <p:nvPr userDrawn="1"/>
        </p:nvGrpSpPr>
        <p:grpSpPr>
          <a:xfrm>
            <a:off x="8551438" y="4241834"/>
            <a:ext cx="2835915" cy="1097443"/>
            <a:chOff x="8551367" y="5248677"/>
            <a:chExt cx="2835915" cy="1097443"/>
          </a:xfrm>
        </p:grpSpPr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F97CE8B6-A7C6-EEC0-6376-6726C585F0D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11091311" y="5265126"/>
              <a:ext cx="295971" cy="253989"/>
            </a:xfrm>
            <a:prstGeom prst="rect">
              <a:avLst/>
            </a:prstGeom>
          </p:spPr>
        </p:pic>
        <p:pic>
          <p:nvPicPr>
            <p:cNvPr id="23" name="Graphic 22">
              <a:extLst>
                <a:ext uri="{FF2B5EF4-FFF2-40B4-BE49-F238E27FC236}">
                  <a16:creationId xmlns:a16="http://schemas.microsoft.com/office/drawing/2014/main" id="{5ACC8465-19E1-5456-0B3C-AE8FA7B44C0B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alphaModFix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1113006" y="6122365"/>
              <a:ext cx="255370" cy="176668"/>
            </a:xfrm>
            <a:prstGeom prst="rect">
              <a:avLst/>
            </a:prstGeom>
          </p:spPr>
        </p:pic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32A350E4-F1A6-CE57-4AD8-6B80E25A1C40}"/>
                </a:ext>
              </a:extLst>
            </p:cNvPr>
            <p:cNvSpPr txBox="1"/>
            <p:nvPr userDrawn="1"/>
          </p:nvSpPr>
          <p:spPr>
            <a:xfrm>
              <a:off x="9023991" y="5248677"/>
              <a:ext cx="2088092" cy="2923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300" b="0" i="0" u="none" noProof="0">
                  <a:solidFill>
                    <a:schemeClr val="bg2"/>
                  </a:solidFill>
                  <a:latin typeface="Calibri Light" panose="020F0302020204030204" pitchFamily="34" charset="0"/>
                  <a:ea typeface="Roboto Condensed Light" panose="02000000000000000000" pitchFamily="2" charset="0"/>
                  <a:cs typeface="Calibri Light" panose="020F0302020204030204" pitchFamily="34" charset="0"/>
                </a:rPr>
                <a:t>pulp-</a:t>
              </a:r>
              <a:r>
                <a:rPr lang="en-US" sz="1300" b="0" i="0" u="none" noProof="0" err="1">
                  <a:solidFill>
                    <a:schemeClr val="bg2"/>
                  </a:solidFill>
                  <a:latin typeface="Calibri Light" panose="020F0302020204030204" pitchFamily="34" charset="0"/>
                  <a:ea typeface="Roboto Condensed Light" panose="02000000000000000000" pitchFamily="2" charset="0"/>
                  <a:cs typeface="Calibri Light" panose="020F0302020204030204" pitchFamily="34" charset="0"/>
                </a:rPr>
                <a:t>platform.org</a:t>
              </a:r>
              <a:endParaRPr lang="en-US" sz="1300" b="0" i="0" u="none" noProof="0">
                <a:solidFill>
                  <a:schemeClr val="bg2"/>
                </a:solidFill>
                <a:latin typeface="Calibri Light" panose="020F0302020204030204" pitchFamily="34" charset="0"/>
                <a:ea typeface="Roboto Condensed Light" panose="02000000000000000000" pitchFamily="2" charset="0"/>
                <a:cs typeface="Calibri Light" panose="020F0302020204030204" pitchFamily="34" charset="0"/>
              </a:endParaRP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A4E76D65-4B8B-67A9-0DC0-A3E7FDC0CE1E}"/>
                </a:ext>
              </a:extLst>
            </p:cNvPr>
            <p:cNvSpPr txBox="1"/>
            <p:nvPr userDrawn="1"/>
          </p:nvSpPr>
          <p:spPr>
            <a:xfrm>
              <a:off x="9541967" y="5520227"/>
              <a:ext cx="1570116" cy="2923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300" b="0" i="0" u="none" noProof="0">
                  <a:solidFill>
                    <a:schemeClr val="bg2"/>
                  </a:solidFill>
                  <a:latin typeface="Calibri Light" panose="020F0302020204030204" pitchFamily="34" charset="0"/>
                  <a:ea typeface="Roboto Condensed Light" panose="02000000000000000000" pitchFamily="2" charset="0"/>
                  <a:cs typeface="Calibri Light" panose="020F0302020204030204" pitchFamily="34" charset="0"/>
                </a:rPr>
                <a:t>@</a:t>
              </a:r>
              <a:r>
                <a:rPr lang="en-US" sz="1300" b="0" i="0" u="none" noProof="0" err="1">
                  <a:solidFill>
                    <a:schemeClr val="bg2"/>
                  </a:solidFill>
                  <a:latin typeface="Calibri Light" panose="020F0302020204030204" pitchFamily="34" charset="0"/>
                  <a:ea typeface="Roboto Condensed Light" panose="02000000000000000000" pitchFamily="2" charset="0"/>
                  <a:cs typeface="Calibri Light" panose="020F0302020204030204" pitchFamily="34" charset="0"/>
                </a:rPr>
                <a:t>pulp_platform</a:t>
              </a:r>
              <a:endParaRPr lang="en-US" sz="1300" b="0" i="0" u="none" noProof="0">
                <a:solidFill>
                  <a:schemeClr val="bg2"/>
                </a:solidFill>
                <a:latin typeface="Calibri Light" panose="020F0302020204030204" pitchFamily="34" charset="0"/>
                <a:ea typeface="Roboto Condensed Light" panose="02000000000000000000" pitchFamily="2" charset="0"/>
                <a:cs typeface="Calibri Light" panose="020F0302020204030204" pitchFamily="34" charset="0"/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4CF6F796-E1B7-2D12-D666-B7A81841683D}"/>
                </a:ext>
              </a:extLst>
            </p:cNvPr>
            <p:cNvSpPr txBox="1"/>
            <p:nvPr userDrawn="1"/>
          </p:nvSpPr>
          <p:spPr>
            <a:xfrm>
              <a:off x="8551367" y="6053732"/>
              <a:ext cx="2560716" cy="2923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300" b="0" i="0" u="none" noProof="0" err="1">
                  <a:solidFill>
                    <a:schemeClr val="bg2"/>
                  </a:solidFill>
                  <a:latin typeface="Calibri Light" panose="020F0302020204030204" pitchFamily="34" charset="0"/>
                  <a:ea typeface="Roboto Condensed Light" panose="02000000000000000000" pitchFamily="2" charset="0"/>
                  <a:cs typeface="Calibri Light" panose="020F0302020204030204" pitchFamily="34" charset="0"/>
                </a:rPr>
                <a:t>youtube.com</a:t>
              </a:r>
              <a:r>
                <a:rPr lang="en-US" sz="1300" b="0" i="0" u="none" noProof="0">
                  <a:solidFill>
                    <a:schemeClr val="bg2"/>
                  </a:solidFill>
                  <a:latin typeface="Calibri Light" panose="020F0302020204030204" pitchFamily="34" charset="0"/>
                  <a:ea typeface="Roboto Condensed Light" panose="02000000000000000000" pitchFamily="2" charset="0"/>
                  <a:cs typeface="Calibri Light" panose="020F0302020204030204" pitchFamily="34" charset="0"/>
                </a:rPr>
                <a:t>/</a:t>
              </a:r>
              <a:r>
                <a:rPr lang="en-US" sz="1300" b="0" i="0" u="none" noProof="0" err="1">
                  <a:solidFill>
                    <a:schemeClr val="bg2"/>
                  </a:solidFill>
                  <a:latin typeface="Calibri Light" panose="020F0302020204030204" pitchFamily="34" charset="0"/>
                  <a:ea typeface="Roboto Condensed Light" panose="02000000000000000000" pitchFamily="2" charset="0"/>
                  <a:cs typeface="Calibri Light" panose="020F0302020204030204" pitchFamily="34" charset="0"/>
                </a:rPr>
                <a:t>pulp_platform</a:t>
              </a:r>
              <a:endParaRPr lang="en-US" sz="1300" b="0" i="0" u="none" noProof="0">
                <a:solidFill>
                  <a:schemeClr val="bg2"/>
                </a:solidFill>
                <a:latin typeface="Calibri Light" panose="020F0302020204030204" pitchFamily="34" charset="0"/>
                <a:ea typeface="Roboto Condensed Light" panose="02000000000000000000" pitchFamily="2" charset="0"/>
                <a:cs typeface="Calibri Light" panose="020F0302020204030204" pitchFamily="34" charset="0"/>
              </a:endParaRPr>
            </a:p>
          </p:txBody>
        </p:sp>
        <p:pic>
          <p:nvPicPr>
            <p:cNvPr id="27" name="Graphic 26">
              <a:extLst>
                <a:ext uri="{FF2B5EF4-FFF2-40B4-BE49-F238E27FC236}">
                  <a16:creationId xmlns:a16="http://schemas.microsoft.com/office/drawing/2014/main" id="{2CCC6564-7E82-8399-962B-D9307743E7B2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 l="23662" t="14200" r="22637" b="12205"/>
            <a:stretch/>
          </p:blipFill>
          <p:spPr>
            <a:xfrm>
              <a:off x="11129962" y="5566195"/>
              <a:ext cx="218671" cy="219191"/>
            </a:xfrm>
            <a:prstGeom prst="rect">
              <a:avLst/>
            </a:prstGeom>
          </p:spPr>
        </p:pic>
        <p:pic>
          <p:nvPicPr>
            <p:cNvPr id="28" name="Graphic 27">
              <a:extLst>
                <a:ext uri="{FF2B5EF4-FFF2-40B4-BE49-F238E27FC236}">
                  <a16:creationId xmlns:a16="http://schemas.microsoft.com/office/drawing/2014/main" id="{04464516-BC88-12B2-E213-EF3CB56A7C10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1131699" y="5845909"/>
              <a:ext cx="215198" cy="215198"/>
            </a:xfrm>
            <a:prstGeom prst="rect">
              <a:avLst/>
            </a:prstGeom>
          </p:spPr>
        </p:pic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BC448EBC-C2CA-7FFF-3AAA-99A7111176C0}"/>
                </a:ext>
              </a:extLst>
            </p:cNvPr>
            <p:cNvSpPr txBox="1"/>
            <p:nvPr userDrawn="1"/>
          </p:nvSpPr>
          <p:spPr>
            <a:xfrm>
              <a:off x="9142713" y="5788000"/>
              <a:ext cx="1969370" cy="2923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300" b="0" i="0" u="none" noProof="0">
                  <a:solidFill>
                    <a:schemeClr val="bg2"/>
                  </a:solidFill>
                  <a:latin typeface="Calibri Light" panose="020F0302020204030204" pitchFamily="34" charset="0"/>
                  <a:ea typeface="Roboto Condensed Light" panose="02000000000000000000" pitchFamily="2" charset="0"/>
                  <a:cs typeface="Calibri Light" panose="020F0302020204030204" pitchFamily="34" charset="0"/>
                </a:rPr>
                <a:t>company/pulp-platform</a:t>
              </a:r>
            </a:p>
          </p:txBody>
        </p:sp>
      </p:grpSp>
      <p:sp>
        <p:nvSpPr>
          <p:cNvPr id="31" name="TextBox 30">
            <a:extLst>
              <a:ext uri="{FF2B5EF4-FFF2-40B4-BE49-F238E27FC236}">
                <a16:creationId xmlns:a16="http://schemas.microsoft.com/office/drawing/2014/main" id="{079CE651-01F5-2F3A-2C4C-4DE8E8306F4C}"/>
              </a:ext>
            </a:extLst>
          </p:cNvPr>
          <p:cNvSpPr txBox="1"/>
          <p:nvPr userDrawn="1"/>
        </p:nvSpPr>
        <p:spPr>
          <a:xfrm>
            <a:off x="5874529" y="5731175"/>
            <a:ext cx="3149462" cy="6924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de-CH" sz="1300" b="1">
                <a:solidFill>
                  <a:schemeClr val="bg2"/>
                </a:solidFill>
                <a:latin typeface="+mn-lt"/>
                <a:cs typeface="Calibri Light" panose="020F0302020204030204" pitchFamily="34" charset="0"/>
              </a:rPr>
              <a:t>Institut für Integrierte Systeme, ETH Zürich</a:t>
            </a:r>
          </a:p>
          <a:p>
            <a:pPr algn="l"/>
            <a:r>
              <a:rPr lang="de-CH" sz="1300">
                <a:solidFill>
                  <a:schemeClr val="bg2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Gloriastrasse 35</a:t>
            </a:r>
            <a:br>
              <a:rPr lang="de-CH" sz="1300">
                <a:solidFill>
                  <a:schemeClr val="bg2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</a:br>
            <a:r>
              <a:rPr lang="de-CH" sz="1300">
                <a:solidFill>
                  <a:schemeClr val="bg2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Zürich, </a:t>
            </a:r>
            <a:r>
              <a:rPr lang="de-CH" sz="1300" err="1">
                <a:solidFill>
                  <a:schemeClr val="bg2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Switzerland</a:t>
            </a:r>
            <a:endParaRPr lang="en-US" sz="1300">
              <a:solidFill>
                <a:schemeClr val="bg2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14A48B9-FDE1-B081-47CE-0208E7265F4A}"/>
              </a:ext>
            </a:extLst>
          </p:cNvPr>
          <p:cNvSpPr txBox="1"/>
          <p:nvPr userDrawn="1"/>
        </p:nvSpPr>
        <p:spPr>
          <a:xfrm>
            <a:off x="9239249" y="5731175"/>
            <a:ext cx="2203855" cy="6924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it-IT" sz="1300" b="1">
                <a:solidFill>
                  <a:schemeClr val="bg2"/>
                </a:solidFill>
                <a:latin typeface="+mn-lt"/>
                <a:cs typeface="Calibri Light" panose="020F0302020204030204" pitchFamily="34" charset="0"/>
              </a:rPr>
              <a:t>DEI, Università di Bologna</a:t>
            </a:r>
            <a:br>
              <a:rPr lang="it-IT" sz="1300">
                <a:solidFill>
                  <a:schemeClr val="bg2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</a:br>
            <a:r>
              <a:rPr lang="it-IT" sz="1300">
                <a:solidFill>
                  <a:schemeClr val="bg2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Viale del Risorgimento 2</a:t>
            </a:r>
          </a:p>
          <a:p>
            <a:pPr algn="r"/>
            <a:r>
              <a:rPr lang="it-IT" sz="1300">
                <a:solidFill>
                  <a:schemeClr val="bg2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Bologna, </a:t>
            </a:r>
            <a:r>
              <a:rPr lang="it-IT" sz="1300" err="1">
                <a:solidFill>
                  <a:schemeClr val="bg2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Italy</a:t>
            </a:r>
            <a:endParaRPr lang="en-US" sz="1300">
              <a:solidFill>
                <a:schemeClr val="bg2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BD74082-E681-F672-CA78-F185E7B4C7A9}"/>
              </a:ext>
            </a:extLst>
          </p:cNvPr>
          <p:cNvSpPr txBox="1"/>
          <p:nvPr userDrawn="1"/>
        </p:nvSpPr>
        <p:spPr>
          <a:xfrm>
            <a:off x="5961615" y="186318"/>
            <a:ext cx="5718107" cy="67921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marR="0" lvl="0" indent="0" algn="l" defTabSz="7200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300" b="1" i="0" noProof="0">
                <a:solidFill>
                  <a:schemeClr val="bg2"/>
                </a:solidFill>
                <a:latin typeface="+mj-lt"/>
                <a:ea typeface="Roboto Condensed" panose="02000000000000000000" pitchFamily="2" charset="0"/>
                <a:cs typeface="Arial Narrow" panose="020B0604020202020204" pitchFamily="34" charset="0"/>
              </a:rPr>
              <a:t>PULP Platform</a:t>
            </a:r>
            <a:br>
              <a:rPr lang="en-US" sz="1300" b="0" i="0" noProof="0">
                <a:solidFill>
                  <a:schemeClr val="bg2"/>
                </a:solidFill>
                <a:latin typeface="+mj-lt"/>
                <a:ea typeface="Roboto Condensed" panose="02000000000000000000" pitchFamily="2" charset="0"/>
                <a:cs typeface="Arial Narrow" panose="020B0604020202020204" pitchFamily="34" charset="0"/>
              </a:rPr>
            </a:br>
            <a:r>
              <a:rPr lang="en-US" sz="1300" b="0" i="0" noProof="0">
                <a:solidFill>
                  <a:schemeClr val="bg2"/>
                </a:solidFill>
                <a:latin typeface="Calibri Light" panose="020F0302020204030204" pitchFamily="34" charset="0"/>
                <a:ea typeface="Roboto Condensed Light" panose="02000000000000000000" pitchFamily="2" charset="0"/>
                <a:cs typeface="Calibri Light" panose="020F0302020204030204" pitchFamily="34" charset="0"/>
              </a:rPr>
              <a:t>Open Source Hardware, the way it should be!</a:t>
            </a:r>
          </a:p>
        </p:txBody>
      </p:sp>
    </p:spTree>
    <p:extLst>
      <p:ext uri="{BB962C8B-B14F-4D97-AF65-F5344CB8AC3E}">
        <p14:creationId xmlns:p14="http://schemas.microsoft.com/office/powerpoint/2010/main" val="136813350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 + Q&amp;A">
    <p:bg>
      <p:bgPr>
        <a:solidFill>
          <a:srgbClr val="B4B4B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A8150BE-61A2-B1E2-756A-7134BE7E136A}"/>
              </a:ext>
            </a:extLst>
          </p:cNvPr>
          <p:cNvSpPr txBox="1"/>
          <p:nvPr userDrawn="1"/>
        </p:nvSpPr>
        <p:spPr>
          <a:xfrm>
            <a:off x="1930400" y="1974485"/>
            <a:ext cx="311814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0" i="0" u="none">
                <a:solidFill>
                  <a:schemeClr val="bg2"/>
                </a:solidFill>
                <a:latin typeface="+mj-lt"/>
                <a:ea typeface="Roboto Condensed" panose="02000000000000000000" pitchFamily="2" charset="0"/>
                <a:cs typeface="Arial Narrow" panose="020B0604020202020204" pitchFamily="34" charset="0"/>
              </a:rPr>
              <a:t>Thank you!</a:t>
            </a:r>
          </a:p>
        </p:txBody>
      </p:sp>
      <p:sp>
        <p:nvSpPr>
          <p:cNvPr id="7" name="Google Shape;1096;p28">
            <a:extLst>
              <a:ext uri="{FF2B5EF4-FFF2-40B4-BE49-F238E27FC236}">
                <a16:creationId xmlns:a16="http://schemas.microsoft.com/office/drawing/2014/main" id="{9EB57577-2B72-4910-D401-BBB6EDA09B5E}"/>
              </a:ext>
            </a:extLst>
          </p:cNvPr>
          <p:cNvSpPr/>
          <p:nvPr userDrawn="1"/>
        </p:nvSpPr>
        <p:spPr>
          <a:xfrm>
            <a:off x="6492044" y="1486792"/>
            <a:ext cx="3244192" cy="3244192"/>
          </a:xfrm>
          <a:custGeom>
            <a:avLst/>
            <a:gdLst/>
            <a:ahLst/>
            <a:cxnLst/>
            <a:rect l="l" t="t" r="r" b="b"/>
            <a:pathLst>
              <a:path w="158750" h="158750" extrusionOk="0">
                <a:moveTo>
                  <a:pt x="8255" y="0"/>
                </a:moveTo>
                <a:cubicBezTo>
                  <a:pt x="3810" y="0"/>
                  <a:pt x="0" y="3810"/>
                  <a:pt x="0" y="8255"/>
                </a:cubicBezTo>
                <a:lnTo>
                  <a:pt x="0" y="119380"/>
                </a:lnTo>
                <a:lnTo>
                  <a:pt x="31750" y="87630"/>
                </a:lnTo>
                <a:lnTo>
                  <a:pt x="111125" y="87630"/>
                </a:lnTo>
                <a:cubicBezTo>
                  <a:pt x="115570" y="87630"/>
                  <a:pt x="119380" y="83820"/>
                  <a:pt x="119380" y="79375"/>
                </a:cubicBezTo>
                <a:lnTo>
                  <a:pt x="119380" y="8255"/>
                </a:lnTo>
                <a:cubicBezTo>
                  <a:pt x="119380" y="3810"/>
                  <a:pt x="115570" y="0"/>
                  <a:pt x="111125" y="0"/>
                </a:cubicBezTo>
                <a:close/>
                <a:moveTo>
                  <a:pt x="135255" y="31750"/>
                </a:moveTo>
                <a:lnTo>
                  <a:pt x="135255" y="103505"/>
                </a:lnTo>
                <a:lnTo>
                  <a:pt x="31750" y="103505"/>
                </a:lnTo>
                <a:lnTo>
                  <a:pt x="31750" y="119380"/>
                </a:lnTo>
                <a:cubicBezTo>
                  <a:pt x="31750" y="123190"/>
                  <a:pt x="35560" y="127000"/>
                  <a:pt x="40005" y="127000"/>
                </a:cubicBezTo>
                <a:lnTo>
                  <a:pt x="127000" y="127000"/>
                </a:lnTo>
                <a:lnTo>
                  <a:pt x="158750" y="158750"/>
                </a:lnTo>
                <a:lnTo>
                  <a:pt x="158750" y="40005"/>
                </a:lnTo>
                <a:cubicBezTo>
                  <a:pt x="158750" y="35560"/>
                  <a:pt x="154940" y="31750"/>
                  <a:pt x="151130" y="31750"/>
                </a:cubicBezTo>
                <a:close/>
              </a:path>
            </a:pathLst>
          </a:custGeom>
          <a:solidFill>
            <a:schemeClr val="bg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CAD5AEE-A9BE-AED9-1997-707BCB05F17E}"/>
              </a:ext>
            </a:extLst>
          </p:cNvPr>
          <p:cNvSpPr txBox="1"/>
          <p:nvPr userDrawn="1"/>
        </p:nvSpPr>
        <p:spPr>
          <a:xfrm>
            <a:off x="6986705" y="2005263"/>
            <a:ext cx="146217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i="0" u="none">
                <a:solidFill>
                  <a:srgbClr val="B4B4B6"/>
                </a:solidFill>
                <a:latin typeface="+mj-lt"/>
                <a:ea typeface="Roboto Condensed" panose="02000000000000000000" pitchFamily="2" charset="0"/>
                <a:cs typeface="Arial Narrow" panose="020B0604020202020204" pitchFamily="34" charset="0"/>
              </a:rPr>
              <a:t>Q&amp;A</a:t>
            </a:r>
          </a:p>
        </p:txBody>
      </p:sp>
    </p:spTree>
    <p:extLst>
      <p:ext uri="{BB962C8B-B14F-4D97-AF65-F5344CB8AC3E}">
        <p14:creationId xmlns:p14="http://schemas.microsoft.com/office/powerpoint/2010/main" val="249942370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89E814-30EF-D31D-918D-84A133CAAF7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39863" y="1060450"/>
            <a:ext cx="8640762" cy="2255838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de-D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1FD04D3-21C6-2763-9D6F-9D4FF92118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39863" y="3403600"/>
            <a:ext cx="8640762" cy="1565275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6275A1-E295-0DB5-3FD5-B57F194E20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C778A4-1038-A54C-81BC-363124C2A552}" type="datetimeFigureOut">
              <a:rPr lang="de-DE" smtClean="0"/>
              <a:t>19.08.26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868470-AB1F-4F60-D805-07FD21B21E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C5C156-1B9F-D189-D1F4-7A8DFEEE02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658E4-AAA9-644E-B2D4-5D0E0239E755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4554749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F59A5E-8C68-2FE9-A0A7-1A678D4693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de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7ACA7C-A593-D40D-EB5A-0A2FF3F8EB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E2C9E3-BFAC-3CBA-1681-16469C1783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C778A4-1038-A54C-81BC-363124C2A552}" type="datetimeFigureOut">
              <a:rPr lang="de-DE" smtClean="0"/>
              <a:t>19.08.26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35E4DE-BF49-A943-7E37-A7E05CB1E7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9E662F-E406-8799-7301-C7C9D0EE44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658E4-AAA9-644E-B2D4-5D0E0239E755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7077501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F201E6-75A6-4026-8416-B5583C3CA6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5813" y="1616075"/>
            <a:ext cx="9936162" cy="2695575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de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6A2D85-B012-C3CB-202C-539BBD235B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85813" y="4337050"/>
            <a:ext cx="9936162" cy="1417638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6268BF-7F37-6C3C-F386-5CD6E2AFE4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C778A4-1038-A54C-81BC-363124C2A552}" type="datetimeFigureOut">
              <a:rPr lang="de-DE" smtClean="0"/>
              <a:t>19.08.26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F54234-21E5-C289-357B-3A3E367119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D3B6EB-56C5-798A-D769-AA7D852786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658E4-AAA9-644E-B2D4-5D0E0239E755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5052593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05C55F-94E2-EFF0-4616-76645DB0F5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de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89AACB-9467-9254-2CBF-B8179924320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92163" y="1725613"/>
            <a:ext cx="4891087" cy="411162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de-D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C43786-358F-0C13-2EF7-18BA97C9E0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835650" y="1725613"/>
            <a:ext cx="4892675" cy="411162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de-D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67B2FBD-98A1-CE7B-1FBE-668033A711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C778A4-1038-A54C-81BC-363124C2A552}" type="datetimeFigureOut">
              <a:rPr lang="de-DE" smtClean="0"/>
              <a:t>19.08.26</a:t>
            </a:fld>
            <a:endParaRPr lang="de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1C4197-91FE-3B1E-5E36-7BF0638AA3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CB42F17-205B-77B6-C998-0EF62301A8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658E4-AAA9-644E-B2D4-5D0E0239E755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3614203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29C699-429C-F65E-99B1-5BFA115DD1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750" y="344488"/>
            <a:ext cx="9936163" cy="1252537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de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B32219-4BA6-E455-64A3-4914F760A3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93750" y="1589088"/>
            <a:ext cx="4873625" cy="77787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4A8651-9ECD-76FF-8A0F-2307766187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93750" y="2366963"/>
            <a:ext cx="4873625" cy="3481387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de-D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8BEA5F7-F99D-7853-B70D-19145816529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832475" y="1589088"/>
            <a:ext cx="4897438" cy="77787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DED218F-8494-6F22-F628-D08AE608A48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832475" y="2366963"/>
            <a:ext cx="4897438" cy="3481387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de-D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B66A868-1A81-FFC4-565C-8E1E996DDC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C778A4-1038-A54C-81BC-363124C2A552}" type="datetimeFigureOut">
              <a:rPr lang="de-DE" smtClean="0"/>
              <a:t>19.08.26</a:t>
            </a:fld>
            <a:endParaRPr lang="de-D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822666D-F0A0-1757-A61A-51422F2B8B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930E6F9-AF7B-7534-E446-28D59F5C11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658E4-AAA9-644E-B2D4-5D0E0239E755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4058170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DF6F51-984C-56CA-063B-EB6583971A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de-D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573EF99-9AE9-19C5-D470-E9F139CA69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C778A4-1038-A54C-81BC-363124C2A552}" type="datetimeFigureOut">
              <a:rPr lang="de-DE" smtClean="0"/>
              <a:t>19.08.26</a:t>
            </a:fld>
            <a:endParaRPr lang="de-D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BA6C3EF-F3EA-2DD7-F9C3-75D68FF6FC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8712590-3776-4ED3-CC6F-F8B18F8323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658E4-AAA9-644E-B2D4-5D0E0239E755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8598549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9B1FA29-A00C-EA6D-EBF7-2B92F95CE6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C778A4-1038-A54C-81BC-363124C2A552}" type="datetimeFigureOut">
              <a:rPr lang="de-DE" smtClean="0"/>
              <a:t>19.08.26</a:t>
            </a:fld>
            <a:endParaRPr lang="de-D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3D891BA-BA4D-3FF5-43BE-C5BB8352F4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D60A47-11CA-27D8-0002-AADE467D93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658E4-AAA9-644E-B2D4-5D0E0239E755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874123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DEA73F-7479-6FD6-0F1B-D796401776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750" y="431800"/>
            <a:ext cx="3714750" cy="1512888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de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C9114A-4434-FBC9-3C0F-5AFE60C7D7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97438" y="933450"/>
            <a:ext cx="5832475" cy="4605338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de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57C3A25-6935-2325-179C-0C917FAC14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93750" y="1944688"/>
            <a:ext cx="3714750" cy="360045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B9067DE-A29C-292F-0CAC-40261D914B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C778A4-1038-A54C-81BC-363124C2A552}" type="datetimeFigureOut">
              <a:rPr lang="de-DE" smtClean="0"/>
              <a:t>19.08.26</a:t>
            </a:fld>
            <a:endParaRPr lang="de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ABC941-E2F3-347D-FC39-48601FDED8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3037C73-2F2C-997D-31C5-6C47EC58A9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658E4-AAA9-644E-B2D4-5D0E0239E755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7835282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F97996-8480-2BE6-999A-0138D559BB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750" y="431800"/>
            <a:ext cx="3714750" cy="1512888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de-D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B93D5E3-C8FA-C1CD-B40F-96C894BE475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897438" y="933450"/>
            <a:ext cx="5832475" cy="4605338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F7042BF-F29D-7A19-842A-1EC6C48FE4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93750" y="1944688"/>
            <a:ext cx="3714750" cy="360045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346B315-EBFE-D3D3-37DA-40E29723FE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C778A4-1038-A54C-81BC-363124C2A552}" type="datetimeFigureOut">
              <a:rPr lang="de-DE" smtClean="0"/>
              <a:t>19.08.26</a:t>
            </a:fld>
            <a:endParaRPr lang="de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A6FA29-FF27-6306-C767-DDF26E6FA3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3366CC-D767-BE8F-622A-23FB28F8E3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658E4-AAA9-644E-B2D4-5D0E0239E755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7275502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DF593D-0B60-29CD-3D67-1DB7FC66F6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de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D35BA91-9967-D19B-32F4-0169D680C0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202C41-0083-9F04-253D-BA32773A82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C778A4-1038-A54C-81BC-363124C2A552}" type="datetimeFigureOut">
              <a:rPr lang="de-DE" smtClean="0"/>
              <a:t>19.08.26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B952F0-5B7B-3EBD-2211-CEAE9F6504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280035-076D-96E5-990A-3C4508316F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658E4-AAA9-644E-B2D4-5D0E0239E755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7972723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D1453F8-213C-B505-4F8B-934D57FE241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245475" y="344488"/>
            <a:ext cx="2482850" cy="5492750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de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E9BC40F-173E-CD5B-0F57-A63B6836C6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92163" y="344488"/>
            <a:ext cx="7300912" cy="5492750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656E20-5B4F-A54C-DED6-0446B2EDFF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C778A4-1038-A54C-81BC-363124C2A552}" type="datetimeFigureOut">
              <a:rPr lang="de-DE" smtClean="0"/>
              <a:t>19.08.26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61962E-8FA0-CC3C-BCF2-1F20DEF237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BC8B2E-84A3-1099-BDD0-55F237CBF3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658E4-AAA9-644E-B2D4-5D0E0239E755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826563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1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2.sv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7.xml"/><Relationship Id="rId3" Type="http://schemas.openxmlformats.org/officeDocument/2006/relationships/slideLayout" Target="../slideLayouts/slideLayout22.xml"/><Relationship Id="rId7" Type="http://schemas.openxmlformats.org/officeDocument/2006/relationships/slideLayout" Target="../slideLayouts/slideLayout26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21.xml"/><Relationship Id="rId1" Type="http://schemas.openxmlformats.org/officeDocument/2006/relationships/slideLayout" Target="../slideLayouts/slideLayout20.xml"/><Relationship Id="rId6" Type="http://schemas.openxmlformats.org/officeDocument/2006/relationships/slideLayout" Target="../slideLayouts/slideLayout25.xml"/><Relationship Id="rId11" Type="http://schemas.openxmlformats.org/officeDocument/2006/relationships/slideLayout" Target="../slideLayouts/slideLayout30.xml"/><Relationship Id="rId5" Type="http://schemas.openxmlformats.org/officeDocument/2006/relationships/slideLayout" Target="../slideLayouts/slideLayout24.xml"/><Relationship Id="rId10" Type="http://schemas.openxmlformats.org/officeDocument/2006/relationships/slideLayout" Target="../slideLayouts/slideLayout29.xml"/><Relationship Id="rId4" Type="http://schemas.openxmlformats.org/officeDocument/2006/relationships/slideLayout" Target="../slideLayouts/slideLayout23.xml"/><Relationship Id="rId9" Type="http://schemas.openxmlformats.org/officeDocument/2006/relationships/slideLayout" Target="../slideLayouts/slideLayout2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Isosceles Triangle 16">
            <a:extLst>
              <a:ext uri="{FF2B5EF4-FFF2-40B4-BE49-F238E27FC236}">
                <a16:creationId xmlns:a16="http://schemas.microsoft.com/office/drawing/2014/main" id="{1A68F4BE-4FA3-A584-7D5F-A0B5C00AA917}"/>
              </a:ext>
            </a:extLst>
          </p:cNvPr>
          <p:cNvSpPr/>
          <p:nvPr userDrawn="1"/>
        </p:nvSpPr>
        <p:spPr>
          <a:xfrm rot="16200000">
            <a:off x="10401090" y="-2"/>
            <a:ext cx="1119398" cy="1119398"/>
          </a:xfrm>
          <a:prstGeom prst="triangle">
            <a:avLst>
              <a:gd name="adj" fmla="val 100000"/>
            </a:avLst>
          </a:prstGeom>
          <a:solidFill>
            <a:srgbClr val="168638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b="1" i="0" cap="none" spc="0" noProof="0">
              <a:ln>
                <a:noFill/>
              </a:ln>
              <a:solidFill>
                <a:schemeClr val="bg2"/>
              </a:solidFill>
              <a:effectLst/>
              <a:latin typeface="Arial Narrow" panose="020B0604020202020204" pitchFamily="34" charset="0"/>
              <a:cs typeface="Arial Narrow" panose="020B0604020202020204" pitchFamily="34" charset="0"/>
            </a:endParaRP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99071" y="170391"/>
            <a:ext cx="10080000" cy="620851"/>
          </a:xfrm>
          <a:prstGeom prst="rect">
            <a:avLst/>
          </a:prstGeom>
          <a:noFill/>
        </p:spPr>
        <p:txBody>
          <a:bodyPr vert="horz" lIns="0" tIns="0" rIns="0" bIns="0" rtlCol="0" anchor="ctr">
            <a:noAutofit/>
          </a:bodyPr>
          <a:lstStyle/>
          <a:p>
            <a:r>
              <a:rPr lang="en-US" noProof="0"/>
              <a:t>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9071" y="936731"/>
            <a:ext cx="10080002" cy="5220000"/>
          </a:xfrm>
          <a:prstGeom prst="rect">
            <a:avLst/>
          </a:prstGeom>
        </p:spPr>
        <p:txBody>
          <a:bodyPr vert="horz" lIns="0" tIns="46800" rIns="0" bIns="45720" rtlCol="0">
            <a:noAutofit/>
          </a:bodyPr>
          <a:lstStyle/>
          <a:p>
            <a:pPr lvl="0"/>
            <a:r>
              <a:rPr lang="en-US" noProof="0"/>
              <a:t>First line of text</a:t>
            </a:r>
          </a:p>
          <a:p>
            <a:pPr lvl="1"/>
            <a:r>
              <a:rPr lang="en-US" noProof="0"/>
              <a:t>Subtitle</a:t>
            </a:r>
          </a:p>
          <a:p>
            <a:pPr lvl="2"/>
            <a:r>
              <a:rPr lang="en-US" noProof="0"/>
              <a:t>Sub-subtitle</a:t>
            </a:r>
          </a:p>
          <a:p>
            <a:pPr lvl="3"/>
            <a:r>
              <a:rPr lang="en-US" noProof="0"/>
              <a:t>This level should not be used</a:t>
            </a:r>
          </a:p>
          <a:p>
            <a:pPr lvl="4"/>
            <a:r>
              <a:rPr lang="en-US" noProof="0"/>
              <a:t>This level should not be used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11254CD-0FE2-BE4E-B26C-04DE1C684BCF}"/>
              </a:ext>
            </a:extLst>
          </p:cNvPr>
          <p:cNvSpPr txBox="1"/>
          <p:nvPr userDrawn="1"/>
        </p:nvSpPr>
        <p:spPr>
          <a:xfrm>
            <a:off x="7072009" y="4688732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720000"/>
            <a:endParaRPr lang="en-US" sz="2400" b="0" i="0" noProof="0">
              <a:solidFill>
                <a:schemeClr val="tx2"/>
              </a:solidFill>
              <a:latin typeface="Arial Narrow" panose="020B0604020202020204" pitchFamily="34" charset="0"/>
              <a:cs typeface="Arial Narrow" panose="020B0604020202020204" pitchFamily="34" charset="0"/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13039F93-7DF2-60D6-16FF-CF97CC82260A}"/>
              </a:ext>
            </a:extLst>
          </p:cNvPr>
          <p:cNvSpPr/>
          <p:nvPr userDrawn="1"/>
        </p:nvSpPr>
        <p:spPr>
          <a:xfrm rot="2700000">
            <a:off x="10475317" y="359629"/>
            <a:ext cx="358403" cy="358403"/>
          </a:xfrm>
          <a:prstGeom prst="roundRect">
            <a:avLst>
              <a:gd name="adj" fmla="val 5238"/>
            </a:avLst>
          </a:prstGeom>
          <a:solidFill>
            <a:schemeClr val="bg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b="1" i="0" cap="none" spc="0" noProof="0">
              <a:ln>
                <a:noFill/>
              </a:ln>
              <a:solidFill>
                <a:schemeClr val="bg2"/>
              </a:solidFill>
              <a:effectLst/>
              <a:latin typeface="Arial Narrow" panose="020B0604020202020204" pitchFamily="34" charset="0"/>
              <a:cs typeface="Arial Narrow" panose="020B0604020202020204" pitchFamily="34" charset="0"/>
            </a:endParaRP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09CDF760-B7EB-2325-77A0-22D2F750C836}"/>
              </a:ext>
            </a:extLst>
          </p:cNvPr>
          <p:cNvSpPr/>
          <p:nvPr userDrawn="1"/>
        </p:nvSpPr>
        <p:spPr>
          <a:xfrm rot="2700000">
            <a:off x="10666586" y="217186"/>
            <a:ext cx="643289" cy="643289"/>
          </a:xfrm>
          <a:prstGeom prst="roundRect">
            <a:avLst>
              <a:gd name="adj" fmla="val 5238"/>
            </a:avLst>
          </a:prstGeom>
          <a:solidFill>
            <a:schemeClr val="bg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b="1" i="0" cap="none" spc="0" noProof="0">
              <a:ln>
                <a:noFill/>
              </a:ln>
              <a:solidFill>
                <a:schemeClr val="bg2"/>
              </a:solidFill>
              <a:effectLst/>
              <a:latin typeface="Arial Narrow" panose="020B0604020202020204" pitchFamily="34" charset="0"/>
              <a:cs typeface="Arial Narrow" panose="020B0604020202020204" pitchFamily="34" charset="0"/>
            </a:endParaRP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17EA5A80-7EE5-E82F-A70F-F148FEF32070}"/>
              </a:ext>
            </a:extLst>
          </p:cNvPr>
          <p:cNvPicPr>
            <a:picLocks noChangeAspect="1"/>
          </p:cNvPicPr>
          <p:nvPr userDrawn="1"/>
        </p:nvPicPr>
        <p:blipFill>
          <a:blip r:embed="rId21">
            <a:alphaModFix/>
          </a:blip>
          <a:stretch>
            <a:fillRect/>
          </a:stretch>
        </p:blipFill>
        <p:spPr>
          <a:xfrm>
            <a:off x="10460009" y="140930"/>
            <a:ext cx="927344" cy="795801"/>
          </a:xfrm>
          <a:prstGeom prst="rect">
            <a:avLst/>
          </a:prstGeom>
          <a:ln w="66675">
            <a:noFill/>
          </a:ln>
        </p:spPr>
      </p:pic>
      <p:pic>
        <p:nvPicPr>
          <p:cNvPr id="44" name="Graphic 43">
            <a:extLst>
              <a:ext uri="{FF2B5EF4-FFF2-40B4-BE49-F238E27FC236}">
                <a16:creationId xmlns:a16="http://schemas.microsoft.com/office/drawing/2014/main" id="{CE150080-BAE7-649E-4121-028FCE97E94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299071" y="6158090"/>
            <a:ext cx="1106079" cy="184346"/>
          </a:xfrm>
          <a:prstGeom prst="rect">
            <a:avLst/>
          </a:prstGeom>
        </p:spPr>
      </p:pic>
      <p:sp>
        <p:nvSpPr>
          <p:cNvPr id="4" name="Date Placeholder 12">
            <a:extLst>
              <a:ext uri="{FF2B5EF4-FFF2-40B4-BE49-F238E27FC236}">
                <a16:creationId xmlns:a16="http://schemas.microsoft.com/office/drawing/2014/main" id="{B8319E33-4883-AE4B-34D5-D48A9C68F74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505907" y="6137853"/>
            <a:ext cx="6840000" cy="288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Roboto Condensed Light" panose="02000000000000000000" pitchFamily="2" charset="0"/>
                <a:cs typeface="Calibri Light" panose="020F0302020204030204" pitchFamily="34" charset="0"/>
              </a:defRPr>
            </a:lvl1pPr>
          </a:lstStyle>
          <a:p>
            <a:r>
              <a:rPr lang="de-DE"/>
              <a:t>SoC DaML Mini Project Presentation Lars Kröger, 20.08.2026</a:t>
            </a:r>
            <a:endParaRPr lang="en-US"/>
          </a:p>
        </p:txBody>
      </p:sp>
      <p:sp>
        <p:nvSpPr>
          <p:cNvPr id="5" name="Slide Number Placeholder 13">
            <a:extLst>
              <a:ext uri="{FF2B5EF4-FFF2-40B4-BE49-F238E27FC236}">
                <a16:creationId xmlns:a16="http://schemas.microsoft.com/office/drawing/2014/main" id="{E9C8C412-C6D2-5E89-86AA-4DBE576627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0422" y="6137082"/>
            <a:ext cx="540000" cy="288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Roboto Condensed Light" panose="02000000000000000000" pitchFamily="2" charset="0"/>
                <a:cs typeface="Calibri Light" panose="020F0302020204030204" pitchFamily="34" charset="0"/>
              </a:defRPr>
            </a:lvl1pPr>
          </a:lstStyle>
          <a:p>
            <a:fld id="{33867F2A-E750-44E7-A740-D3E09DF683AD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49039404-9948-AB49-571D-1FF77377EEFA}"/>
              </a:ext>
            </a:extLst>
          </p:cNvPr>
          <p:cNvGrpSpPr/>
          <p:nvPr userDrawn="1"/>
        </p:nvGrpSpPr>
        <p:grpSpPr>
          <a:xfrm>
            <a:off x="1350604" y="5975351"/>
            <a:ext cx="1922271" cy="504102"/>
            <a:chOff x="1356955" y="6023605"/>
            <a:chExt cx="1617190" cy="424097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745AABE6-3DAE-79EC-6864-C6E1EA8A67F5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3"/>
            <a:srcRect t="68294"/>
            <a:stretch/>
          </p:blipFill>
          <p:spPr>
            <a:xfrm>
              <a:off x="1820865" y="6127519"/>
              <a:ext cx="1153280" cy="290555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21868362-AE1D-5EC9-F756-A3B567B9C5D2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3"/>
            <a:srcRect b="28327"/>
            <a:stretch/>
          </p:blipFill>
          <p:spPr>
            <a:xfrm>
              <a:off x="1356955" y="6023605"/>
              <a:ext cx="744659" cy="42409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0785187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87" r:id="rId2"/>
    <p:sldLayoutId id="2147483688" r:id="rId3"/>
    <p:sldLayoutId id="2147483689" r:id="rId4"/>
    <p:sldLayoutId id="2147483690" r:id="rId5"/>
    <p:sldLayoutId id="2147483691" r:id="rId6"/>
    <p:sldLayoutId id="2147483692" r:id="rId7"/>
    <p:sldLayoutId id="2147483693" r:id="rId8"/>
    <p:sldLayoutId id="2147483694" r:id="rId9"/>
    <p:sldLayoutId id="2147483696" r:id="rId10"/>
    <p:sldLayoutId id="2147483716" r:id="rId11"/>
    <p:sldLayoutId id="2147483714" r:id="rId12"/>
    <p:sldLayoutId id="2147483695" r:id="rId13"/>
    <p:sldLayoutId id="2147483711" r:id="rId14"/>
    <p:sldLayoutId id="2147483712" r:id="rId15"/>
    <p:sldLayoutId id="2147483670" r:id="rId16"/>
    <p:sldLayoutId id="2147483676" r:id="rId17"/>
    <p:sldLayoutId id="2147483717" r:id="rId18"/>
    <p:sldLayoutId id="2147483700" r:id="rId19"/>
  </p:sldLayoutIdLst>
  <p:hf hdr="0" ftr="0"/>
  <p:txStyles>
    <p:titleStyle>
      <a:lvl1pPr algn="l" defTabSz="864017" rtl="0" eaLnBrk="1" latinLnBrk="0" hangingPunct="1">
        <a:lnSpc>
          <a:spcPct val="90000"/>
        </a:lnSpc>
        <a:spcBef>
          <a:spcPct val="0"/>
        </a:spcBef>
        <a:buNone/>
        <a:defRPr sz="3600" b="0" i="0" kern="1200" spc="-100" baseline="0">
          <a:ln w="15875" cmpd="sng">
            <a:noFill/>
            <a:round/>
          </a:ln>
          <a:solidFill>
            <a:schemeClr val="accent3"/>
          </a:solidFill>
          <a:latin typeface="+mj-lt"/>
          <a:ea typeface="Roboto" panose="02000000000000000000" pitchFamily="2" charset="0"/>
          <a:cs typeface="Roboto" panose="02000000000000000000" pitchFamily="2" charset="0"/>
        </a:defRPr>
      </a:lvl1pPr>
    </p:titleStyle>
    <p:bodyStyle>
      <a:lvl1pPr marL="288004" indent="-288004" algn="l" defTabSz="720000" rtl="0" eaLnBrk="1" latinLnBrk="0" hangingPunct="1">
        <a:lnSpc>
          <a:spcPct val="100000"/>
        </a:lnSpc>
        <a:spcBef>
          <a:spcPts val="1200"/>
        </a:spcBef>
        <a:buClr>
          <a:schemeClr val="tx1"/>
        </a:buClr>
        <a:buSzPct val="90000"/>
        <a:buFont typeface="Arial" panose="020B0604020202020204" pitchFamily="34" charset="0"/>
        <a:buChar char="•"/>
        <a:defRPr sz="2400" b="1" i="0" kern="1200">
          <a:solidFill>
            <a:schemeClr val="tx1"/>
          </a:solidFill>
          <a:latin typeface="+mn-lt"/>
          <a:ea typeface="Roboto Light" panose="02000000000000000000" pitchFamily="2" charset="0"/>
          <a:cs typeface="Roboto Light" panose="02000000000000000000" pitchFamily="2" charset="0"/>
        </a:defRPr>
      </a:lvl1pPr>
      <a:lvl2pPr marL="504000" indent="-216004" algn="l" defTabSz="720000" rtl="0" eaLnBrk="1" latinLnBrk="0" hangingPunct="1">
        <a:lnSpc>
          <a:spcPct val="100000"/>
        </a:lnSpc>
        <a:spcBef>
          <a:spcPts val="600"/>
        </a:spcBef>
        <a:buClr>
          <a:schemeClr val="tx1"/>
        </a:buClr>
        <a:buSzPct val="90000"/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+mn-lt"/>
          <a:ea typeface="Roboto Light" panose="02000000000000000000" pitchFamily="2" charset="0"/>
          <a:cs typeface="Roboto Light" panose="02000000000000000000" pitchFamily="2" charset="0"/>
        </a:defRPr>
      </a:lvl2pPr>
      <a:lvl3pPr marL="720000" indent="-216004" algn="l" defTabSz="864017" rtl="0" eaLnBrk="1" latinLnBrk="0" hangingPunct="1">
        <a:lnSpc>
          <a:spcPct val="100000"/>
        </a:lnSpc>
        <a:spcBef>
          <a:spcPts val="600"/>
        </a:spcBef>
        <a:buClr>
          <a:schemeClr val="tx1"/>
        </a:buClr>
        <a:buSzPct val="90000"/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+mn-lt"/>
          <a:ea typeface="Roboto Light" panose="02000000000000000000" pitchFamily="2" charset="0"/>
          <a:cs typeface="Roboto Light" panose="02000000000000000000" pitchFamily="2" charset="0"/>
        </a:defRPr>
      </a:lvl3pPr>
      <a:lvl4pPr marL="936000" indent="-216004" algn="l" defTabSz="864017" rtl="0" eaLnBrk="1" latinLnBrk="0" hangingPunct="1">
        <a:lnSpc>
          <a:spcPct val="100000"/>
        </a:lnSpc>
        <a:spcBef>
          <a:spcPts val="0"/>
        </a:spcBef>
        <a:buClr>
          <a:schemeClr val="tx1"/>
        </a:buClr>
        <a:buSzPct val="90000"/>
        <a:buFont typeface="Arial" panose="020B0604020202020204" pitchFamily="34" charset="0"/>
        <a:buChar char="•"/>
        <a:defRPr sz="1200" b="0" i="0" kern="1200">
          <a:solidFill>
            <a:schemeClr val="tx1"/>
          </a:solidFill>
          <a:latin typeface="+mn-lt"/>
          <a:ea typeface="Roboto Light" panose="02000000000000000000" pitchFamily="2" charset="0"/>
          <a:cs typeface="Roboto Light" panose="02000000000000000000" pitchFamily="2" charset="0"/>
        </a:defRPr>
      </a:lvl4pPr>
      <a:lvl5pPr marL="1152000" indent="-216004" algn="l" defTabSz="864017" rtl="0" eaLnBrk="1" latinLnBrk="0" hangingPunct="1">
        <a:lnSpc>
          <a:spcPct val="100000"/>
        </a:lnSpc>
        <a:spcBef>
          <a:spcPts val="0"/>
        </a:spcBef>
        <a:buClr>
          <a:schemeClr val="tx1"/>
        </a:buClr>
        <a:buSzPct val="90000"/>
        <a:buFont typeface="Arial" panose="020B0604020202020204" pitchFamily="34" charset="0"/>
        <a:buChar char="•"/>
        <a:defRPr sz="1100" b="0" i="0" kern="1200">
          <a:solidFill>
            <a:schemeClr val="tx1"/>
          </a:solidFill>
          <a:latin typeface="+mn-lt"/>
          <a:ea typeface="Roboto Light" panose="02000000000000000000" pitchFamily="2" charset="0"/>
          <a:cs typeface="Roboto Light" panose="02000000000000000000" pitchFamily="2" charset="0"/>
        </a:defRPr>
      </a:lvl5pPr>
      <a:lvl6pPr marL="2376046" indent="-216004" algn="l" defTabSz="864017" rtl="0" eaLnBrk="1" latinLnBrk="0" hangingPunct="1">
        <a:lnSpc>
          <a:spcPct val="90000"/>
        </a:lnSpc>
        <a:spcBef>
          <a:spcPts val="472"/>
        </a:spcBef>
        <a:buFont typeface="Arial" panose="020B0604020202020204" pitchFamily="34" charset="0"/>
        <a:buChar char="•"/>
        <a:defRPr sz="1701" kern="1200">
          <a:solidFill>
            <a:schemeClr val="tx1"/>
          </a:solidFill>
          <a:latin typeface="+mn-lt"/>
          <a:ea typeface="+mn-ea"/>
          <a:cs typeface="+mn-cs"/>
        </a:defRPr>
      </a:lvl6pPr>
      <a:lvl7pPr marL="2808054" indent="-216004" algn="l" defTabSz="864017" rtl="0" eaLnBrk="1" latinLnBrk="0" hangingPunct="1">
        <a:lnSpc>
          <a:spcPct val="90000"/>
        </a:lnSpc>
        <a:spcBef>
          <a:spcPts val="472"/>
        </a:spcBef>
        <a:buFont typeface="Arial" panose="020B0604020202020204" pitchFamily="34" charset="0"/>
        <a:buChar char="•"/>
        <a:defRPr sz="1701" kern="1200">
          <a:solidFill>
            <a:schemeClr val="tx1"/>
          </a:solidFill>
          <a:latin typeface="+mn-lt"/>
          <a:ea typeface="+mn-ea"/>
          <a:cs typeface="+mn-cs"/>
        </a:defRPr>
      </a:lvl7pPr>
      <a:lvl8pPr marL="3240062" indent="-216004" algn="l" defTabSz="864017" rtl="0" eaLnBrk="1" latinLnBrk="0" hangingPunct="1">
        <a:lnSpc>
          <a:spcPct val="90000"/>
        </a:lnSpc>
        <a:spcBef>
          <a:spcPts val="472"/>
        </a:spcBef>
        <a:buFont typeface="Arial" panose="020B0604020202020204" pitchFamily="34" charset="0"/>
        <a:buChar char="•"/>
        <a:defRPr sz="1701" kern="1200">
          <a:solidFill>
            <a:schemeClr val="tx1"/>
          </a:solidFill>
          <a:latin typeface="+mn-lt"/>
          <a:ea typeface="+mn-ea"/>
          <a:cs typeface="+mn-cs"/>
        </a:defRPr>
      </a:lvl8pPr>
      <a:lvl9pPr marL="3672070" indent="-216004" algn="l" defTabSz="864017" rtl="0" eaLnBrk="1" latinLnBrk="0" hangingPunct="1">
        <a:lnSpc>
          <a:spcPct val="90000"/>
        </a:lnSpc>
        <a:spcBef>
          <a:spcPts val="472"/>
        </a:spcBef>
        <a:buFont typeface="Arial" panose="020B0604020202020204" pitchFamily="34" charset="0"/>
        <a:buChar char="•"/>
        <a:defRPr sz="170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1pPr>
      <a:lvl2pPr marL="432008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2pPr>
      <a:lvl3pPr marL="864017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3pPr>
      <a:lvl4pPr marL="1296025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4pPr>
      <a:lvl5pPr marL="1728033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5pPr>
      <a:lvl6pPr marL="2160041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6pPr>
      <a:lvl7pPr marL="2592050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7pPr>
      <a:lvl8pPr marL="3024058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8pPr>
      <a:lvl9pPr marL="3456066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041" userDrawn="1">
          <p15:clr>
            <a:srgbClr val="F26B43"/>
          </p15:clr>
        </p15:guide>
        <p15:guide id="2" pos="3628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5E3D76F-2BFD-639F-116C-354C18A587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2163" y="344488"/>
            <a:ext cx="9936162" cy="12525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de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D2CECD-9469-065A-079E-C901040018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92163" y="1725613"/>
            <a:ext cx="9936162" cy="41116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47C410-8373-6798-BF9A-FB912FB508C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92163" y="6005513"/>
            <a:ext cx="2592387" cy="3460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FC778A4-1038-A54C-81BC-363124C2A552}" type="datetimeFigureOut">
              <a:rPr lang="de-DE" smtClean="0"/>
              <a:t>19.08.26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11B24D-B232-3B80-583A-6CBFE227246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816350" y="6005513"/>
            <a:ext cx="3887788" cy="3460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3EC2F9-B62E-8158-3B22-BE8AB6AE4E9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135938" y="6005513"/>
            <a:ext cx="2592387" cy="3460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96658E4-AAA9-644E-B2D4-5D0E0239E755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45759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9" r:id="rId1"/>
    <p:sldLayoutId id="2147483720" r:id="rId2"/>
    <p:sldLayoutId id="2147483721" r:id="rId3"/>
    <p:sldLayoutId id="2147483722" r:id="rId4"/>
    <p:sldLayoutId id="2147483723" r:id="rId5"/>
    <p:sldLayoutId id="2147483724" r:id="rId6"/>
    <p:sldLayoutId id="2147483725" r:id="rId7"/>
    <p:sldLayoutId id="2147483726" r:id="rId8"/>
    <p:sldLayoutId id="2147483727" r:id="rId9"/>
    <p:sldLayoutId id="2147483728" r:id="rId10"/>
    <p:sldLayoutId id="214748372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lleone@iis.ee.ethz.ch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sv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ubtitle 1">
            <a:extLst>
              <a:ext uri="{FF2B5EF4-FFF2-40B4-BE49-F238E27FC236}">
                <a16:creationId xmlns:a16="http://schemas.microsoft.com/office/drawing/2014/main" id="{1D8A90D6-355D-5B5E-308A-AC3AD8D97B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0476" y="2675349"/>
            <a:ext cx="5760000" cy="360000"/>
          </a:xfrm>
        </p:spPr>
        <p:txBody>
          <a:bodyPr/>
          <a:lstStyle/>
          <a:p>
            <a:r>
              <a:rPr lang="en-US" noProof="0"/>
              <a:t>Integrated Systems Laboratory (ETH Zürich)</a:t>
            </a:r>
          </a:p>
        </p:txBody>
      </p:sp>
      <p:sp>
        <p:nvSpPr>
          <p:cNvPr id="12" name="Title 2">
            <a:extLst>
              <a:ext uri="{FF2B5EF4-FFF2-40B4-BE49-F238E27FC236}">
                <a16:creationId xmlns:a16="http://schemas.microsoft.com/office/drawing/2014/main" id="{FF89FCF4-6443-C4C3-1FED-922610C9BF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474" y="1654330"/>
            <a:ext cx="10080000" cy="1080000"/>
          </a:xfrm>
        </p:spPr>
        <p:txBody>
          <a:bodyPr/>
          <a:lstStyle/>
          <a:p>
            <a:r>
              <a:rPr lang="en-DE" b="1" dirty="0"/>
              <a:t>FlashAttention-2 for Autoregressive Inference</a:t>
            </a:r>
          </a:p>
        </p:txBody>
      </p:sp>
      <p:sp>
        <p:nvSpPr>
          <p:cNvPr id="13" name="Google Shape;104;p1">
            <a:extLst>
              <a:ext uri="{FF2B5EF4-FFF2-40B4-BE49-F238E27FC236}">
                <a16:creationId xmlns:a16="http://schemas.microsoft.com/office/drawing/2014/main" id="{EA761395-754B-B760-DE67-DA72DE97FA71}"/>
              </a:ext>
            </a:extLst>
          </p:cNvPr>
          <p:cNvSpPr txBox="1">
            <a:spLocks/>
          </p:cNvSpPr>
          <p:nvPr/>
        </p:nvSpPr>
        <p:spPr>
          <a:xfrm>
            <a:off x="360476" y="3449825"/>
            <a:ext cx="5760000" cy="18889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6800" rIns="0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2000" b="0" i="0" u="none" strike="noStrike" cap="non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3147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2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3147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2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3147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2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3147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20"/>
              <a:buFont typeface="Arial"/>
              <a:buChar char="•"/>
              <a:defRPr sz="1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472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70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472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70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472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70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472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70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 defTabSz="914400">
              <a:spcBef>
                <a:spcPts val="0"/>
              </a:spcBef>
              <a:buClr>
                <a:srgbClr val="000000"/>
              </a:buClr>
              <a:defRPr/>
            </a:pPr>
            <a:r>
              <a:rPr lang="en-US" b="1" kern="0">
                <a:solidFill>
                  <a:srgbClr val="168638"/>
                </a:solidFill>
              </a:rPr>
              <a:t>Lars Kröger </a:t>
            </a:r>
            <a:r>
              <a:rPr lang="en-US" kern="0">
                <a:solidFill>
                  <a:srgbClr val="000000"/>
                </a:solidFill>
              </a:rPr>
              <a:t>lkroeger@ethz.ch</a:t>
            </a:r>
          </a:p>
          <a:p>
            <a:pPr marL="0" indent="0" defTabSz="914400">
              <a:spcBef>
                <a:spcPts val="0"/>
              </a:spcBef>
              <a:buClr>
                <a:srgbClr val="000000"/>
              </a:buClr>
              <a:defRPr/>
            </a:pPr>
            <a:r>
              <a:rPr kumimoji="0" lang="en-US" sz="2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  <a:sym typeface="Calibri"/>
              </a:rPr>
              <a:t>Supervisors:</a:t>
            </a:r>
            <a:endParaRPr kumimoji="0" lang="en-US" sz="2000" b="1" i="0" u="none" strike="noStrike" kern="0" cap="none" spc="0" normalizeH="0" baseline="0" noProof="0">
              <a:ln>
                <a:noFill/>
              </a:ln>
              <a:solidFill>
                <a:srgbClr val="168638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r>
              <a:rPr kumimoji="0" lang="en-US" sz="2000" b="1" i="0" u="none" strike="noStrike" kern="0" cap="none" spc="0" normalizeH="0" baseline="0" noProof="0">
                <a:ln>
                  <a:noFill/>
                </a:ln>
                <a:solidFill>
                  <a:srgbClr val="168638"/>
                </a:solidFill>
                <a:effectLst/>
                <a:uLnTx/>
                <a:uFillTx/>
                <a:latin typeface="Calibri"/>
                <a:cs typeface="Calibri"/>
                <a:sym typeface="Calibri"/>
              </a:rPr>
              <a:t>Luca Colagrande</a:t>
            </a:r>
            <a:r>
              <a:rPr lang="en-US" kern="0">
                <a:solidFill>
                  <a:srgbClr val="168638"/>
                </a:solidFill>
              </a:rPr>
              <a:t> </a:t>
            </a:r>
            <a:r>
              <a:rPr lang="en-US" kern="0" err="1">
                <a:solidFill>
                  <a:srgbClr val="000000"/>
                </a:solidFill>
              </a:rPr>
              <a:t>colluca@iis.ee.ethz.ch</a:t>
            </a:r>
            <a:br>
              <a:rPr kumimoji="0" lang="en-US" sz="2000" b="0" i="0" strike="noStrike" kern="0" cap="none" spc="0" normalizeH="0" baseline="0" noProof="0">
                <a:ln>
                  <a:noFill/>
                </a:ln>
                <a:solidFill>
                  <a:srgbClr val="168638"/>
                </a:solidFill>
                <a:effectLst/>
                <a:uLnTx/>
                <a:uFillTx/>
                <a:latin typeface="Calibri"/>
                <a:cs typeface="Calibri"/>
                <a:sym typeface="Calibri"/>
              </a:rPr>
            </a:br>
            <a:r>
              <a:rPr kumimoji="0" lang="en-US" sz="2000" b="1" i="0" strike="noStrike" kern="0" cap="none" spc="0" normalizeH="0" baseline="0" noProof="0">
                <a:ln>
                  <a:noFill/>
                </a:ln>
                <a:solidFill>
                  <a:srgbClr val="168638"/>
                </a:solidFill>
                <a:effectLst/>
                <a:uLnTx/>
                <a:uFillTx/>
                <a:latin typeface="Calibri"/>
                <a:cs typeface="Calibri"/>
                <a:sym typeface="Calibri"/>
              </a:rPr>
              <a:t>Lorenzo Leone </a:t>
            </a:r>
            <a:r>
              <a:rPr kumimoji="0" lang="en-US" sz="2000" b="0" i="0" strike="noStrike" kern="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  <a:sym typeface="Calibri"/>
              </a:rPr>
              <a:t>lleone@iis.ee.ethz.ch</a:t>
            </a:r>
            <a:endParaRPr kumimoji="0" lang="en-US" sz="2000" b="0" i="0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cs typeface="Calibri"/>
              <a:sym typeface="Calibri"/>
              <a:hlinkClick r:id="rId2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</p:txBody>
      </p:sp>
    </p:spTree>
    <p:extLst>
      <p:ext uri="{BB962C8B-B14F-4D97-AF65-F5344CB8AC3E}">
        <p14:creationId xmlns:p14="http://schemas.microsoft.com/office/powerpoint/2010/main" val="29043386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469742-20F7-211C-4412-EC860B954F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071" y="170391"/>
            <a:ext cx="10046836" cy="1062061"/>
          </a:xfrm>
        </p:spPr>
        <p:txBody>
          <a:bodyPr/>
          <a:lstStyle/>
          <a:p>
            <a:r>
              <a:rPr lang="en-DE" dirty="0"/>
              <a:t>Why Optimize FlashAttention-2 for Autoregressive Decode?</a:t>
            </a:r>
            <a:endParaRPr lang="de-C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82E9A1-E572-1B2E-2511-C06CB3EED53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99068" y="1112298"/>
            <a:ext cx="7136053" cy="4698261"/>
          </a:xfrm>
        </p:spPr>
        <p:txBody>
          <a:bodyPr/>
          <a:lstStyle/>
          <a:p>
            <a:pPr marL="287655" lvl="1" indent="0">
              <a:buNone/>
            </a:pPr>
            <a:endParaRPr lang="en-US" dirty="0">
              <a:ea typeface="Roboto Light"/>
              <a:cs typeface="Roboto Light"/>
            </a:endParaRPr>
          </a:p>
          <a:p>
            <a:pPr lvl="0"/>
            <a:r>
              <a:rPr lang="en-DE" dirty="0"/>
              <a:t>The mechanism behind LLM text generation</a:t>
            </a:r>
          </a:p>
          <a:p>
            <a:pPr lvl="0"/>
            <a:r>
              <a:rPr lang="de-DE" dirty="0"/>
              <a:t>Single </a:t>
            </a:r>
            <a:r>
              <a:rPr lang="de-DE" dirty="0" err="1"/>
              <a:t>new</a:t>
            </a:r>
            <a:r>
              <a:rPr lang="de-DE" dirty="0"/>
              <a:t> </a:t>
            </a:r>
            <a:r>
              <a:rPr lang="de-DE" dirty="0" err="1"/>
              <a:t>query</a:t>
            </a:r>
            <a:r>
              <a:rPr lang="de-DE" dirty="0"/>
              <a:t> </a:t>
            </a:r>
            <a:r>
              <a:rPr lang="de-DE" dirty="0" err="1"/>
              <a:t>against</a:t>
            </a:r>
            <a:r>
              <a:rPr lang="de-DE" dirty="0"/>
              <a:t> </a:t>
            </a:r>
            <a:r>
              <a:rPr lang="de-DE" dirty="0" err="1"/>
              <a:t>long</a:t>
            </a:r>
            <a:r>
              <a:rPr lang="de-DE" dirty="0"/>
              <a:t> </a:t>
            </a:r>
            <a:r>
              <a:rPr lang="de-DE" dirty="0" err="1"/>
              <a:t>context</a:t>
            </a:r>
            <a:endParaRPr lang="de-DE" dirty="0"/>
          </a:p>
          <a:p>
            <a:pPr lvl="1"/>
            <a:r>
              <a:rPr lang="de-DE" dirty="0"/>
              <a:t>Different Computional </a:t>
            </a:r>
            <a:r>
              <a:rPr lang="de-DE" dirty="0" err="1"/>
              <a:t>Structure</a:t>
            </a:r>
            <a:endParaRPr lang="en-DE" dirty="0"/>
          </a:p>
          <a:p>
            <a:pPr marL="287459" indent="-215900"/>
            <a:r>
              <a:rPr lang="en-DE" dirty="0"/>
              <a:t>Can FlashAttention be specialized for autoregressive decode to </a:t>
            </a:r>
            <a:r>
              <a:rPr lang="en-GB" dirty="0"/>
              <a:t>exploit the Snitch cluster?</a:t>
            </a:r>
            <a:r>
              <a:rPr lang="en-DE" dirty="0"/>
              <a:t> </a:t>
            </a:r>
          </a:p>
          <a:p>
            <a:pPr marL="503455" lvl="1" indent="-215900"/>
            <a:r>
              <a:rPr lang="en-DE" dirty="0"/>
              <a:t>When does </a:t>
            </a:r>
            <a:r>
              <a:rPr lang="en-DE" b="1" dirty="0"/>
              <a:t>DMA/NoC bandwidth</a:t>
            </a:r>
            <a:r>
              <a:rPr lang="en-DE" dirty="0"/>
              <a:t> become the bottleneck?</a:t>
            </a:r>
            <a:endParaRPr lang="en-US" sz="2400" dirty="0">
              <a:ea typeface="+mn-lt"/>
              <a:cs typeface="+mn-lt"/>
            </a:endParaRPr>
          </a:p>
          <a:p>
            <a:pPr marL="503455" lvl="1" indent="-215900"/>
            <a:endParaRPr lang="en-US" sz="2400" dirty="0">
              <a:ea typeface="+mn-lt"/>
              <a:cs typeface="+mn-lt"/>
            </a:endParaRPr>
          </a:p>
          <a:p>
            <a:pPr marL="503455" lvl="1" indent="-215900"/>
            <a:endParaRPr lang="en-DE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43963A-DCED-4309-73A9-4E3600B8B88A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de-DE" dirty="0"/>
              <a:t>SoC </a:t>
            </a:r>
            <a:r>
              <a:rPr lang="de-DE" dirty="0" err="1"/>
              <a:t>DaML</a:t>
            </a:r>
            <a:r>
              <a:rPr lang="de-DE" dirty="0"/>
              <a:t> Mini Project </a:t>
            </a:r>
            <a:r>
              <a:rPr lang="de-DE" dirty="0" err="1"/>
              <a:t>Presentation</a:t>
            </a:r>
            <a:r>
              <a:rPr lang="de-DE" dirty="0"/>
              <a:t> Lars Kröger, 20.08.2026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CEA736C-44CA-AB89-4EA0-4012AF8514B7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33867F2A-E750-44E7-A740-D3E09DF683AD}" type="slidenum">
              <a:rPr lang="en-US" smtClean="0"/>
              <a:pPr/>
              <a:t>2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9F388EF-8FD3-F7BD-E0D1-B7BCDAD134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85220" y="1311676"/>
            <a:ext cx="4165201" cy="31097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84154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4844D2-F7BA-A680-ADEE-B13D432C26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Roboto"/>
                <a:cs typeface="Roboto"/>
              </a:rPr>
              <a:t>Autoregressive Decode - QKV projection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1A073E-B84B-E1A9-84D6-C56BFD54E18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89156" y="1075202"/>
            <a:ext cx="5485551" cy="5203616"/>
          </a:xfrm>
        </p:spPr>
        <p:txBody>
          <a:bodyPr vert="horz" lIns="0" tIns="46800" rIns="0" bIns="45720" rtlCol="0" anchor="t">
            <a:noAutofit/>
          </a:bodyPr>
          <a:lstStyle/>
          <a:p>
            <a:pPr marL="287655" indent="-287655">
              <a:buFont typeface=""/>
              <a:buChar char="•"/>
            </a:pPr>
            <a:r>
              <a:rPr lang="en-US" b="1" dirty="0"/>
              <a:t>Large GEMM to project K, V, Q</a:t>
            </a:r>
          </a:p>
          <a:p>
            <a:pPr marL="503651" lvl="1" indent="-287655">
              <a:buFont typeface=""/>
              <a:buChar char="•"/>
            </a:pPr>
            <a:r>
              <a:rPr lang="en-US" dirty="0"/>
              <a:t>Token Embedding of Dimension d</a:t>
            </a:r>
          </a:p>
          <a:p>
            <a:pPr marL="503651" lvl="1" indent="-287655">
              <a:buFont typeface=""/>
              <a:buChar char="•"/>
            </a:pPr>
            <a:r>
              <a:rPr lang="en-US" dirty="0"/>
              <a:t>Sequence length S</a:t>
            </a:r>
          </a:p>
          <a:p>
            <a:pPr marL="215996" lvl="1" indent="0">
              <a:buNone/>
            </a:pPr>
            <a:endParaRPr lang="en-US" dirty="0"/>
          </a:p>
          <a:p>
            <a:pPr marL="287655" indent="-287655">
              <a:buFont typeface=""/>
              <a:buChar char="•"/>
            </a:pPr>
            <a:r>
              <a:rPr lang="en-US" b="1" dirty="0"/>
              <a:t>One new token </a:t>
            </a:r>
            <a:r>
              <a:rPr lang="en-US" b="0" dirty="0"/>
              <a:t>per decoding step </a:t>
            </a:r>
          </a:p>
          <a:p>
            <a:pPr marL="287655" indent="-287655">
              <a:buFont typeface=""/>
              <a:buChar char="•"/>
            </a:pPr>
            <a:r>
              <a:rPr lang="en-US" b="0" dirty="0"/>
              <a:t>Reuse cached </a:t>
            </a:r>
            <a:r>
              <a:rPr lang="en-US" dirty="0"/>
              <a:t>K and V </a:t>
            </a:r>
            <a:r>
              <a:rPr lang="en-US" b="0" dirty="0"/>
              <a:t>from previous tokens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BACF6D-8088-2493-CC9D-600F83D0C7F1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de-DE"/>
              <a:t>SoC DaML Mini Project Presentation Lars Kröger, 20.08.2026</a:t>
            </a: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DAD60E5-EEB2-CAE1-6F26-E1E65BF5710C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33867F2A-E750-44E7-A740-D3E09DF683AD}" type="slidenum">
              <a:rPr lang="en-US" smtClean="0"/>
              <a:pPr/>
              <a:t>3</a:t>
            </a:fld>
            <a:endParaRPr lang="en-US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BE49FD7F-F752-9181-720C-8BB6C250DDB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528617" y="1342437"/>
            <a:ext cx="5921806" cy="3408507"/>
          </a:xfrm>
          <a:prstGeom prst="rect">
            <a:avLst/>
          </a:prstGeom>
        </p:spPr>
      </p:pic>
      <p:pic>
        <p:nvPicPr>
          <p:cNvPr id="6" name="Content Placeholder 12">
            <a:extLst>
              <a:ext uri="{FF2B5EF4-FFF2-40B4-BE49-F238E27FC236}">
                <a16:creationId xmlns:a16="http://schemas.microsoft.com/office/drawing/2014/main" id="{D97ADA1B-5687-2646-2FB3-736B9E77B61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35879" y="1342437"/>
            <a:ext cx="6214543" cy="3540227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3CB04019-F32B-BDD4-542F-61AF050B12FE}"/>
              </a:ext>
            </a:extLst>
          </p:cNvPr>
          <p:cNvSpPr/>
          <p:nvPr/>
        </p:nvSpPr>
        <p:spPr>
          <a:xfrm>
            <a:off x="889772" y="4355377"/>
            <a:ext cx="3845491" cy="1154881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de-DE" sz="3200" b="1" i="0" cap="none" spc="0">
                <a:ln>
                  <a:noFill/>
                </a:ln>
                <a:solidFill>
                  <a:schemeClr val="bg2"/>
                </a:solidFill>
                <a:effectLst/>
                <a:latin typeface="+mj-lt"/>
                <a:cs typeface="Arial Narrow" panose="020B0604020202020204" pitchFamily="34" charset="0"/>
              </a:rPr>
              <a:t>GEMM –&gt; GEMV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3EDA847-F339-C4BA-5745-F96B0EBE3B2E}"/>
              </a:ext>
            </a:extLst>
          </p:cNvPr>
          <p:cNvSpPr/>
          <p:nvPr/>
        </p:nvSpPr>
        <p:spPr>
          <a:xfrm>
            <a:off x="299070" y="928167"/>
            <a:ext cx="5075363" cy="1740388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de-DE" sz="3200" b="1" i="0" cap="none" spc="0">
                <a:ln>
                  <a:noFill/>
                </a:ln>
                <a:solidFill>
                  <a:schemeClr val="bg2"/>
                </a:solidFill>
                <a:effectLst/>
                <a:latin typeface="+mj-lt"/>
                <a:cs typeface="Arial Narrow" panose="020B0604020202020204" pitchFamily="34" charset="0"/>
              </a:rPr>
              <a:t>Autoregressive </a:t>
            </a:r>
            <a:r>
              <a:rPr lang="de-DE" sz="3200" b="1" i="0" cap="none" spc="0" err="1">
                <a:ln>
                  <a:noFill/>
                </a:ln>
                <a:solidFill>
                  <a:schemeClr val="bg2"/>
                </a:solidFill>
                <a:effectLst/>
                <a:latin typeface="+mj-lt"/>
                <a:cs typeface="Arial Narrow" panose="020B0604020202020204" pitchFamily="34" charset="0"/>
              </a:rPr>
              <a:t>Inference</a:t>
            </a:r>
            <a:endParaRPr lang="de-DE" sz="3200" b="1" i="0" cap="none" spc="0">
              <a:ln>
                <a:noFill/>
              </a:ln>
              <a:solidFill>
                <a:schemeClr val="bg2"/>
              </a:solidFill>
              <a:effectLst/>
              <a:latin typeface="+mj-lt"/>
              <a:cs typeface="Arial Narrow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930360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8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Content Placeholder 25">
            <a:extLst>
              <a:ext uri="{FF2B5EF4-FFF2-40B4-BE49-F238E27FC236}">
                <a16:creationId xmlns:a16="http://schemas.microsoft.com/office/drawing/2014/main" id="{56B13500-C803-F321-CE7B-D3F42D010D18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3"/>
          <a:stretch>
            <a:fillRect/>
          </a:stretch>
        </p:blipFill>
        <p:spPr>
          <a:xfrm>
            <a:off x="4602630" y="2843407"/>
            <a:ext cx="6690374" cy="1934084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2A2A47B6-EB49-7E9E-AA4F-075815A5164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64469" y="2517490"/>
            <a:ext cx="6766696" cy="216776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2548FF3-05DA-8BEB-FD63-5EFA036620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Roboto"/>
                <a:cs typeface="Roboto"/>
              </a:rPr>
              <a:t>Attention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195CFF-0BA0-4952-BF7B-73E1F5A1FAE2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de-DE"/>
              <a:t>SoC DaML Mini Project Presentation Lars Kröger, 20.08.2026</a:t>
            </a: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67104F3-119C-775D-E450-618A985A4C59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33867F2A-E750-44E7-A740-D3E09DF683AD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1B3009-7CDF-B0A6-CA57-968397959C58}"/>
              </a:ext>
            </a:extLst>
          </p:cNvPr>
          <p:cNvSpPr txBox="1">
            <a:spLocks/>
          </p:cNvSpPr>
          <p:nvPr/>
        </p:nvSpPr>
        <p:spPr>
          <a:xfrm>
            <a:off x="299070" y="1276559"/>
            <a:ext cx="7509140" cy="5203616"/>
          </a:xfrm>
          <a:prstGeom prst="rect">
            <a:avLst/>
          </a:prstGeom>
        </p:spPr>
        <p:txBody>
          <a:bodyPr vert="horz" lIns="0" tIns="46800" rIns="0" bIns="45720" rtlCol="0" anchor="t">
            <a:noAutofit/>
          </a:bodyPr>
          <a:lstStyle>
            <a:lvl1pPr marL="288004" indent="-288004" algn="l" defTabSz="720000" rtl="0" eaLnBrk="1" latinLnBrk="0" hangingPunct="1">
              <a:lnSpc>
                <a:spcPct val="100000"/>
              </a:lnSpc>
              <a:spcBef>
                <a:spcPts val="1200"/>
              </a:spcBef>
              <a:buClrTx/>
              <a:buSzPct val="90000"/>
              <a:buFont typeface="Arial" panose="020B0604020202020204" pitchFamily="34" charset="0"/>
              <a:buChar char="•"/>
              <a:defRPr sz="2400" b="1" i="0" kern="1200">
                <a:solidFill>
                  <a:schemeClr val="tx1"/>
                </a:solidFill>
                <a:latin typeface="+mn-lt"/>
                <a:ea typeface="Roboto Light" panose="02000000000000000000" pitchFamily="2" charset="0"/>
                <a:cs typeface="Roboto Light" panose="02000000000000000000" pitchFamily="2" charset="0"/>
              </a:defRPr>
            </a:lvl1pPr>
            <a:lvl2pPr marL="504000" indent="-216004" algn="l" defTabSz="720000" rtl="0" eaLnBrk="1" latinLnBrk="0" hangingPunct="1">
              <a:lnSpc>
                <a:spcPct val="100000"/>
              </a:lnSpc>
              <a:spcBef>
                <a:spcPts val="600"/>
              </a:spcBef>
              <a:buClrTx/>
              <a:buSzPct val="90000"/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+mn-lt"/>
                <a:ea typeface="Roboto Light" panose="02000000000000000000" pitchFamily="2" charset="0"/>
                <a:cs typeface="Roboto Light" panose="02000000000000000000" pitchFamily="2" charset="0"/>
              </a:defRPr>
            </a:lvl2pPr>
            <a:lvl3pPr marL="720000" indent="-216004" algn="l" defTabSz="864017" rtl="0" eaLnBrk="1" latinLnBrk="0" hangingPunct="1">
              <a:lnSpc>
                <a:spcPct val="100000"/>
              </a:lnSpc>
              <a:spcBef>
                <a:spcPts val="600"/>
              </a:spcBef>
              <a:buClrTx/>
              <a:buSzPct val="90000"/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Roboto Light" panose="02000000000000000000" pitchFamily="2" charset="0"/>
                <a:cs typeface="Roboto Light" panose="02000000000000000000" pitchFamily="2" charset="0"/>
              </a:defRPr>
            </a:lvl3pPr>
            <a:lvl4pPr marL="936000" indent="-216004" algn="l" defTabSz="864017" rtl="0" eaLnBrk="1" latinLnBrk="0" hangingPunct="1">
              <a:lnSpc>
                <a:spcPct val="100000"/>
              </a:lnSpc>
              <a:spcBef>
                <a:spcPts val="0"/>
              </a:spcBef>
              <a:buClrTx/>
              <a:buSzPct val="90000"/>
              <a:buFont typeface="Arial" panose="020B0604020202020204" pitchFamily="34" charset="0"/>
              <a:buChar char="•"/>
              <a:defRPr sz="1200" b="0" i="0" kern="1200">
                <a:solidFill>
                  <a:schemeClr val="tx1"/>
                </a:solidFill>
                <a:latin typeface="+mn-lt"/>
                <a:ea typeface="Roboto Light" panose="02000000000000000000" pitchFamily="2" charset="0"/>
                <a:cs typeface="Roboto Light" panose="02000000000000000000" pitchFamily="2" charset="0"/>
              </a:defRPr>
            </a:lvl4pPr>
            <a:lvl5pPr marL="1152000" indent="-216004" algn="l" defTabSz="864017" rtl="0" eaLnBrk="1" latinLnBrk="0" hangingPunct="1">
              <a:lnSpc>
                <a:spcPct val="100000"/>
              </a:lnSpc>
              <a:spcBef>
                <a:spcPts val="0"/>
              </a:spcBef>
              <a:buClrTx/>
              <a:buSzPct val="90000"/>
              <a:buFont typeface="Arial" panose="020B0604020202020204" pitchFamily="34" charset="0"/>
              <a:buChar char="•"/>
              <a:defRPr sz="1100" b="0" i="0" kern="1200">
                <a:solidFill>
                  <a:schemeClr val="tx1"/>
                </a:solidFill>
                <a:latin typeface="+mn-lt"/>
                <a:ea typeface="Roboto Light" panose="02000000000000000000" pitchFamily="2" charset="0"/>
                <a:cs typeface="Roboto Light" panose="02000000000000000000" pitchFamily="2" charset="0"/>
              </a:defRPr>
            </a:lvl5pPr>
            <a:lvl6pPr marL="2376046" indent="-216004" algn="l" defTabSz="864017" rtl="0" eaLnBrk="1" latinLnBrk="0" hangingPunct="1">
              <a:lnSpc>
                <a:spcPct val="90000"/>
              </a:lnSpc>
              <a:spcBef>
                <a:spcPts val="472"/>
              </a:spcBef>
              <a:buFont typeface="Arial" panose="020B0604020202020204" pitchFamily="34" charset="0"/>
              <a:buChar char="•"/>
              <a:defRPr sz="17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08054" indent="-216004" algn="l" defTabSz="864017" rtl="0" eaLnBrk="1" latinLnBrk="0" hangingPunct="1">
              <a:lnSpc>
                <a:spcPct val="90000"/>
              </a:lnSpc>
              <a:spcBef>
                <a:spcPts val="472"/>
              </a:spcBef>
              <a:buFont typeface="Arial" panose="020B0604020202020204" pitchFamily="34" charset="0"/>
              <a:buChar char="•"/>
              <a:defRPr sz="17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40062" indent="-216004" algn="l" defTabSz="864017" rtl="0" eaLnBrk="1" latinLnBrk="0" hangingPunct="1">
              <a:lnSpc>
                <a:spcPct val="90000"/>
              </a:lnSpc>
              <a:spcBef>
                <a:spcPts val="472"/>
              </a:spcBef>
              <a:buFont typeface="Arial" panose="020B0604020202020204" pitchFamily="34" charset="0"/>
              <a:buChar char="•"/>
              <a:defRPr sz="17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72070" indent="-216004" algn="l" defTabSz="864017" rtl="0" eaLnBrk="1" latinLnBrk="0" hangingPunct="1">
              <a:lnSpc>
                <a:spcPct val="90000"/>
              </a:lnSpc>
              <a:spcBef>
                <a:spcPts val="472"/>
              </a:spcBef>
              <a:buFont typeface="Arial" panose="020B0604020202020204" pitchFamily="34" charset="0"/>
              <a:buChar char="•"/>
              <a:defRPr sz="17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7655" indent="-287655">
              <a:buFont typeface=""/>
              <a:buChar char="•"/>
            </a:pPr>
            <a:r>
              <a:rPr lang="en-US" dirty="0"/>
              <a:t>Full-sequence attention features large GEMM</a:t>
            </a:r>
          </a:p>
          <a:p>
            <a:pPr marL="0" indent="0">
              <a:buNone/>
            </a:pPr>
            <a:endParaRPr lang="en-US" dirty="0"/>
          </a:p>
          <a:p>
            <a:pPr marL="287655" indent="-287655">
              <a:buFont typeface=""/>
              <a:buChar char="•"/>
            </a:pPr>
            <a:r>
              <a:rPr lang="en-US" dirty="0"/>
              <a:t>We	 query just the new token against K and V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BC7C9A5-6B9A-2B89-F8BF-2CB76B0D99D0}"/>
              </a:ext>
            </a:extLst>
          </p:cNvPr>
          <p:cNvSpPr/>
          <p:nvPr/>
        </p:nvSpPr>
        <p:spPr>
          <a:xfrm>
            <a:off x="322856" y="2879416"/>
            <a:ext cx="3845491" cy="1154881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de-DE" sz="3200" b="1" i="0" cap="none" spc="0">
                <a:ln>
                  <a:noFill/>
                </a:ln>
                <a:solidFill>
                  <a:schemeClr val="bg2"/>
                </a:solidFill>
                <a:effectLst/>
                <a:latin typeface="+mj-lt"/>
                <a:cs typeface="Arial Narrow" panose="020B0604020202020204" pitchFamily="34" charset="0"/>
              </a:rPr>
              <a:t>GEMM –&gt; GEMV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1343BE9-CB7B-D1B7-6CF7-3D806F9546CA}"/>
              </a:ext>
            </a:extLst>
          </p:cNvPr>
          <p:cNvSpPr/>
          <p:nvPr/>
        </p:nvSpPr>
        <p:spPr>
          <a:xfrm>
            <a:off x="4259051" y="4739573"/>
            <a:ext cx="7072114" cy="1250302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de-DE" sz="2800" b="1" dirty="0" err="1">
                <a:solidFill>
                  <a:schemeClr val="bg2"/>
                </a:solidFill>
                <a:latin typeface="+mj-lt"/>
                <a:cs typeface="Arial Narrow" panose="020B0604020202020204" pitchFamily="34" charset="0"/>
              </a:rPr>
              <a:t>Optimize</a:t>
            </a:r>
            <a:r>
              <a:rPr lang="de-DE" sz="2800" b="1" dirty="0">
                <a:solidFill>
                  <a:schemeClr val="bg2"/>
                </a:solidFill>
                <a:latin typeface="+mj-lt"/>
                <a:cs typeface="Arial Narrow" panose="020B0604020202020204" pitchFamily="34" charset="0"/>
              </a:rPr>
              <a:t> Kernel for </a:t>
            </a:r>
            <a:r>
              <a:rPr lang="de-DE" sz="2800" b="1" dirty="0" err="1">
                <a:solidFill>
                  <a:schemeClr val="bg2"/>
                </a:solidFill>
                <a:latin typeface="+mj-lt"/>
                <a:cs typeface="Arial Narrow" panose="020B0604020202020204" pitchFamily="34" charset="0"/>
              </a:rPr>
              <a:t>new</a:t>
            </a:r>
            <a:r>
              <a:rPr lang="de-DE" sz="2800" b="1" dirty="0">
                <a:solidFill>
                  <a:schemeClr val="bg2"/>
                </a:solidFill>
                <a:latin typeface="+mj-lt"/>
                <a:cs typeface="Arial Narrow" panose="020B0604020202020204" pitchFamily="34" charset="0"/>
              </a:rPr>
              <a:t> Regime</a:t>
            </a:r>
            <a:endParaRPr lang="de-DE" sz="2800" b="1" i="0" cap="none" spc="0" dirty="0">
              <a:ln>
                <a:noFill/>
              </a:ln>
              <a:solidFill>
                <a:schemeClr val="bg2"/>
              </a:solidFill>
              <a:effectLst/>
              <a:latin typeface="+mj-lt"/>
              <a:cs typeface="Arial Narrow" panose="020B0604020202020204" pitchFamily="34" charset="0"/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C8A8A2CA-310C-D075-D370-E1E559479B8A}"/>
              </a:ext>
            </a:extLst>
          </p:cNvPr>
          <p:cNvGrpSpPr/>
          <p:nvPr/>
        </p:nvGrpSpPr>
        <p:grpSpPr>
          <a:xfrm>
            <a:off x="476919" y="3564419"/>
            <a:ext cx="3691428" cy="2372875"/>
            <a:chOff x="476919" y="3564419"/>
            <a:chExt cx="3691428" cy="2372875"/>
          </a:xfrm>
        </p:grpSpPr>
        <p:sp>
          <p:nvSpPr>
            <p:cNvPr id="11" name="Right Arrow 10">
              <a:extLst>
                <a:ext uri="{FF2B5EF4-FFF2-40B4-BE49-F238E27FC236}">
                  <a16:creationId xmlns:a16="http://schemas.microsoft.com/office/drawing/2014/main" id="{4862583D-85F0-82DA-7E4A-BDE7003E13A6}"/>
                </a:ext>
              </a:extLst>
            </p:cNvPr>
            <p:cNvSpPr/>
            <p:nvPr/>
          </p:nvSpPr>
          <p:spPr>
            <a:xfrm rot="17677879">
              <a:off x="1980500" y="3993286"/>
              <a:ext cx="1442810" cy="585075"/>
            </a:xfrm>
            <a:prstGeom prst="rightArrow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de-DE" b="1" i="0" cap="none" spc="0">
                <a:ln>
                  <a:noFill/>
                </a:ln>
                <a:solidFill>
                  <a:schemeClr val="bg2"/>
                </a:solidFill>
                <a:effectLst/>
                <a:latin typeface="+mj-lt"/>
                <a:cs typeface="Arial Narrow" panose="020B0604020202020204" pitchFamily="34" charset="0"/>
              </a:endParaRP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D0D53D65-4849-A351-A9F1-F037446D0762}"/>
                </a:ext>
              </a:extLst>
            </p:cNvPr>
            <p:cNvSpPr/>
            <p:nvPr/>
          </p:nvSpPr>
          <p:spPr>
            <a:xfrm>
              <a:off x="476919" y="4551156"/>
              <a:ext cx="3691428" cy="1386138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DE" b="1" dirty="0">
                  <a:solidFill>
                    <a:schemeClr val="tx1"/>
                  </a:solidFill>
                </a:rPr>
                <a:t>Hypothesis:</a:t>
              </a:r>
            </a:p>
            <a:p>
              <a:pPr algn="ctr"/>
              <a:r>
                <a:rPr lang="en-DE" b="1" i="0" cap="none" spc="0" dirty="0">
                  <a:ln>
                    <a:noFill/>
                  </a:ln>
                  <a:solidFill>
                    <a:schemeClr val="tx1"/>
                  </a:solidFill>
                  <a:effectLst/>
                  <a:latin typeface="+mj-lt"/>
                  <a:cs typeface="Arial Narrow" panose="020B0604020202020204" pitchFamily="34" charset="0"/>
                </a:rPr>
                <a:t>After optimizations</a:t>
              </a:r>
              <a:r>
                <a:rPr lang="en-DE" b="1" dirty="0">
                  <a:solidFill>
                    <a:schemeClr val="tx1"/>
                  </a:solidFill>
                  <a:latin typeface="+mj-lt"/>
                  <a:cs typeface="Arial Narrow" panose="020B0604020202020204" pitchFamily="34" charset="0"/>
                </a:rPr>
                <a:t>, we will be </a:t>
              </a:r>
              <a:r>
                <a:rPr lang="en-GB" b="1" dirty="0">
                  <a:solidFill>
                    <a:schemeClr val="tx1"/>
                  </a:solidFill>
                  <a:latin typeface="+mj-lt"/>
                  <a:cs typeface="Arial Narrow" panose="020B0604020202020204" pitchFamily="34" charset="0"/>
                </a:rPr>
                <a:t>memory-bound</a:t>
              </a:r>
              <a:endParaRPr lang="de-DE" b="1" i="0" cap="none" spc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cs typeface="Arial Narrow" panose="020B0604020202020204" pitchFamily="34" charset="0"/>
              </a:endParaRPr>
            </a:p>
          </p:txBody>
        </p:sp>
      </p:grpSp>
      <p:sp>
        <p:nvSpPr>
          <p:cNvPr id="6" name="Rectangle 5">
            <a:extLst>
              <a:ext uri="{FF2B5EF4-FFF2-40B4-BE49-F238E27FC236}">
                <a16:creationId xmlns:a16="http://schemas.microsoft.com/office/drawing/2014/main" id="{CAC3F115-D6C0-1842-CBEF-3873E2A9BACC}"/>
              </a:ext>
            </a:extLst>
          </p:cNvPr>
          <p:cNvSpPr/>
          <p:nvPr/>
        </p:nvSpPr>
        <p:spPr>
          <a:xfrm>
            <a:off x="322856" y="875441"/>
            <a:ext cx="6151834" cy="1352811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de-DE" sz="3200" b="1" i="0" cap="none" spc="0">
                <a:ln>
                  <a:noFill/>
                </a:ln>
                <a:solidFill>
                  <a:schemeClr val="bg2"/>
                </a:solidFill>
                <a:effectLst/>
                <a:latin typeface="+mj-lt"/>
                <a:cs typeface="Arial Narrow" panose="020B0604020202020204" pitchFamily="34" charset="0"/>
              </a:rPr>
              <a:t>Autoregressive </a:t>
            </a:r>
            <a:r>
              <a:rPr lang="de-DE" sz="3200" b="1" i="0" cap="none" spc="0" err="1">
                <a:ln>
                  <a:noFill/>
                </a:ln>
                <a:solidFill>
                  <a:schemeClr val="bg2"/>
                </a:solidFill>
                <a:effectLst/>
                <a:latin typeface="+mj-lt"/>
                <a:cs typeface="Arial Narrow" panose="020B0604020202020204" pitchFamily="34" charset="0"/>
              </a:rPr>
              <a:t>Inference</a:t>
            </a:r>
            <a:endParaRPr lang="de-DE" sz="3200" b="1" i="0" cap="none" spc="0">
              <a:ln>
                <a:noFill/>
              </a:ln>
              <a:solidFill>
                <a:schemeClr val="bg2"/>
              </a:solidFill>
              <a:effectLst/>
              <a:latin typeface="+mj-lt"/>
              <a:cs typeface="Arial Narrow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D3E02EAF-D3EC-DA45-7F7E-69587B7C662A}"/>
                  </a:ext>
                </a:extLst>
              </p:cNvPr>
              <p:cNvSpPr/>
              <p:nvPr/>
            </p:nvSpPr>
            <p:spPr>
              <a:xfrm>
                <a:off x="5430446" y="627632"/>
                <a:ext cx="5479976" cy="1904187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 w="76200">
                <a:solidFill>
                  <a:schemeClr val="accent4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de-DE" sz="2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Arial Narrow" panose="020B0604020202020204" pitchFamily="34" charset="0"/>
                        </a:rPr>
                        <m:t>𝑮𝑬𝑴𝑴</m:t>
                      </m:r>
                      <m:r>
                        <a:rPr lang="de-DE" sz="2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Arial Narrow" panose="020B0604020202020204" pitchFamily="34" charset="0"/>
                        </a:rPr>
                        <m:t>:  </m:t>
                      </m:r>
                      <m:r>
                        <a:rPr lang="de-DE" sz="2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Arial Narrow" panose="020B0604020202020204" pitchFamily="34" charset="0"/>
                        </a:rPr>
                        <m:t>𝑨𝑰</m:t>
                      </m:r>
                      <m:r>
                        <a:rPr lang="de-DE" sz="2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Arial Narrow" panose="020B0604020202020204" pitchFamily="34" charset="0"/>
                        </a:rPr>
                        <m:t> ∝</m:t>
                      </m:r>
                      <m:r>
                        <a:rPr lang="de-DE" sz="2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 Narrow" panose="020B0604020202020204" pitchFamily="34" charset="0"/>
                        </a:rPr>
                        <m:t>𝑵</m:t>
                      </m:r>
                    </m:oMath>
                  </m:oMathPara>
                </a14:m>
                <a:endParaRPr lang="de-DE" sz="2800" b="1" i="0" cap="none" spc="0" dirty="0">
                  <a:ln>
                    <a:noFill/>
                  </a:ln>
                  <a:solidFill>
                    <a:schemeClr val="tx1"/>
                  </a:solidFill>
                  <a:effectLst/>
                  <a:latin typeface="+mj-lt"/>
                  <a:cs typeface="Arial Narrow" panose="020B0604020202020204" pitchFamily="34" charset="0"/>
                </a:endParaRPr>
              </a:p>
              <a:p>
                <a:pPr algn="ctr"/>
                <a14:m>
                  <m:oMathPara xmlns:m="http://schemas.openxmlformats.org/officeDocument/2006/math">
                    <m:oMath>
                      <m:r>
                        <a:rPr lang="de-DE" sz="28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Arial Narrow" panose="020B0604020202020204" pitchFamily="34" charset="0"/>
                        </a:rPr>
                        <m:t>𝑮𝑬𝑴𝑽</m:t>
                      </m:r>
                      <m:r>
                        <a:rPr lang="de-DE" sz="28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Arial Narrow" panose="020B0604020202020204" pitchFamily="34" charset="0"/>
                        </a:rPr>
                        <m:t>:  </m:t>
                      </m:r>
                      <m:r>
                        <a:rPr lang="de-DE" sz="28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Arial Narrow" panose="020B0604020202020204" pitchFamily="34" charset="0"/>
                        </a:rPr>
                        <m:t>𝑨𝑰</m:t>
                      </m:r>
                      <m:r>
                        <a:rPr lang="de-DE" sz="28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Arial Narrow" panose="020B0604020202020204" pitchFamily="34" charset="0"/>
                        </a:rPr>
                        <m:t> ≈</m:t>
                      </m:r>
                      <m:r>
                        <a:rPr lang="de-DE" sz="2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Arial Narrow" panose="020B0604020202020204" pitchFamily="34" charset="0"/>
                        </a:rPr>
                        <m:t>𝟎</m:t>
                      </m:r>
                      <m:r>
                        <a:rPr lang="de-DE" sz="2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Arial Narrow" panose="020B0604020202020204" pitchFamily="34" charset="0"/>
                        </a:rPr>
                        <m:t>.</m:t>
                      </m:r>
                      <m:r>
                        <a:rPr lang="de-DE" sz="2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Arial Narrow" panose="020B0604020202020204" pitchFamily="34" charset="0"/>
                        </a:rPr>
                        <m:t>𝟓</m:t>
                      </m:r>
                      <m:f>
                        <m:fPr>
                          <m:ctrlPr>
                            <a:rPr lang="de-DE" sz="28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 Narrow" panose="020B0604020202020204" pitchFamily="34" charset="0"/>
                            </a:rPr>
                          </m:ctrlPr>
                        </m:fPr>
                        <m:num>
                          <m:r>
                            <a:rPr lang="de-DE" sz="28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 Narrow" panose="020B0604020202020204" pitchFamily="34" charset="0"/>
                            </a:rPr>
                            <m:t>𝑭𝑳𝑶𝑷</m:t>
                          </m:r>
                        </m:num>
                        <m:den>
                          <m:r>
                            <a:rPr lang="de-DE" sz="28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 Narrow" panose="020B0604020202020204" pitchFamily="34" charset="0"/>
                            </a:rPr>
                            <m:t> </m:t>
                          </m:r>
                          <m:r>
                            <a:rPr lang="de-DE" sz="28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 Narrow" panose="020B0604020202020204" pitchFamily="34" charset="0"/>
                            </a:rPr>
                            <m:t>𝑩𝒚𝒕𝒆</m:t>
                          </m:r>
                        </m:den>
                      </m:f>
                    </m:oMath>
                  </m:oMathPara>
                </a14:m>
                <a:endParaRPr lang="de-DE" sz="2800" b="1" i="0" cap="none" spc="0" dirty="0">
                  <a:ln>
                    <a:noFill/>
                  </a:ln>
                  <a:solidFill>
                    <a:schemeClr val="tx1"/>
                  </a:solidFill>
                  <a:effectLst/>
                  <a:latin typeface="+mj-lt"/>
                  <a:cs typeface="Arial Narrow" panose="020B0604020202020204" pitchFamily="34" charset="0"/>
                </a:endParaRPr>
              </a:p>
            </p:txBody>
          </p:sp>
        </mc:Choice>
        <mc:Fallback xmlns="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D3E02EAF-D3EC-DA45-7F7E-69587B7C662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30446" y="627632"/>
                <a:ext cx="5479976" cy="190418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76200">
                <a:solidFill>
                  <a:schemeClr val="accent4"/>
                </a:solidFill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12426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6" grpId="0" animBg="1"/>
      <p:bldP spid="13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75C3A8-568C-21D3-2437-BA12FADD37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b="1"/>
              <a:t>Why autoregressive decoding changes attention</a:t>
            </a:r>
            <a:endParaRPr lang="de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656C0B-7225-B291-8C5E-E23A6DFD7D35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lvl="0" fontAlgn="base"/>
            <a:r>
              <a:rPr lang="en-DE"/>
              <a:t>GEMMs collapse to GEMVs</a:t>
            </a:r>
          </a:p>
          <a:p>
            <a:pPr lvl="1" fontAlgn="base"/>
            <a:r>
              <a:rPr lang="en-DE" b="1"/>
              <a:t>GEMM: </a:t>
            </a:r>
            <a:r>
              <a:rPr lang="en-DE"/>
              <a:t>1/6*N FLOP/Byte</a:t>
            </a:r>
          </a:p>
          <a:p>
            <a:pPr marL="503455" lvl="1" indent="-215900"/>
            <a:r>
              <a:rPr lang="en-US" b="1">
                <a:ea typeface="Calibri"/>
                <a:cs typeface="Calibri"/>
              </a:rPr>
              <a:t>GEMV</a:t>
            </a:r>
            <a:r>
              <a:rPr lang="en-US">
                <a:ea typeface="Calibri"/>
                <a:cs typeface="Calibri"/>
              </a:rPr>
              <a:t>: (1*8Byte)/2FLOP = 4 Byte/FLOP*</a:t>
            </a:r>
          </a:p>
          <a:p>
            <a:pPr lvl="1" fontAlgn="base"/>
            <a:r>
              <a:rPr lang="en-DE"/>
              <a:t>Low arithmetic intensity shifts the bottleneck toward </a:t>
            </a:r>
            <a:r>
              <a:rPr lang="en-DE" b="1"/>
              <a:t>memory/NoC bandwidth</a:t>
            </a:r>
          </a:p>
          <a:p>
            <a:pPr marL="287996" lvl="1" indent="0" fontAlgn="base">
              <a:buNone/>
            </a:pPr>
            <a:endParaRPr lang="en-DE" b="1"/>
          </a:p>
          <a:p>
            <a:pPr fontAlgn="base"/>
            <a:r>
              <a:rPr lang="en-DE"/>
              <a:t>Goal: optimize FlashAttention for this regime and test wider NoC links</a:t>
            </a:r>
          </a:p>
          <a:p>
            <a:pPr fontAlgn="base"/>
            <a:endParaRPr lang="en-DE" b="1"/>
          </a:p>
          <a:p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8D1CC5-CE02-F320-675E-A144244829A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de-DE"/>
              <a:t>SoC DaML Mini Project Presentation Lars Kröger, 20.08.2026</a:t>
            </a: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A865912-057A-81F4-EE88-E26130F644EB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33867F2A-E750-44E7-A740-D3E09DF683AD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77BC0E0-472F-370D-8E5E-A58820BA8B2E}"/>
              </a:ext>
            </a:extLst>
          </p:cNvPr>
          <p:cNvSpPr txBox="1"/>
          <p:nvPr/>
        </p:nvSpPr>
        <p:spPr>
          <a:xfrm>
            <a:off x="399276" y="5708466"/>
            <a:ext cx="5112176" cy="38830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 defTabSz="720000"/>
            <a:r>
              <a:rPr lang="de-DE" b="0" i="0">
                <a:latin typeface="+mn-lt"/>
                <a:cs typeface="Arial Narrow" panose="020B0604020202020204" pitchFamily="34" charset="0"/>
              </a:rPr>
              <a:t>* For Large Matrices</a:t>
            </a:r>
          </a:p>
        </p:txBody>
      </p:sp>
    </p:spTree>
    <p:extLst>
      <p:ext uri="{BB962C8B-B14F-4D97-AF65-F5344CB8AC3E}">
        <p14:creationId xmlns:p14="http://schemas.microsoft.com/office/powerpoint/2010/main" val="2489285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CDF470-522B-67DE-3D66-EB36FCB068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CB7E26-9376-CC93-D988-E6E480ED84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Roboto"/>
                <a:cs typeface="Roboto"/>
              </a:rPr>
              <a:t>FlashAttention-2</a:t>
            </a:r>
            <a:endParaRPr lang="en-US" noProof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26A1FE4-247E-13D1-AA05-7F3DF7A8095B}"/>
                  </a:ext>
                </a:extLst>
              </p:cNvPr>
              <p:cNvSpPr>
                <a:spLocks noGrp="1"/>
              </p:cNvSpPr>
              <p:nvPr>
                <p:ph sz="quarter" idx="13"/>
              </p:nvPr>
            </p:nvSpPr>
            <p:spPr>
              <a:xfrm>
                <a:off x="299069" y="936000"/>
                <a:ext cx="6270012" cy="4309100"/>
              </a:xfrm>
            </p:spPr>
            <p:txBody>
              <a:bodyPr vert="horz" lIns="0" tIns="46800" rIns="0" bIns="45720" rtlCol="0" anchor="t">
                <a:noAutofit/>
              </a:bodyPr>
              <a:lstStyle/>
              <a:p>
                <a:endParaRPr lang="en-US" b="0" noProof="0" dirty="0"/>
              </a:p>
              <a:p>
                <a:r>
                  <a:rPr lang="en-DE" dirty="0"/>
                  <a:t>FlashAttention</a:t>
                </a:r>
                <a:r>
                  <a:rPr lang="en-DE" b="0" dirty="0"/>
                  <a:t> avoids materializing the </a:t>
                </a:r>
                <a:r>
                  <a:rPr lang="en-DE" dirty="0"/>
                  <a:t>full attention matrix</a:t>
                </a:r>
              </a:p>
              <a:p>
                <a:pPr lvl="1"/>
                <a:r>
                  <a:rPr lang="en-DE" dirty="0"/>
                  <a:t>Tile Q into </a:t>
                </a:r>
                <a:r>
                  <a:rPr lang="en-DE" i="1" dirty="0"/>
                  <a:t>B</a:t>
                </a:r>
                <a:r>
                  <a:rPr lang="en-DE" i="1" baseline="-25000" dirty="0"/>
                  <a:t>r</a:t>
                </a:r>
                <a:r>
                  <a:rPr lang="en-DE" dirty="0"/>
                  <a:t> rows and K, V into </a:t>
                </a:r>
                <a:r>
                  <a:rPr lang="en-DE" i="1" dirty="0"/>
                  <a:t>B</a:t>
                </a:r>
                <a:r>
                  <a:rPr lang="en-DE" i="1" baseline="-25000" dirty="0"/>
                  <a:t>C</a:t>
                </a:r>
                <a:r>
                  <a:rPr lang="en-DE" dirty="0"/>
                  <a:t> rows</a:t>
                </a:r>
              </a:p>
              <a:p>
                <a:pPr lvl="1"/>
                <a:r>
                  <a:rPr lang="en-DE" dirty="0"/>
                  <a:t>Compute attention one </a:t>
                </a:r>
                <a14:m>
                  <m:oMath xmlns:m="http://schemas.openxmlformats.org/officeDocument/2006/math">
                    <m:r>
                      <a:rPr lang="de-DE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de-DE" b="0" i="1" baseline="-25000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de-DE" b="0" i="1" smtClean="0">
                        <a:latin typeface="Cambria Math" panose="02040503050406030204" pitchFamily="18" charset="0"/>
                      </a:rPr>
                      <m:t>∗</m:t>
                    </m:r>
                    <m:r>
                      <a:rPr lang="de-DE" b="0" i="1" smtClean="0">
                        <a:latin typeface="Cambria Math" panose="02040503050406030204" pitchFamily="18" charset="0"/>
                      </a:rPr>
                      <m:t>𝐵𝑐</m:t>
                    </m:r>
                  </m:oMath>
                </a14:m>
                <a:r>
                  <a:rPr lang="en-DE" dirty="0"/>
                  <a:t> tile at a time</a:t>
                </a:r>
                <a:endParaRPr lang="en-US" b="0" dirty="0"/>
              </a:p>
              <a:p>
                <a:pPr marL="287559" indent="-215900"/>
                <a:r>
                  <a:rPr lang="en-US" dirty="0"/>
                  <a:t>Online state </a:t>
                </a:r>
                <a:r>
                  <a:rPr lang="en-US" b="0" dirty="0"/>
                  <a:t>preserves exact </a:t>
                </a:r>
                <a:r>
                  <a:rPr lang="en-US" dirty="0" err="1"/>
                  <a:t>Softmax</a:t>
                </a:r>
                <a:r>
                  <a:rPr lang="en-US" b="0" dirty="0"/>
                  <a:t> across tiles</a:t>
                </a:r>
                <a:endParaRPr lang="en-US" dirty="0"/>
              </a:p>
              <a:p>
                <a:pPr marL="503555" lvl="1" indent="-215900"/>
                <a:endParaRPr lang="en-US" dirty="0"/>
              </a:p>
              <a:p>
                <a:pPr marL="503555" lvl="1" indent="-215900"/>
                <a:endParaRPr lang="en-US" dirty="0"/>
              </a:p>
              <a:p>
                <a:pPr marL="287559" indent="-215900"/>
                <a:endParaRPr lang="en-US" dirty="0"/>
              </a:p>
              <a:p>
                <a:pPr marL="503555" lvl="1" indent="-215900"/>
                <a:endParaRPr lang="en-US" noProof="0" dirty="0"/>
              </a:p>
              <a:p>
                <a:pPr lvl="1"/>
                <a:endParaRPr lang="en-US" noProof="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26A1FE4-247E-13D1-AA05-7F3DF7A8095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3"/>
              </p:nvPr>
            </p:nvSpPr>
            <p:spPr>
              <a:xfrm>
                <a:off x="299069" y="936000"/>
                <a:ext cx="6270012" cy="4309100"/>
              </a:xfrm>
              <a:blipFill>
                <a:blip r:embed="rId3"/>
                <a:stretch>
                  <a:fillRect l="-25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789FA8-C4B0-8FC9-A4AA-0AE9CA05B0B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de-DE" dirty="0"/>
              <a:t>SoC </a:t>
            </a:r>
            <a:r>
              <a:rPr lang="de-DE" dirty="0" err="1"/>
              <a:t>DaML</a:t>
            </a:r>
            <a:r>
              <a:rPr lang="de-DE" dirty="0"/>
              <a:t> Mini Project </a:t>
            </a:r>
            <a:r>
              <a:rPr lang="de-DE" dirty="0" err="1"/>
              <a:t>Presentation</a:t>
            </a:r>
            <a:r>
              <a:rPr lang="de-DE" dirty="0"/>
              <a:t> Lars Kröger, 20.08.2026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3FFDA32-E51F-DEBA-E755-BC6DA654F8A2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33867F2A-E750-44E7-A740-D3E09DF683AD}" type="slidenum">
              <a:rPr lang="en-US" smtClean="0"/>
              <a:pPr/>
              <a:t>6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C1608EE-7600-BC6F-0DAD-476CEC13F76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69081" y="1349974"/>
            <a:ext cx="4613068" cy="3784166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6E86BDE8-4BF4-6B96-A8AB-EF82B54DDF02}"/>
              </a:ext>
            </a:extLst>
          </p:cNvPr>
          <p:cNvGrpSpPr/>
          <p:nvPr/>
        </p:nvGrpSpPr>
        <p:grpSpPr>
          <a:xfrm>
            <a:off x="338339" y="852648"/>
            <a:ext cx="8968712" cy="2873967"/>
            <a:chOff x="338339" y="852648"/>
            <a:chExt cx="8968712" cy="2873967"/>
          </a:xfrm>
        </p:grpSpPr>
        <p:sp>
          <p:nvSpPr>
            <p:cNvPr id="8" name="Left Arrow 7">
              <a:extLst>
                <a:ext uri="{FF2B5EF4-FFF2-40B4-BE49-F238E27FC236}">
                  <a16:creationId xmlns:a16="http://schemas.microsoft.com/office/drawing/2014/main" id="{58206E30-8E67-6579-08FB-18DA8A74479C}"/>
                </a:ext>
              </a:extLst>
            </p:cNvPr>
            <p:cNvSpPr/>
            <p:nvPr/>
          </p:nvSpPr>
          <p:spPr>
            <a:xfrm rot="10367713">
              <a:off x="4108567" y="2134867"/>
              <a:ext cx="4710582" cy="599440"/>
            </a:xfrm>
            <a:prstGeom prst="leftArrow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de-DE" b="1" i="0" cap="none" spc="0">
                <a:ln>
                  <a:noFill/>
                </a:ln>
                <a:solidFill>
                  <a:schemeClr val="bg2"/>
                </a:solidFill>
                <a:effectLst/>
                <a:latin typeface="+mj-lt"/>
                <a:cs typeface="Arial Narrow" panose="020B0604020202020204" pitchFamily="34" charset="0"/>
              </a:endParaRPr>
            </a:p>
          </p:txBody>
        </p:sp>
        <p:sp>
          <p:nvSpPr>
            <p:cNvPr id="10" name="Left Arrow 9">
              <a:extLst>
                <a:ext uri="{FF2B5EF4-FFF2-40B4-BE49-F238E27FC236}">
                  <a16:creationId xmlns:a16="http://schemas.microsoft.com/office/drawing/2014/main" id="{673669FB-0DC9-6393-3008-5EF35E41E8F1}"/>
                </a:ext>
              </a:extLst>
            </p:cNvPr>
            <p:cNvSpPr/>
            <p:nvPr/>
          </p:nvSpPr>
          <p:spPr>
            <a:xfrm rot="11717557">
              <a:off x="3963996" y="3127175"/>
              <a:ext cx="5343055" cy="599440"/>
            </a:xfrm>
            <a:prstGeom prst="leftArrow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de-DE" b="1" i="0" cap="none" spc="0">
                <a:ln>
                  <a:noFill/>
                </a:ln>
                <a:solidFill>
                  <a:schemeClr val="bg2"/>
                </a:solidFill>
                <a:effectLst/>
                <a:latin typeface="+mj-lt"/>
                <a:cs typeface="Arial Narrow" panose="020B0604020202020204" pitchFamily="34" charset="0"/>
              </a:endParaRP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DDCA9998-4D4E-67CC-1EB9-0EFB94D89EF0}"/>
                </a:ext>
              </a:extLst>
            </p:cNvPr>
            <p:cNvSpPr/>
            <p:nvPr/>
          </p:nvSpPr>
          <p:spPr>
            <a:xfrm>
              <a:off x="338339" y="852648"/>
              <a:ext cx="6270012" cy="204359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 w="76200">
              <a:solidFill>
                <a:schemeClr val="accent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DE" sz="2400" b="1" dirty="0">
                  <a:solidFill>
                    <a:schemeClr val="tx1"/>
                  </a:solidFill>
                </a:rPr>
                <a:t>Existing kernel: B</a:t>
              </a:r>
              <a:r>
                <a:rPr lang="en-DE" sz="2400" b="1" baseline="-25000" dirty="0">
                  <a:solidFill>
                    <a:schemeClr val="tx1"/>
                  </a:solidFill>
                </a:rPr>
                <a:t>r</a:t>
              </a:r>
              <a:r>
                <a:rPr lang="en-DE" sz="2400" b="1" dirty="0">
                  <a:solidFill>
                    <a:schemeClr val="tx1"/>
                  </a:solidFill>
                </a:rPr>
                <a:t>&gt;1 → GEMMs</a:t>
              </a:r>
              <a:br>
                <a:rPr lang="en-DE" sz="2400" b="1" dirty="0">
                  <a:solidFill>
                    <a:schemeClr val="tx1"/>
                  </a:solidFill>
                </a:rPr>
              </a:br>
              <a:r>
                <a:rPr lang="en-DE" sz="2400" b="1" dirty="0">
                  <a:solidFill>
                    <a:schemeClr val="tx1"/>
                  </a:solidFill>
                </a:rPr>
                <a:t>Decode: B</a:t>
              </a:r>
              <a:r>
                <a:rPr lang="en-DE" sz="2400" b="1" baseline="-25000" dirty="0">
                  <a:solidFill>
                    <a:schemeClr val="tx1"/>
                  </a:solidFill>
                </a:rPr>
                <a:t>r</a:t>
              </a:r>
              <a:r>
                <a:rPr lang="en-DE" sz="2400" b="1" dirty="0">
                  <a:solidFill>
                    <a:schemeClr val="tx1"/>
                  </a:solidFill>
                </a:rPr>
                <a:t>=1 → two GEMVs + vector Softmax</a:t>
              </a:r>
              <a:endParaRPr lang="de-DE" b="1" i="0" cap="none" spc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cs typeface="Arial Narrow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821104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157E2C-8685-7FA2-663F-8CA8E0355E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Optimization 1 — </a:t>
            </a:r>
            <a:r>
              <a:rPr lang="en-DE" i="1" dirty="0"/>
              <a:t>K*q</a:t>
            </a:r>
            <a:r>
              <a:rPr lang="en-DE" dirty="0"/>
              <a:t>: Decode-specialized GEMV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254D13-56C5-45D2-69EA-3C703D6A289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99068" y="936000"/>
            <a:ext cx="5813633" cy="5220000"/>
          </a:xfrm>
        </p:spPr>
        <p:txBody>
          <a:bodyPr vert="horz" lIns="0" tIns="46800" rIns="0" bIns="45720" rtlCol="0" anchor="t">
            <a:noAutofit/>
          </a:bodyPr>
          <a:lstStyle/>
          <a:p>
            <a:pPr marL="287655" indent="-287655"/>
            <a:r>
              <a:rPr lang="de-DE" sz="2000" i="1" dirty="0" err="1">
                <a:ea typeface="+mn-lt"/>
                <a:cs typeface="+mn-lt"/>
              </a:rPr>
              <a:t>Kq</a:t>
            </a:r>
            <a:r>
              <a:rPr lang="de-DE" sz="2000" dirty="0">
                <a:ea typeface="+mn-lt"/>
                <a:cs typeface="+mn-lt"/>
              </a:rPr>
              <a:t>: </a:t>
            </a:r>
            <a:r>
              <a:rPr lang="de-DE" sz="2000" dirty="0" err="1">
                <a:ea typeface="+mn-lt"/>
                <a:cs typeface="+mn-lt"/>
              </a:rPr>
              <a:t>parallelize</a:t>
            </a:r>
            <a:r>
              <a:rPr lang="de-DE" sz="2000" dirty="0">
                <a:ea typeface="+mn-lt"/>
                <a:cs typeface="+mn-lt"/>
              </a:rPr>
              <a:t> </a:t>
            </a:r>
            <a:r>
              <a:rPr lang="de-DE" sz="2000" dirty="0" err="1">
                <a:ea typeface="+mn-lt"/>
                <a:cs typeface="+mn-lt"/>
              </a:rPr>
              <a:t>across</a:t>
            </a:r>
            <a:r>
              <a:rPr lang="de-DE" sz="2000" dirty="0">
                <a:ea typeface="+mn-lt"/>
                <a:cs typeface="+mn-lt"/>
              </a:rPr>
              <a:t> K </a:t>
            </a:r>
            <a:r>
              <a:rPr lang="de-DE" sz="2000" dirty="0" err="1">
                <a:ea typeface="+mn-lt"/>
                <a:cs typeface="+mn-lt"/>
              </a:rPr>
              <a:t>rows</a:t>
            </a:r>
            <a:r>
              <a:rPr lang="de-DE" sz="2000" b="0" dirty="0">
                <a:ea typeface="+mn-lt"/>
                <a:cs typeface="+mn-lt"/>
              </a:rPr>
              <a:t> </a:t>
            </a:r>
            <a:endParaRPr lang="en-US" sz="2000" b="0" dirty="0">
              <a:ea typeface="+mn-lt"/>
              <a:cs typeface="+mn-lt"/>
            </a:endParaRPr>
          </a:p>
          <a:p>
            <a:pPr marL="503651" lvl="1" indent="-287655"/>
            <a:r>
              <a:rPr lang="de-DE" sz="1600" b="0" dirty="0" err="1">
                <a:ea typeface="+mn-lt"/>
                <a:cs typeface="+mn-lt"/>
              </a:rPr>
              <a:t>Unroll</a:t>
            </a:r>
            <a:r>
              <a:rPr lang="de-DE" sz="1600" b="0" dirty="0">
                <a:ea typeface="+mn-lt"/>
                <a:cs typeface="+mn-lt"/>
              </a:rPr>
              <a:t> the </a:t>
            </a:r>
            <a:r>
              <a:rPr lang="de-DE" sz="1600" b="0" dirty="0" err="1">
                <a:ea typeface="+mn-lt"/>
                <a:cs typeface="+mn-lt"/>
              </a:rPr>
              <a:t>dot</a:t>
            </a:r>
            <a:r>
              <a:rPr lang="de-DE" sz="1600" b="0" dirty="0">
                <a:ea typeface="+mn-lt"/>
                <a:cs typeface="+mn-lt"/>
              </a:rPr>
              <a:t> </a:t>
            </a:r>
            <a:r>
              <a:rPr lang="de-DE" sz="1600" b="0" dirty="0" err="1">
                <a:ea typeface="+mn-lt"/>
                <a:cs typeface="+mn-lt"/>
              </a:rPr>
              <a:t>product</a:t>
            </a:r>
            <a:r>
              <a:rPr lang="de-DE" sz="1600" b="0" dirty="0">
                <a:ea typeface="+mn-lt"/>
                <a:cs typeface="+mn-lt"/>
              </a:rPr>
              <a:t> </a:t>
            </a:r>
            <a:r>
              <a:rPr lang="de-DE" sz="1600" b="0" dirty="0" err="1">
                <a:ea typeface="+mn-lt"/>
                <a:cs typeface="+mn-lt"/>
              </a:rPr>
              <a:t>over</a:t>
            </a:r>
            <a:r>
              <a:rPr lang="de-DE" sz="1600" b="0" dirty="0">
                <a:ea typeface="+mn-lt"/>
                <a:cs typeface="+mn-lt"/>
              </a:rPr>
              <a:t> d </a:t>
            </a:r>
            <a:r>
              <a:rPr lang="de-DE" sz="1600" b="0" dirty="0" err="1">
                <a:ea typeface="+mn-lt"/>
                <a:cs typeface="+mn-lt"/>
              </a:rPr>
              <a:t>with</a:t>
            </a:r>
            <a:r>
              <a:rPr lang="de-DE" sz="1600" b="0" dirty="0">
                <a:ea typeface="+mn-lt"/>
                <a:cs typeface="+mn-lt"/>
              </a:rPr>
              <a:t> </a:t>
            </a:r>
            <a:r>
              <a:rPr lang="de-DE" sz="1600" b="0" dirty="0" err="1">
                <a:ea typeface="+mn-lt"/>
                <a:cs typeface="+mn-lt"/>
              </a:rPr>
              <a:t>independent</a:t>
            </a:r>
            <a:r>
              <a:rPr lang="de-DE" sz="1600" b="0" dirty="0">
                <a:ea typeface="+mn-lt"/>
                <a:cs typeface="+mn-lt"/>
              </a:rPr>
              <a:t> </a:t>
            </a:r>
            <a:r>
              <a:rPr lang="de-DE" sz="1600" b="0" dirty="0" err="1">
                <a:ea typeface="+mn-lt"/>
                <a:cs typeface="+mn-lt"/>
              </a:rPr>
              <a:t>accumulators</a:t>
            </a:r>
            <a:r>
              <a:rPr lang="de-DE" sz="1600" b="0" dirty="0">
                <a:ea typeface="+mn-lt"/>
                <a:cs typeface="+mn-lt"/>
              </a:rPr>
              <a:t> </a:t>
            </a:r>
            <a:endParaRPr lang="de-DE" b="0" dirty="0">
              <a:ea typeface="+mn-lt"/>
              <a:cs typeface="+mn-lt"/>
            </a:endParaRPr>
          </a:p>
          <a:p>
            <a:pPr marL="503651" lvl="1" indent="-287655"/>
            <a:r>
              <a:rPr lang="de-DE" sz="1600" dirty="0">
                <a:ea typeface="+mn-lt"/>
                <a:cs typeface="+mn-lt"/>
              </a:rPr>
              <a:t>Fuse the </a:t>
            </a:r>
            <a:r>
              <a:rPr lang="de-DE" sz="1600" dirty="0" err="1">
                <a:ea typeface="+mn-lt"/>
                <a:cs typeface="+mn-lt"/>
              </a:rPr>
              <a:t>local</a:t>
            </a:r>
            <a:r>
              <a:rPr lang="de-DE" sz="1600" dirty="0">
                <a:ea typeface="+mn-lt"/>
                <a:cs typeface="+mn-lt"/>
              </a:rPr>
              <a:t> maximum </a:t>
            </a:r>
            <a:r>
              <a:rPr lang="de-DE" sz="1600" dirty="0" err="1">
                <a:ea typeface="+mn-lt"/>
                <a:cs typeface="+mn-lt"/>
              </a:rPr>
              <a:t>into</a:t>
            </a:r>
            <a:r>
              <a:rPr lang="de-DE" sz="1600" dirty="0">
                <a:ea typeface="+mn-lt"/>
                <a:cs typeface="+mn-lt"/>
              </a:rPr>
              <a:t> the GEMV </a:t>
            </a:r>
            <a:endParaRPr lang="de-DE" dirty="0"/>
          </a:p>
          <a:p>
            <a:pPr marL="287655" indent="-287655"/>
            <a:r>
              <a:rPr lang="de-DE" sz="2000" i="1" dirty="0" err="1">
                <a:ea typeface="+mn-lt"/>
                <a:cs typeface="+mn-lt"/>
              </a:rPr>
              <a:t>p</a:t>
            </a:r>
            <a:r>
              <a:rPr lang="de-DE" sz="2000" i="1" baseline="30000" dirty="0" err="1">
                <a:ea typeface="+mn-lt"/>
                <a:cs typeface="+mn-lt"/>
              </a:rPr>
              <a:t>T</a:t>
            </a:r>
            <a:r>
              <a:rPr lang="de-DE" sz="2000" i="1" dirty="0" err="1">
                <a:ea typeface="+mn-lt"/>
                <a:cs typeface="+mn-lt"/>
              </a:rPr>
              <a:t>V</a:t>
            </a:r>
            <a:r>
              <a:rPr lang="de-DE" sz="2000" dirty="0">
                <a:ea typeface="+mn-lt"/>
                <a:cs typeface="+mn-lt"/>
              </a:rPr>
              <a:t>: </a:t>
            </a:r>
            <a:r>
              <a:rPr lang="de-DE" sz="2000" dirty="0" err="1">
                <a:ea typeface="+mn-lt"/>
                <a:cs typeface="+mn-lt"/>
              </a:rPr>
              <a:t>parallelize</a:t>
            </a:r>
            <a:r>
              <a:rPr lang="de-DE" sz="2000" dirty="0">
                <a:ea typeface="+mn-lt"/>
                <a:cs typeface="+mn-lt"/>
              </a:rPr>
              <a:t> </a:t>
            </a:r>
            <a:r>
              <a:rPr lang="de-DE" sz="2000" dirty="0" err="1">
                <a:ea typeface="+mn-lt"/>
                <a:cs typeface="+mn-lt"/>
              </a:rPr>
              <a:t>across</a:t>
            </a:r>
            <a:r>
              <a:rPr lang="de-DE" sz="2000" dirty="0">
                <a:ea typeface="+mn-lt"/>
                <a:cs typeface="+mn-lt"/>
              </a:rPr>
              <a:t> </a:t>
            </a:r>
            <a:r>
              <a:rPr lang="de-DE" sz="2000" dirty="0" err="1">
                <a:ea typeface="+mn-lt"/>
                <a:cs typeface="+mn-lt"/>
              </a:rPr>
              <a:t>output</a:t>
            </a:r>
            <a:r>
              <a:rPr lang="de-DE" sz="2000" dirty="0">
                <a:ea typeface="+mn-lt"/>
                <a:cs typeface="+mn-lt"/>
              </a:rPr>
              <a:t> </a:t>
            </a:r>
            <a:r>
              <a:rPr lang="de-DE" sz="2000" dirty="0" err="1">
                <a:ea typeface="+mn-lt"/>
                <a:cs typeface="+mn-lt"/>
              </a:rPr>
              <a:t>dimensions</a:t>
            </a:r>
            <a:r>
              <a:rPr lang="de-DE" sz="2000" dirty="0">
                <a:ea typeface="+mn-lt"/>
                <a:cs typeface="+mn-lt"/>
              </a:rPr>
              <a:t> </a:t>
            </a:r>
            <a:endParaRPr lang="de-DE" dirty="0"/>
          </a:p>
          <a:p>
            <a:pPr marL="503651" lvl="1" indent="-287655"/>
            <a:r>
              <a:rPr lang="de-DE" sz="1600" dirty="0" err="1">
                <a:ea typeface="+mn-lt"/>
                <a:cs typeface="+mn-lt"/>
              </a:rPr>
              <a:t>Compute</a:t>
            </a:r>
            <a:r>
              <a:rPr lang="de-DE" sz="1600" dirty="0">
                <a:ea typeface="+mn-lt"/>
                <a:cs typeface="+mn-lt"/>
              </a:rPr>
              <a:t> </a:t>
            </a:r>
            <a:r>
              <a:rPr lang="de-DE" sz="1600" dirty="0" err="1">
                <a:ea typeface="+mn-lt"/>
                <a:cs typeface="+mn-lt"/>
              </a:rPr>
              <a:t>adjacent</a:t>
            </a:r>
            <a:r>
              <a:rPr lang="de-DE" sz="1600" dirty="0">
                <a:ea typeface="+mn-lt"/>
                <a:cs typeface="+mn-lt"/>
              </a:rPr>
              <a:t> </a:t>
            </a:r>
            <a:r>
              <a:rPr lang="de-DE" sz="1600" dirty="0" err="1">
                <a:ea typeface="+mn-lt"/>
                <a:cs typeface="+mn-lt"/>
              </a:rPr>
              <a:t>outputs</a:t>
            </a:r>
            <a:r>
              <a:rPr lang="de-DE" sz="1600" dirty="0">
                <a:ea typeface="+mn-lt"/>
                <a:cs typeface="+mn-lt"/>
              </a:rPr>
              <a:t> </a:t>
            </a:r>
            <a:r>
              <a:rPr lang="de-DE" sz="1600" dirty="0" err="1">
                <a:ea typeface="+mn-lt"/>
                <a:cs typeface="+mn-lt"/>
              </a:rPr>
              <a:t>together</a:t>
            </a:r>
            <a:r>
              <a:rPr lang="de-DE" sz="1600" dirty="0">
                <a:ea typeface="+mn-lt"/>
                <a:cs typeface="+mn-lt"/>
              </a:rPr>
              <a:t> </a:t>
            </a:r>
            <a:endParaRPr lang="de-DE" dirty="0"/>
          </a:p>
          <a:p>
            <a:pPr marL="503651" lvl="1" indent="-287655"/>
            <a:r>
              <a:rPr lang="de-DE" sz="1600" dirty="0">
                <a:ea typeface="+mn-lt"/>
                <a:cs typeface="+mn-lt"/>
              </a:rPr>
              <a:t>Reuse </a:t>
            </a:r>
            <a:r>
              <a:rPr lang="de-DE" sz="1600" dirty="0" err="1">
                <a:ea typeface="+mn-lt"/>
                <a:cs typeface="+mn-lt"/>
              </a:rPr>
              <a:t>each</a:t>
            </a:r>
            <a:r>
              <a:rPr lang="de-DE" sz="1600" dirty="0">
                <a:ea typeface="+mn-lt"/>
                <a:cs typeface="+mn-lt"/>
              </a:rPr>
              <a:t> </a:t>
            </a:r>
            <a:r>
              <a:rPr lang="de-DE" sz="1600" i="1" dirty="0" err="1">
                <a:ea typeface="+mn-lt"/>
                <a:cs typeface="+mn-lt"/>
              </a:rPr>
              <a:t>p</a:t>
            </a:r>
            <a:r>
              <a:rPr lang="de-DE" sz="1600" i="1" baseline="-25000" dirty="0" err="1">
                <a:ea typeface="+mn-lt"/>
                <a:cs typeface="+mn-lt"/>
              </a:rPr>
              <a:t>i</a:t>
            </a:r>
            <a:r>
              <a:rPr lang="de-DE" sz="1600" dirty="0">
                <a:ea typeface="+mn-lt"/>
                <a:cs typeface="+mn-lt"/>
              </a:rPr>
              <a:t>  </a:t>
            </a:r>
            <a:r>
              <a:rPr lang="de-DE" sz="1600" dirty="0" err="1">
                <a:ea typeface="+mn-lt"/>
                <a:cs typeface="+mn-lt"/>
              </a:rPr>
              <a:t>across</a:t>
            </a:r>
            <a:r>
              <a:rPr lang="de-DE" sz="1600" dirty="0">
                <a:ea typeface="+mn-lt"/>
                <a:cs typeface="+mn-lt"/>
              </a:rPr>
              <a:t> multiple V </a:t>
            </a:r>
            <a:r>
              <a:rPr lang="de-DE" sz="1600" dirty="0" err="1">
                <a:ea typeface="+mn-lt"/>
                <a:cs typeface="+mn-lt"/>
              </a:rPr>
              <a:t>elements</a:t>
            </a:r>
            <a:r>
              <a:rPr lang="de-DE" sz="1600" dirty="0">
                <a:ea typeface="+mn-lt"/>
                <a:cs typeface="+mn-lt"/>
              </a:rPr>
              <a:t> </a:t>
            </a:r>
            <a:endParaRPr lang="de-DE" dirty="0"/>
          </a:p>
          <a:p>
            <a:pPr marL="287655" indent="-287655"/>
            <a:r>
              <a:rPr lang="de-DE" sz="2000" dirty="0">
                <a:ea typeface="+mn-lt"/>
                <a:cs typeface="+mn-lt"/>
              </a:rPr>
              <a:t>Common </a:t>
            </a:r>
            <a:r>
              <a:rPr lang="de-DE" sz="2000" dirty="0" err="1">
                <a:ea typeface="+mn-lt"/>
                <a:cs typeface="+mn-lt"/>
              </a:rPr>
              <a:t>datapath</a:t>
            </a:r>
            <a:r>
              <a:rPr lang="de-DE" sz="2000" dirty="0">
                <a:ea typeface="+mn-lt"/>
                <a:cs typeface="+mn-lt"/>
              </a:rPr>
              <a:t> for </a:t>
            </a:r>
            <a:r>
              <a:rPr lang="de-DE" sz="2000" dirty="0" err="1">
                <a:ea typeface="+mn-lt"/>
                <a:cs typeface="+mn-lt"/>
              </a:rPr>
              <a:t>both</a:t>
            </a:r>
            <a:r>
              <a:rPr lang="de-DE" sz="2000" dirty="0">
                <a:ea typeface="+mn-lt"/>
                <a:cs typeface="+mn-lt"/>
              </a:rPr>
              <a:t> GEMVs</a:t>
            </a:r>
            <a:r>
              <a:rPr lang="de-DE" sz="2000" b="0" dirty="0">
                <a:ea typeface="+mn-lt"/>
                <a:cs typeface="+mn-lt"/>
              </a:rPr>
              <a:t> </a:t>
            </a:r>
            <a:endParaRPr lang="de-DE" dirty="0"/>
          </a:p>
          <a:p>
            <a:pPr marL="503651" lvl="1" indent="-287655"/>
            <a:r>
              <a:rPr lang="de-DE" sz="1600" b="0" dirty="0">
                <a:ea typeface="+mn-lt"/>
                <a:cs typeface="+mn-lt"/>
              </a:rPr>
              <a:t>SSR </a:t>
            </a:r>
            <a:r>
              <a:rPr lang="de-DE" sz="1600" dirty="0" err="1">
                <a:ea typeface="+mn-lt"/>
                <a:cs typeface="+mn-lt"/>
              </a:rPr>
              <a:t>streaming</a:t>
            </a:r>
            <a:r>
              <a:rPr lang="de-DE" sz="1600" dirty="0">
                <a:ea typeface="+mn-lt"/>
                <a:cs typeface="+mn-lt"/>
              </a:rPr>
              <a:t> + FREP </a:t>
            </a:r>
            <a:endParaRPr lang="de-DE" dirty="0"/>
          </a:p>
          <a:p>
            <a:pPr marL="503651" lvl="1" indent="-287655"/>
            <a:r>
              <a:rPr lang="de-DE" sz="1600" b="0" dirty="0">
                <a:ea typeface="+mn-lt"/>
                <a:cs typeface="+mn-lt"/>
              </a:rPr>
              <a:t>2-way FP32 SIMD </a:t>
            </a:r>
            <a:endParaRPr lang="de-DE" b="0" dirty="0">
              <a:ea typeface="+mn-lt"/>
              <a:cs typeface="+mn-lt"/>
            </a:endParaRPr>
          </a:p>
          <a:p>
            <a:pPr marL="503651" lvl="1" indent="-287655"/>
            <a:r>
              <a:rPr lang="de-DE" sz="1600" b="0" dirty="0">
                <a:ea typeface="+mn-lt"/>
                <a:cs typeface="+mn-lt"/>
              </a:rPr>
              <a:t>Multi-</a:t>
            </a:r>
            <a:r>
              <a:rPr lang="de-DE" sz="1600" b="0" dirty="0" err="1">
                <a:ea typeface="+mn-lt"/>
                <a:cs typeface="+mn-lt"/>
              </a:rPr>
              <a:t>accumulator</a:t>
            </a:r>
            <a:r>
              <a:rPr lang="de-DE" sz="1600" b="0" dirty="0">
                <a:ea typeface="+mn-lt"/>
                <a:cs typeface="+mn-lt"/>
              </a:rPr>
              <a:t> </a:t>
            </a:r>
            <a:r>
              <a:rPr lang="de-DE" sz="1600" b="0" dirty="0" err="1">
                <a:ea typeface="+mn-lt"/>
                <a:cs typeface="+mn-lt"/>
              </a:rPr>
              <a:t>unrolling</a:t>
            </a:r>
            <a:r>
              <a:rPr lang="de-DE" sz="1600" b="0" dirty="0">
                <a:ea typeface="+mn-lt"/>
                <a:cs typeface="+mn-lt"/>
              </a:rPr>
              <a:t> to </a:t>
            </a:r>
            <a:r>
              <a:rPr lang="de-DE" sz="1600" b="0" dirty="0" err="1">
                <a:ea typeface="+mn-lt"/>
                <a:cs typeface="+mn-lt"/>
              </a:rPr>
              <a:t>hide</a:t>
            </a:r>
            <a:r>
              <a:rPr lang="de-DE" sz="1600" b="0" dirty="0">
                <a:ea typeface="+mn-lt"/>
                <a:cs typeface="+mn-lt"/>
              </a:rPr>
              <a:t> FMA </a:t>
            </a:r>
            <a:r>
              <a:rPr lang="de-DE" sz="1600" b="0" dirty="0" err="1">
                <a:ea typeface="+mn-lt"/>
                <a:cs typeface="+mn-lt"/>
              </a:rPr>
              <a:t>latency</a:t>
            </a:r>
            <a:r>
              <a:rPr lang="de-DE" sz="1600" b="0" dirty="0">
                <a:ea typeface="+mn-lt"/>
                <a:cs typeface="+mn-lt"/>
              </a:rPr>
              <a:t> </a:t>
            </a:r>
            <a:endParaRPr lang="de-DE" dirty="0"/>
          </a:p>
          <a:p>
            <a:pPr marL="287655" indent="-287655"/>
            <a:r>
              <a:rPr lang="de-DE" sz="2000" dirty="0">
                <a:ea typeface="+mn-lt"/>
                <a:cs typeface="+mn-lt"/>
              </a:rPr>
              <a:t>Exploit the </a:t>
            </a:r>
            <a:r>
              <a:rPr lang="de-DE" sz="2000" dirty="0" err="1">
                <a:ea typeface="+mn-lt"/>
                <a:cs typeface="+mn-lt"/>
              </a:rPr>
              <a:t>dimension</a:t>
            </a:r>
            <a:r>
              <a:rPr lang="de-DE" sz="2000" dirty="0">
                <a:ea typeface="+mn-lt"/>
                <a:cs typeface="+mn-lt"/>
              </a:rPr>
              <a:t> </a:t>
            </a:r>
            <a:r>
              <a:rPr lang="de-DE" sz="2000" dirty="0" err="1">
                <a:ea typeface="+mn-lt"/>
                <a:cs typeface="+mn-lt"/>
              </a:rPr>
              <a:t>that</a:t>
            </a:r>
            <a:r>
              <a:rPr lang="de-DE" sz="2000" dirty="0">
                <a:ea typeface="+mn-lt"/>
                <a:cs typeface="+mn-lt"/>
              </a:rPr>
              <a:t> </a:t>
            </a:r>
            <a:r>
              <a:rPr lang="de-DE" sz="2000" dirty="0" err="1">
                <a:ea typeface="+mn-lt"/>
                <a:cs typeface="+mn-lt"/>
              </a:rPr>
              <a:t>remains</a:t>
            </a:r>
            <a:r>
              <a:rPr lang="de-DE" sz="2000" dirty="0">
                <a:ea typeface="+mn-lt"/>
                <a:cs typeface="+mn-lt"/>
              </a:rPr>
              <a:t> parallel after GEMM → GEMV</a:t>
            </a:r>
            <a:endParaRPr lang="de-DE" dirty="0"/>
          </a:p>
          <a:p>
            <a:pPr marL="287655" indent="-287655"/>
            <a:endParaRPr lang="de-DE" sz="2000" dirty="0">
              <a:ea typeface="Calibri"/>
              <a:cs typeface="Calibri"/>
            </a:endParaRPr>
          </a:p>
          <a:p>
            <a:pPr marL="287655" indent="-287655"/>
            <a:endParaRPr lang="de-DE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682589-FDA9-8E36-0AB4-2793A1425BD7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de-DE"/>
              <a:t>SoC </a:t>
            </a:r>
            <a:r>
              <a:rPr lang="de-DE" err="1"/>
              <a:t>DaML</a:t>
            </a:r>
            <a:r>
              <a:rPr lang="de-DE"/>
              <a:t> Mini Project </a:t>
            </a:r>
            <a:r>
              <a:rPr lang="de-DE" err="1"/>
              <a:t>Presentation</a:t>
            </a:r>
            <a:r>
              <a:rPr lang="de-DE"/>
              <a:t> Lars Kröger, 20.08.2026</a:t>
            </a: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1914696-933C-02B4-000F-2E5E7A7D6268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33867F2A-E750-44E7-A740-D3E09DF683AD}" type="slidenum">
              <a:rPr lang="en-US" smtClean="0"/>
              <a:pPr/>
              <a:t>7</a:t>
            </a:fld>
            <a:endParaRPr lang="en-US"/>
          </a:p>
        </p:txBody>
      </p:sp>
      <p:pic>
        <p:nvPicPr>
          <p:cNvPr id="7" name="Picture 6" descr="A diagram of a mathematical equation&#10;&#10;AI-generated content may be incorrect.">
            <a:extLst>
              <a:ext uri="{FF2B5EF4-FFF2-40B4-BE49-F238E27FC236}">
                <a16:creationId xmlns:a16="http://schemas.microsoft.com/office/drawing/2014/main" id="{17FEF47F-5BB5-74DF-218C-478714E20D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0026" y="1348004"/>
            <a:ext cx="4613068" cy="3784166"/>
          </a:xfrm>
          <a:prstGeom prst="rect">
            <a:avLst/>
          </a:prstGeom>
        </p:spPr>
      </p:pic>
      <p:sp>
        <p:nvSpPr>
          <p:cNvPr id="9" name="Left Arrow 8">
            <a:extLst>
              <a:ext uri="{FF2B5EF4-FFF2-40B4-BE49-F238E27FC236}">
                <a16:creationId xmlns:a16="http://schemas.microsoft.com/office/drawing/2014/main" id="{D96F72D6-6387-B464-851B-7D4EA7CCA375}"/>
              </a:ext>
            </a:extLst>
          </p:cNvPr>
          <p:cNvSpPr/>
          <p:nvPr/>
        </p:nvSpPr>
        <p:spPr>
          <a:xfrm rot="427815">
            <a:off x="6100968" y="1445626"/>
            <a:ext cx="2404037" cy="619760"/>
          </a:xfrm>
          <a:prstGeom prst="leftArrow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de-DE" b="1" i="0" cap="none" spc="0">
              <a:ln>
                <a:noFill/>
              </a:ln>
              <a:solidFill>
                <a:schemeClr val="bg2"/>
              </a:solidFill>
              <a:effectLst/>
              <a:latin typeface="+mj-lt"/>
              <a:cs typeface="Arial Narrow" panose="020B0604020202020204" pitchFamily="34" charset="0"/>
            </a:endParaRPr>
          </a:p>
        </p:txBody>
      </p:sp>
      <p:sp>
        <p:nvSpPr>
          <p:cNvPr id="10" name="Left Arrow 9">
            <a:extLst>
              <a:ext uri="{FF2B5EF4-FFF2-40B4-BE49-F238E27FC236}">
                <a16:creationId xmlns:a16="http://schemas.microsoft.com/office/drawing/2014/main" id="{DF1F4744-F6F0-2BC0-1BA5-9CB33B615208}"/>
              </a:ext>
            </a:extLst>
          </p:cNvPr>
          <p:cNvSpPr/>
          <p:nvPr/>
        </p:nvSpPr>
        <p:spPr>
          <a:xfrm rot="1192224">
            <a:off x="4813304" y="2998607"/>
            <a:ext cx="4388781" cy="619760"/>
          </a:xfrm>
          <a:prstGeom prst="leftArrow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de-DE" b="1" i="0" cap="none" spc="0">
              <a:ln>
                <a:noFill/>
              </a:ln>
              <a:solidFill>
                <a:schemeClr val="bg2"/>
              </a:solidFill>
              <a:effectLst/>
              <a:latin typeface="+mj-lt"/>
              <a:cs typeface="Arial Narrow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279784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AA8332-D939-EDF0-4B93-0D318103CC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51FF669-7343-2D89-740A-24B99ADD89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4243" y="2519412"/>
            <a:ext cx="5977955" cy="354606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BD3BBB8-2E89-CEA0-4200-65AECF6895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4345" y="791242"/>
            <a:ext cx="4096210" cy="135070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9350FDD-EAE2-695D-7D95-A957A3BC8C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Optimization 1 — </a:t>
            </a:r>
            <a:r>
              <a:rPr lang="en-DE" i="1" dirty="0"/>
              <a:t>K*q</a:t>
            </a:r>
            <a:r>
              <a:rPr lang="en-DE" dirty="0"/>
              <a:t>: Decode-specialized GEMV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6EFFAA-3E74-D60B-9A30-B230CABCA92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13152" y="732167"/>
            <a:ext cx="5607670" cy="4275211"/>
          </a:xfrm>
        </p:spPr>
        <p:txBody>
          <a:bodyPr vert="horz" lIns="0" tIns="46800" rIns="0" bIns="45720" rtlCol="0" anchor="t">
            <a:noAutofit/>
          </a:bodyPr>
          <a:lstStyle/>
          <a:p>
            <a:pPr marL="287655" indent="-287655"/>
            <a:r>
              <a:rPr lang="en-DE" dirty="0"/>
              <a:t>Parallelize across rows of K</a:t>
            </a:r>
          </a:p>
          <a:p>
            <a:pPr marL="503651" lvl="1" indent="-287655"/>
            <a:r>
              <a:rPr lang="en-DE" dirty="0"/>
              <a:t>8 cores compute independent rows</a:t>
            </a:r>
          </a:p>
          <a:p>
            <a:pPr marL="287655" indent="-287655"/>
            <a:r>
              <a:rPr lang="en-DE" dirty="0"/>
              <a:t>SSR/FREP + FP32 SIMD</a:t>
            </a:r>
          </a:p>
          <a:p>
            <a:pPr marL="503651" lvl="1" indent="-287655"/>
            <a:r>
              <a:rPr lang="en-DE" dirty="0"/>
              <a:t>Unrolling with independent Accumulators</a:t>
            </a:r>
          </a:p>
          <a:p>
            <a:pPr marL="287655" indent="-287655"/>
            <a:r>
              <a:rPr lang="en-DE" dirty="0">
                <a:ea typeface="+mn-lt"/>
                <a:cs typeface="+mn-lt"/>
              </a:rPr>
              <a:t>Fuse local maxium into GEMV</a:t>
            </a:r>
          </a:p>
          <a:p>
            <a:pPr marL="503651" lvl="1" indent="-287655"/>
            <a:r>
              <a:rPr lang="en-DE" dirty="0">
                <a:ea typeface="+mn-lt"/>
                <a:cs typeface="+mn-lt"/>
              </a:rPr>
              <a:t>Tree reduction in the end saves cycles later</a:t>
            </a:r>
          </a:p>
          <a:p>
            <a:pPr marL="287655" indent="-287655"/>
            <a:r>
              <a:rPr lang="en-DE" dirty="0"/>
              <a:t>Most common head dimensions are 64 and 128 [1] </a:t>
            </a:r>
          </a:p>
          <a:p>
            <a:pPr marL="503651" lvl="1" indent="-287655"/>
            <a:r>
              <a:rPr lang="en-DE" dirty="0"/>
              <a:t>FP32 rows are exact multiples of the 256-B TCDM bank period</a:t>
            </a:r>
          </a:p>
          <a:p>
            <a:pPr marL="503651" lvl="1" indent="-287655"/>
            <a:r>
              <a:rPr lang="en-DE" dirty="0"/>
              <a:t>TCDM Bank Conflicts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015C5B-BDE5-76DE-86B4-8B36BFD5834F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de-DE"/>
              <a:t>SoC </a:t>
            </a:r>
            <a:r>
              <a:rPr lang="de-DE" err="1"/>
              <a:t>DaML</a:t>
            </a:r>
            <a:r>
              <a:rPr lang="de-DE"/>
              <a:t> Mini Project </a:t>
            </a:r>
            <a:r>
              <a:rPr lang="de-DE" err="1"/>
              <a:t>Presentation</a:t>
            </a:r>
            <a:r>
              <a:rPr lang="de-DE"/>
              <a:t> Lars Kröger, 20.08.2026</a:t>
            </a: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E646E0-8579-7716-0A33-D7E40939D917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33867F2A-E750-44E7-A740-D3E09DF683AD}" type="slidenum">
              <a:rPr lang="en-US" smtClean="0"/>
              <a:pPr/>
              <a:t>8</a:t>
            </a:fld>
            <a:endParaRPr lang="en-US"/>
          </a:p>
        </p:txBody>
      </p:sp>
      <p:grpSp>
        <p:nvGrpSpPr>
          <p:cNvPr id="16" name="Cycle 0">
            <a:extLst>
              <a:ext uri="{FF2B5EF4-FFF2-40B4-BE49-F238E27FC236}">
                <a16:creationId xmlns:a16="http://schemas.microsoft.com/office/drawing/2014/main" id="{4DF57F77-E40E-691B-24EB-6C40DF5153BC}"/>
              </a:ext>
            </a:extLst>
          </p:cNvPr>
          <p:cNvGrpSpPr/>
          <p:nvPr/>
        </p:nvGrpSpPr>
        <p:grpSpPr>
          <a:xfrm>
            <a:off x="7390418" y="2343807"/>
            <a:ext cx="2845947" cy="3203311"/>
            <a:chOff x="5856619" y="2343807"/>
            <a:chExt cx="2845947" cy="3203311"/>
          </a:xfrm>
        </p:grpSpPr>
        <p:sp>
          <p:nvSpPr>
            <p:cNvPr id="11" name="Left Arrow 10">
              <a:extLst>
                <a:ext uri="{FF2B5EF4-FFF2-40B4-BE49-F238E27FC236}">
                  <a16:creationId xmlns:a16="http://schemas.microsoft.com/office/drawing/2014/main" id="{70549607-3C0F-DCDC-5FCA-5BFDFF856CCC}"/>
                </a:ext>
              </a:extLst>
            </p:cNvPr>
            <p:cNvSpPr/>
            <p:nvPr/>
          </p:nvSpPr>
          <p:spPr>
            <a:xfrm rot="20219229">
              <a:off x="5963631" y="2845033"/>
              <a:ext cx="1853684" cy="305913"/>
            </a:xfrm>
            <a:prstGeom prst="leftArrow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de-DE" b="1" i="0" cap="none" spc="0" dirty="0">
                <a:ln>
                  <a:noFill/>
                </a:ln>
                <a:solidFill>
                  <a:schemeClr val="bg2"/>
                </a:solidFill>
                <a:effectLst/>
                <a:latin typeface="+mj-lt"/>
                <a:cs typeface="Arial Narrow" panose="020B0604020202020204" pitchFamily="34" charset="0"/>
              </a:endParaRPr>
            </a:p>
          </p:txBody>
        </p:sp>
        <p:sp>
          <p:nvSpPr>
            <p:cNvPr id="12" name="Left Arrow 11">
              <a:extLst>
                <a:ext uri="{FF2B5EF4-FFF2-40B4-BE49-F238E27FC236}">
                  <a16:creationId xmlns:a16="http://schemas.microsoft.com/office/drawing/2014/main" id="{2DFBD126-6C23-B59B-764D-C5C94D025CCA}"/>
                </a:ext>
              </a:extLst>
            </p:cNvPr>
            <p:cNvSpPr/>
            <p:nvPr/>
          </p:nvSpPr>
          <p:spPr>
            <a:xfrm rot="19262719">
              <a:off x="5856619" y="3311566"/>
              <a:ext cx="2200327" cy="305913"/>
            </a:xfrm>
            <a:prstGeom prst="leftArrow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de-DE" b="1" i="0" cap="none" spc="0" dirty="0">
                <a:ln>
                  <a:noFill/>
                </a:ln>
                <a:solidFill>
                  <a:schemeClr val="bg2"/>
                </a:solidFill>
                <a:effectLst/>
                <a:latin typeface="+mj-lt"/>
                <a:cs typeface="Arial Narrow" panose="020B0604020202020204" pitchFamily="34" charset="0"/>
              </a:endParaRPr>
            </a:p>
          </p:txBody>
        </p:sp>
        <p:sp>
          <p:nvSpPr>
            <p:cNvPr id="13" name="Left Arrow 12">
              <a:extLst>
                <a:ext uri="{FF2B5EF4-FFF2-40B4-BE49-F238E27FC236}">
                  <a16:creationId xmlns:a16="http://schemas.microsoft.com/office/drawing/2014/main" id="{E423B8D6-7DF3-32C1-7695-74A26957DFE7}"/>
                </a:ext>
              </a:extLst>
            </p:cNvPr>
            <p:cNvSpPr/>
            <p:nvPr/>
          </p:nvSpPr>
          <p:spPr>
            <a:xfrm rot="18471192">
              <a:off x="5517516" y="3890766"/>
              <a:ext cx="3006790" cy="305913"/>
            </a:xfrm>
            <a:prstGeom prst="leftArrow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de-DE" b="1" i="0" cap="none" spc="0" dirty="0">
                <a:ln>
                  <a:noFill/>
                </a:ln>
                <a:solidFill>
                  <a:schemeClr val="bg2"/>
                </a:solidFill>
                <a:effectLst/>
                <a:latin typeface="+mj-lt"/>
                <a:cs typeface="Arial Narrow" panose="020B0604020202020204" pitchFamily="34" charset="0"/>
              </a:endParaRPr>
            </a:p>
          </p:txBody>
        </p:sp>
        <p:sp>
          <p:nvSpPr>
            <p:cNvPr id="14" name="Left Arrow 13">
              <a:extLst>
                <a:ext uri="{FF2B5EF4-FFF2-40B4-BE49-F238E27FC236}">
                  <a16:creationId xmlns:a16="http://schemas.microsoft.com/office/drawing/2014/main" id="{E6F3F331-0F12-BC2F-2ED7-48DE1345CFB7}"/>
                </a:ext>
              </a:extLst>
            </p:cNvPr>
            <p:cNvSpPr/>
            <p:nvPr/>
          </p:nvSpPr>
          <p:spPr>
            <a:xfrm rot="13655196">
              <a:off x="7753864" y="3262785"/>
              <a:ext cx="1509488" cy="305913"/>
            </a:xfrm>
            <a:prstGeom prst="leftArrow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de-DE" b="1" i="0" cap="none" spc="0" dirty="0">
                <a:ln>
                  <a:noFill/>
                </a:ln>
                <a:solidFill>
                  <a:schemeClr val="bg2"/>
                </a:solidFill>
                <a:effectLst/>
                <a:latin typeface="+mj-lt"/>
                <a:cs typeface="Arial Narrow" panose="020B0604020202020204" pitchFamily="34" charset="0"/>
              </a:endParaRP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1ECD7130-B6F1-8D59-E9AB-2FE9DABF2BB3}"/>
                </a:ext>
              </a:extLst>
            </p:cNvPr>
            <p:cNvSpPr/>
            <p:nvPr/>
          </p:nvSpPr>
          <p:spPr>
            <a:xfrm>
              <a:off x="7462345" y="2343807"/>
              <a:ext cx="1240221" cy="693683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de-DE" sz="2800" b="1" i="0" cap="none" spc="0" dirty="0">
                  <a:ln>
                    <a:noFill/>
                  </a:ln>
                  <a:solidFill>
                    <a:schemeClr val="tx1"/>
                  </a:solidFill>
                  <a:effectLst/>
                  <a:latin typeface="+mj-lt"/>
                  <a:cs typeface="Arial Narrow" panose="020B0604020202020204" pitchFamily="34" charset="0"/>
                </a:rPr>
                <a:t>Cycle 0</a:t>
              </a:r>
            </a:p>
          </p:txBody>
        </p: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A7AD3760-D7BA-558F-4FE3-4A5945266874}"/>
              </a:ext>
            </a:extLst>
          </p:cNvPr>
          <p:cNvSpPr txBox="1"/>
          <p:nvPr/>
        </p:nvSpPr>
        <p:spPr>
          <a:xfrm>
            <a:off x="8617771" y="2417379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720000"/>
            <a:endParaRPr lang="de-DE" sz="2400" b="0" i="0" dirty="0">
              <a:solidFill>
                <a:schemeClr val="accent1"/>
              </a:solidFill>
              <a:latin typeface="+mn-lt"/>
              <a:cs typeface="Arial Narrow" panose="020B060402020202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7DB5F7F-1DB0-69DB-39CB-480E5E058171}"/>
              </a:ext>
            </a:extLst>
          </p:cNvPr>
          <p:cNvSpPr txBox="1"/>
          <p:nvPr/>
        </p:nvSpPr>
        <p:spPr>
          <a:xfrm>
            <a:off x="8344502" y="2249214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720000"/>
            <a:endParaRPr lang="de-DE" sz="2400" b="0" i="0" dirty="0">
              <a:solidFill>
                <a:schemeClr val="accent1"/>
              </a:solidFill>
              <a:latin typeface="+mn-lt"/>
              <a:cs typeface="Arial Narrow" panose="020B0604020202020204" pitchFamily="34" charset="0"/>
            </a:endParaRPr>
          </a:p>
        </p:txBody>
      </p:sp>
      <p:grpSp>
        <p:nvGrpSpPr>
          <p:cNvPr id="19" name="Cycle 1">
            <a:extLst>
              <a:ext uri="{FF2B5EF4-FFF2-40B4-BE49-F238E27FC236}">
                <a16:creationId xmlns:a16="http://schemas.microsoft.com/office/drawing/2014/main" id="{C6FD8A5C-F1B0-9C22-B848-98D7EAE5C392}"/>
              </a:ext>
            </a:extLst>
          </p:cNvPr>
          <p:cNvGrpSpPr/>
          <p:nvPr/>
        </p:nvGrpSpPr>
        <p:grpSpPr>
          <a:xfrm>
            <a:off x="7818444" y="2374654"/>
            <a:ext cx="2845947" cy="3203311"/>
            <a:chOff x="5856619" y="2343807"/>
            <a:chExt cx="2845947" cy="3203311"/>
          </a:xfrm>
        </p:grpSpPr>
        <p:sp>
          <p:nvSpPr>
            <p:cNvPr id="20" name="Left Arrow 19">
              <a:extLst>
                <a:ext uri="{FF2B5EF4-FFF2-40B4-BE49-F238E27FC236}">
                  <a16:creationId xmlns:a16="http://schemas.microsoft.com/office/drawing/2014/main" id="{1C1ECA53-1C43-49A4-D4DB-01A418E0047D}"/>
                </a:ext>
              </a:extLst>
            </p:cNvPr>
            <p:cNvSpPr/>
            <p:nvPr/>
          </p:nvSpPr>
          <p:spPr>
            <a:xfrm rot="20219229">
              <a:off x="5963631" y="2845033"/>
              <a:ext cx="1853684" cy="305913"/>
            </a:xfrm>
            <a:prstGeom prst="leftArrow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de-DE" b="1" i="0" cap="none" spc="0" dirty="0">
                <a:ln>
                  <a:noFill/>
                </a:ln>
                <a:solidFill>
                  <a:schemeClr val="bg2"/>
                </a:solidFill>
                <a:effectLst/>
                <a:latin typeface="+mj-lt"/>
                <a:cs typeface="Arial Narrow" panose="020B0604020202020204" pitchFamily="34" charset="0"/>
              </a:endParaRPr>
            </a:p>
          </p:txBody>
        </p:sp>
        <p:sp>
          <p:nvSpPr>
            <p:cNvPr id="21" name="Left Arrow 20">
              <a:extLst>
                <a:ext uri="{FF2B5EF4-FFF2-40B4-BE49-F238E27FC236}">
                  <a16:creationId xmlns:a16="http://schemas.microsoft.com/office/drawing/2014/main" id="{73348AD0-A267-31C8-F65E-E8A5A8C9B8CE}"/>
                </a:ext>
              </a:extLst>
            </p:cNvPr>
            <p:cNvSpPr/>
            <p:nvPr/>
          </p:nvSpPr>
          <p:spPr>
            <a:xfrm rot="19262719">
              <a:off x="5856619" y="3311566"/>
              <a:ext cx="2200327" cy="305913"/>
            </a:xfrm>
            <a:prstGeom prst="leftArrow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de-DE" b="1" i="0" cap="none" spc="0" dirty="0">
                <a:ln>
                  <a:noFill/>
                </a:ln>
                <a:solidFill>
                  <a:schemeClr val="bg2"/>
                </a:solidFill>
                <a:effectLst/>
                <a:latin typeface="+mj-lt"/>
                <a:cs typeface="Arial Narrow" panose="020B0604020202020204" pitchFamily="34" charset="0"/>
              </a:endParaRPr>
            </a:p>
          </p:txBody>
        </p:sp>
        <p:sp>
          <p:nvSpPr>
            <p:cNvPr id="22" name="Left Arrow 21">
              <a:extLst>
                <a:ext uri="{FF2B5EF4-FFF2-40B4-BE49-F238E27FC236}">
                  <a16:creationId xmlns:a16="http://schemas.microsoft.com/office/drawing/2014/main" id="{5483F3CD-A78F-051D-538D-F633D60C0394}"/>
                </a:ext>
              </a:extLst>
            </p:cNvPr>
            <p:cNvSpPr/>
            <p:nvPr/>
          </p:nvSpPr>
          <p:spPr>
            <a:xfrm rot="18471192">
              <a:off x="5517516" y="3890766"/>
              <a:ext cx="3006790" cy="305913"/>
            </a:xfrm>
            <a:prstGeom prst="leftArrow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de-DE" b="1" i="0" cap="none" spc="0" dirty="0">
                <a:ln>
                  <a:noFill/>
                </a:ln>
                <a:solidFill>
                  <a:schemeClr val="bg2"/>
                </a:solidFill>
                <a:effectLst/>
                <a:latin typeface="+mj-lt"/>
                <a:cs typeface="Arial Narrow" panose="020B0604020202020204" pitchFamily="34" charset="0"/>
              </a:endParaRPr>
            </a:p>
          </p:txBody>
        </p:sp>
        <p:sp>
          <p:nvSpPr>
            <p:cNvPr id="23" name="Left Arrow 22">
              <a:extLst>
                <a:ext uri="{FF2B5EF4-FFF2-40B4-BE49-F238E27FC236}">
                  <a16:creationId xmlns:a16="http://schemas.microsoft.com/office/drawing/2014/main" id="{1E08255F-6FEC-3237-52C4-CF57EE6DF389}"/>
                </a:ext>
              </a:extLst>
            </p:cNvPr>
            <p:cNvSpPr/>
            <p:nvPr/>
          </p:nvSpPr>
          <p:spPr>
            <a:xfrm rot="15026033">
              <a:off x="7722721" y="3448356"/>
              <a:ext cx="1509488" cy="305913"/>
            </a:xfrm>
            <a:prstGeom prst="leftArrow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de-DE" b="1" i="0" cap="none" spc="0" dirty="0">
                <a:ln>
                  <a:noFill/>
                </a:ln>
                <a:solidFill>
                  <a:schemeClr val="bg2"/>
                </a:solidFill>
                <a:effectLst/>
                <a:latin typeface="+mj-lt"/>
                <a:cs typeface="Arial Narrow" panose="020B0604020202020204" pitchFamily="34" charset="0"/>
              </a:endParaRP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25BD64B0-AE1F-F914-1972-7AAB6A749076}"/>
                </a:ext>
              </a:extLst>
            </p:cNvPr>
            <p:cNvSpPr/>
            <p:nvPr/>
          </p:nvSpPr>
          <p:spPr>
            <a:xfrm>
              <a:off x="7462345" y="2343807"/>
              <a:ext cx="1240221" cy="693683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de-DE" sz="2800" b="1" i="0" cap="none" spc="0" dirty="0">
                  <a:ln>
                    <a:noFill/>
                  </a:ln>
                  <a:solidFill>
                    <a:schemeClr val="tx1"/>
                  </a:solidFill>
                  <a:effectLst/>
                  <a:latin typeface="+mj-lt"/>
                  <a:cs typeface="Arial Narrow" panose="020B0604020202020204" pitchFamily="34" charset="0"/>
                </a:rPr>
                <a:t>Cycle 1</a:t>
              </a:r>
            </a:p>
          </p:txBody>
        </p:sp>
      </p:grpSp>
      <p:sp>
        <p:nvSpPr>
          <p:cNvPr id="25" name="TextBox 24">
            <a:extLst>
              <a:ext uri="{FF2B5EF4-FFF2-40B4-BE49-F238E27FC236}">
                <a16:creationId xmlns:a16="http://schemas.microsoft.com/office/drawing/2014/main" id="{3CF4098C-D7FC-9077-919C-EE82A7FD342B}"/>
              </a:ext>
            </a:extLst>
          </p:cNvPr>
          <p:cNvSpPr txBox="1"/>
          <p:nvPr/>
        </p:nvSpPr>
        <p:spPr>
          <a:xfrm>
            <a:off x="409559" y="5502446"/>
            <a:ext cx="4600525" cy="50646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defTabSz="720000"/>
            <a:r>
              <a:rPr lang="en-DE" sz="1200" dirty="0">
                <a:solidFill>
                  <a:schemeClr val="bg1"/>
                </a:solidFill>
              </a:rPr>
              <a:t>[1] Y. Xu et al., “SparkAttention: High-Performance Multi-Head Attention for Large Models on Volta GPU Architecture,” arXiv:2502.12784, 2025</a:t>
            </a:r>
            <a:endParaRPr lang="de-DE" sz="1200" b="0" i="0" dirty="0">
              <a:solidFill>
                <a:schemeClr val="bg1"/>
              </a:solidFill>
              <a:latin typeface="+mn-lt"/>
              <a:cs typeface="Arial Narrow" panose="020B060402020202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A866FD3-C1CB-7BA7-5D36-4A4B1D321BE7}"/>
              </a:ext>
            </a:extLst>
          </p:cNvPr>
          <p:cNvSpPr/>
          <p:nvPr/>
        </p:nvSpPr>
        <p:spPr>
          <a:xfrm>
            <a:off x="6070736" y="2317556"/>
            <a:ext cx="1443037" cy="644696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de-DE" b="1" dirty="0" err="1">
                <a:solidFill>
                  <a:schemeClr val="bg2"/>
                </a:solidFill>
                <a:latin typeface="+mj-lt"/>
                <a:cs typeface="Arial Narrow" panose="020B0604020202020204" pitchFamily="34" charset="0"/>
              </a:rPr>
              <a:t>B</a:t>
            </a:r>
            <a:r>
              <a:rPr lang="de-DE" b="1" baseline="-25000" dirty="0" err="1">
                <a:solidFill>
                  <a:schemeClr val="bg2"/>
                </a:solidFill>
                <a:latin typeface="+mj-lt"/>
                <a:cs typeface="Arial Narrow" panose="020B0604020202020204" pitchFamily="34" charset="0"/>
              </a:rPr>
              <a:t>c</a:t>
            </a:r>
            <a:r>
              <a:rPr lang="de-DE" b="1" i="0" cap="none" spc="0" dirty="0">
                <a:ln>
                  <a:noFill/>
                </a:ln>
                <a:solidFill>
                  <a:schemeClr val="bg2"/>
                </a:solidFill>
                <a:effectLst/>
                <a:latin typeface="+mj-lt"/>
                <a:cs typeface="Arial Narrow" panose="020B0604020202020204" pitchFamily="34" charset="0"/>
              </a:rPr>
              <a:t>=d=64</a:t>
            </a:r>
          </a:p>
        </p:txBody>
      </p:sp>
    </p:spTree>
    <p:extLst>
      <p:ext uri="{BB962C8B-B14F-4D97-AF65-F5344CB8AC3E}">
        <p14:creationId xmlns:p14="http://schemas.microsoft.com/office/powerpoint/2010/main" val="37258256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Picture 29">
            <a:extLst>
              <a:ext uri="{FF2B5EF4-FFF2-40B4-BE49-F238E27FC236}">
                <a16:creationId xmlns:a16="http://schemas.microsoft.com/office/drawing/2014/main" id="{CAA0751D-D38D-A24A-E8D8-1C7DD85967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7492" y="2745833"/>
            <a:ext cx="5124366" cy="320272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C791CCC-A9F1-3590-A20E-F0E1A186240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74767" y="1384308"/>
            <a:ext cx="5446652" cy="465290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60A7174-F901-1955-9F8C-1AA5C4A5BC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Optimization</a:t>
            </a:r>
            <a:r>
              <a:rPr lang="de-DE" dirty="0"/>
              <a:t> 2 –  Bank-aware TCDM </a:t>
            </a:r>
            <a:r>
              <a:rPr lang="de-DE" dirty="0" err="1"/>
              <a:t>placement</a:t>
            </a:r>
            <a:endParaRPr lang="de-DE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79575C-DFB9-B481-255E-972FD494138C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de-DE"/>
              <a:t>SoC DaML Mini Project Presentation Lars Kröger, 20.08.2026</a:t>
            </a: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594BBF4-D20D-09DE-2321-08BD5BC98012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33867F2A-E750-44E7-A740-D3E09DF683AD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8D9656A-AA84-678B-8583-44B36315B19F}"/>
              </a:ext>
            </a:extLst>
          </p:cNvPr>
          <p:cNvSpPr/>
          <p:nvPr/>
        </p:nvSpPr>
        <p:spPr>
          <a:xfrm>
            <a:off x="861836" y="825886"/>
            <a:ext cx="3807912" cy="1542903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76200">
            <a:solidFill>
              <a:schemeClr val="accent3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DE" sz="2800" b="1" dirty="0">
                <a:solidFill>
                  <a:schemeClr val="tx1"/>
                </a:solidFill>
              </a:rPr>
              <a:t>IDEA</a:t>
            </a:r>
            <a:br>
              <a:rPr lang="en-DE" sz="2800" dirty="0">
                <a:solidFill>
                  <a:schemeClr val="tx1"/>
                </a:solidFill>
              </a:rPr>
            </a:br>
            <a:r>
              <a:rPr lang="en-DE" sz="2800" b="1" dirty="0">
                <a:solidFill>
                  <a:schemeClr val="tx1"/>
                </a:solidFill>
              </a:rPr>
              <a:t>Partition K · Replicate Q · Skew by 1 bank/core</a:t>
            </a:r>
            <a:endParaRPr lang="de-DE" sz="1600" b="1" i="0" cap="none" spc="0" dirty="0">
              <a:ln>
                <a:noFill/>
              </a:ln>
              <a:solidFill>
                <a:schemeClr val="tx1"/>
              </a:solidFill>
              <a:effectLst/>
              <a:latin typeface="+mj-lt"/>
              <a:cs typeface="Arial Narrow" panose="020B0604020202020204" pitchFamily="34" charset="0"/>
            </a:endParaRPr>
          </a:p>
        </p:txBody>
      </p:sp>
      <p:grpSp>
        <p:nvGrpSpPr>
          <p:cNvPr id="20" name="Cycle 0">
            <a:extLst>
              <a:ext uri="{FF2B5EF4-FFF2-40B4-BE49-F238E27FC236}">
                <a16:creationId xmlns:a16="http://schemas.microsoft.com/office/drawing/2014/main" id="{EA206E2C-A258-906E-C54B-81AB47F9D769}"/>
              </a:ext>
            </a:extLst>
          </p:cNvPr>
          <p:cNvGrpSpPr/>
          <p:nvPr/>
        </p:nvGrpSpPr>
        <p:grpSpPr>
          <a:xfrm>
            <a:off x="7854020" y="1203202"/>
            <a:ext cx="2291601" cy="3606363"/>
            <a:chOff x="7854020" y="1188212"/>
            <a:chExt cx="2291601" cy="3606363"/>
          </a:xfrm>
        </p:grpSpPr>
        <p:sp>
          <p:nvSpPr>
            <p:cNvPr id="18" name="Left Arrow 17">
              <a:extLst>
                <a:ext uri="{FF2B5EF4-FFF2-40B4-BE49-F238E27FC236}">
                  <a16:creationId xmlns:a16="http://schemas.microsoft.com/office/drawing/2014/main" id="{0AB014BE-15A5-02D8-B671-83F5733E44B0}"/>
                </a:ext>
              </a:extLst>
            </p:cNvPr>
            <p:cNvSpPr/>
            <p:nvPr/>
          </p:nvSpPr>
          <p:spPr>
            <a:xfrm rot="14192362">
              <a:off x="8701653" y="2146867"/>
              <a:ext cx="2051938" cy="305913"/>
            </a:xfrm>
            <a:prstGeom prst="leftArrow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de-DE" b="1" i="0" cap="none" spc="0" dirty="0">
                <a:ln>
                  <a:noFill/>
                </a:ln>
                <a:solidFill>
                  <a:schemeClr val="bg2"/>
                </a:solidFill>
                <a:effectLst/>
                <a:latin typeface="+mj-lt"/>
                <a:cs typeface="Arial Narrow" panose="020B0604020202020204" pitchFamily="34" charset="0"/>
              </a:endParaRPr>
            </a:p>
          </p:txBody>
        </p:sp>
        <p:sp>
          <p:nvSpPr>
            <p:cNvPr id="13" name="Left Arrow 12">
              <a:extLst>
                <a:ext uri="{FF2B5EF4-FFF2-40B4-BE49-F238E27FC236}">
                  <a16:creationId xmlns:a16="http://schemas.microsoft.com/office/drawing/2014/main" id="{388E7994-BCA3-1A0F-F0D5-1F2C1707A040}"/>
                </a:ext>
              </a:extLst>
            </p:cNvPr>
            <p:cNvSpPr/>
            <p:nvPr/>
          </p:nvSpPr>
          <p:spPr>
            <a:xfrm rot="17905289">
              <a:off x="7080135" y="1984585"/>
              <a:ext cx="1853684" cy="305913"/>
            </a:xfrm>
            <a:prstGeom prst="leftArrow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de-DE" b="1" i="0" cap="none" spc="0" dirty="0">
                <a:ln>
                  <a:noFill/>
                </a:ln>
                <a:solidFill>
                  <a:schemeClr val="bg2"/>
                </a:solidFill>
                <a:effectLst/>
                <a:latin typeface="+mj-lt"/>
                <a:cs typeface="Arial Narrow" panose="020B0604020202020204" pitchFamily="34" charset="0"/>
              </a:endParaRPr>
            </a:p>
          </p:txBody>
        </p:sp>
        <p:sp>
          <p:nvSpPr>
            <p:cNvPr id="14" name="Left Arrow 13">
              <a:extLst>
                <a:ext uri="{FF2B5EF4-FFF2-40B4-BE49-F238E27FC236}">
                  <a16:creationId xmlns:a16="http://schemas.microsoft.com/office/drawing/2014/main" id="{2C3B86FE-499F-A142-71C9-EBFEA1D52D9F}"/>
                </a:ext>
              </a:extLst>
            </p:cNvPr>
            <p:cNvSpPr/>
            <p:nvPr/>
          </p:nvSpPr>
          <p:spPr>
            <a:xfrm rot="17882615">
              <a:off x="7051022" y="2492236"/>
              <a:ext cx="2200327" cy="305913"/>
            </a:xfrm>
            <a:prstGeom prst="leftArrow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de-DE" b="1" i="0" cap="none" spc="0" dirty="0">
                <a:ln>
                  <a:noFill/>
                </a:ln>
                <a:solidFill>
                  <a:schemeClr val="bg2"/>
                </a:solidFill>
                <a:effectLst/>
                <a:latin typeface="+mj-lt"/>
                <a:cs typeface="Arial Narrow" panose="020B0604020202020204" pitchFamily="34" charset="0"/>
              </a:endParaRPr>
            </a:p>
          </p:txBody>
        </p:sp>
        <p:sp>
          <p:nvSpPr>
            <p:cNvPr id="15" name="Left Arrow 14">
              <a:extLst>
                <a:ext uri="{FF2B5EF4-FFF2-40B4-BE49-F238E27FC236}">
                  <a16:creationId xmlns:a16="http://schemas.microsoft.com/office/drawing/2014/main" id="{DD5F0D5A-F398-1892-79F9-467E9540CD1B}"/>
                </a:ext>
              </a:extLst>
            </p:cNvPr>
            <p:cNvSpPr/>
            <p:nvPr/>
          </p:nvSpPr>
          <p:spPr>
            <a:xfrm rot="17711526">
              <a:off x="6764944" y="3021425"/>
              <a:ext cx="3006790" cy="305913"/>
            </a:xfrm>
            <a:prstGeom prst="leftArrow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de-DE" b="1" i="0" cap="none" spc="0" dirty="0">
                <a:ln>
                  <a:noFill/>
                </a:ln>
                <a:solidFill>
                  <a:schemeClr val="bg2"/>
                </a:solidFill>
                <a:effectLst/>
                <a:latin typeface="+mj-lt"/>
                <a:cs typeface="Arial Narrow" panose="020B0604020202020204" pitchFamily="34" charset="0"/>
              </a:endParaRPr>
            </a:p>
          </p:txBody>
        </p:sp>
        <p:sp>
          <p:nvSpPr>
            <p:cNvPr id="16" name="Left Arrow 15">
              <a:extLst>
                <a:ext uri="{FF2B5EF4-FFF2-40B4-BE49-F238E27FC236}">
                  <a16:creationId xmlns:a16="http://schemas.microsoft.com/office/drawing/2014/main" id="{83DDE4DE-00C7-0ED3-0D1F-673A668C0C49}"/>
                </a:ext>
              </a:extLst>
            </p:cNvPr>
            <p:cNvSpPr/>
            <p:nvPr/>
          </p:nvSpPr>
          <p:spPr>
            <a:xfrm rot="11026159">
              <a:off x="8636133" y="1393675"/>
              <a:ext cx="1509488" cy="305913"/>
            </a:xfrm>
            <a:prstGeom prst="leftArrow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de-DE" b="1" i="0" cap="none" spc="0" dirty="0">
                <a:ln>
                  <a:noFill/>
                </a:ln>
                <a:solidFill>
                  <a:schemeClr val="bg2"/>
                </a:solidFill>
                <a:effectLst/>
                <a:latin typeface="+mj-lt"/>
                <a:cs typeface="Arial Narrow" panose="020B0604020202020204" pitchFamily="34" charset="0"/>
              </a:endParaRP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16359EB7-0657-02A9-8FA0-0978D1603A74}"/>
                </a:ext>
              </a:extLst>
            </p:cNvPr>
            <p:cNvSpPr/>
            <p:nvPr/>
          </p:nvSpPr>
          <p:spPr>
            <a:xfrm>
              <a:off x="8159363" y="1188212"/>
              <a:ext cx="1240221" cy="693683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de-DE" sz="2800" b="1" i="0" cap="none" spc="0" dirty="0">
                  <a:ln>
                    <a:noFill/>
                  </a:ln>
                  <a:solidFill>
                    <a:schemeClr val="tx1"/>
                  </a:solidFill>
                  <a:effectLst/>
                  <a:latin typeface="+mj-lt"/>
                  <a:cs typeface="Arial Narrow" panose="020B0604020202020204" pitchFamily="34" charset="0"/>
                </a:rPr>
                <a:t>Cycle 0</a:t>
              </a:r>
            </a:p>
          </p:txBody>
        </p:sp>
        <p:sp>
          <p:nvSpPr>
            <p:cNvPr id="19" name="Left Arrow 18">
              <a:extLst>
                <a:ext uri="{FF2B5EF4-FFF2-40B4-BE49-F238E27FC236}">
                  <a16:creationId xmlns:a16="http://schemas.microsoft.com/office/drawing/2014/main" id="{72135060-9962-18D8-9E7F-1A7CDE8C7C9F}"/>
                </a:ext>
              </a:extLst>
            </p:cNvPr>
            <p:cNvSpPr/>
            <p:nvPr/>
          </p:nvSpPr>
          <p:spPr>
            <a:xfrm rot="14835044">
              <a:off x="7974592" y="3067939"/>
              <a:ext cx="3147358" cy="305913"/>
            </a:xfrm>
            <a:prstGeom prst="leftArrow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de-DE" b="1" i="0" cap="none" spc="0" dirty="0">
                <a:ln>
                  <a:noFill/>
                </a:ln>
                <a:solidFill>
                  <a:schemeClr val="bg2"/>
                </a:solidFill>
                <a:effectLst/>
                <a:latin typeface="+mj-lt"/>
                <a:cs typeface="Arial Narrow" panose="020B0604020202020204" pitchFamily="34" charset="0"/>
              </a:endParaRPr>
            </a:p>
          </p:txBody>
        </p:sp>
      </p:grpSp>
      <p:grpSp>
        <p:nvGrpSpPr>
          <p:cNvPr id="21" name="Cycle 1">
            <a:extLst>
              <a:ext uri="{FF2B5EF4-FFF2-40B4-BE49-F238E27FC236}">
                <a16:creationId xmlns:a16="http://schemas.microsoft.com/office/drawing/2014/main" id="{9A3F4131-2AA3-0D8A-32F6-95CC4E7EE2A0}"/>
              </a:ext>
            </a:extLst>
          </p:cNvPr>
          <p:cNvGrpSpPr/>
          <p:nvPr/>
        </p:nvGrpSpPr>
        <p:grpSpPr>
          <a:xfrm>
            <a:off x="8183432" y="1098895"/>
            <a:ext cx="2006510" cy="3967870"/>
            <a:chOff x="7854020" y="1083282"/>
            <a:chExt cx="2006510" cy="3967870"/>
          </a:xfrm>
        </p:grpSpPr>
        <p:sp>
          <p:nvSpPr>
            <p:cNvPr id="22" name="Left Arrow 21">
              <a:extLst>
                <a:ext uri="{FF2B5EF4-FFF2-40B4-BE49-F238E27FC236}">
                  <a16:creationId xmlns:a16="http://schemas.microsoft.com/office/drawing/2014/main" id="{D9FFA5B9-EC2D-A7A8-A29D-E4446600DEBE}"/>
                </a:ext>
              </a:extLst>
            </p:cNvPr>
            <p:cNvSpPr/>
            <p:nvPr/>
          </p:nvSpPr>
          <p:spPr>
            <a:xfrm rot="14824106">
              <a:off x="8457492" y="2382776"/>
              <a:ext cx="2051938" cy="305913"/>
            </a:xfrm>
            <a:prstGeom prst="leftArrow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de-DE" b="1" i="0" cap="none" spc="0" dirty="0">
                <a:ln>
                  <a:noFill/>
                </a:ln>
                <a:solidFill>
                  <a:schemeClr val="bg2"/>
                </a:solidFill>
                <a:effectLst/>
                <a:latin typeface="+mj-lt"/>
                <a:cs typeface="Arial Narrow" panose="020B0604020202020204" pitchFamily="34" charset="0"/>
              </a:endParaRPr>
            </a:p>
          </p:txBody>
        </p:sp>
        <p:sp>
          <p:nvSpPr>
            <p:cNvPr id="23" name="Left Arrow 22">
              <a:extLst>
                <a:ext uri="{FF2B5EF4-FFF2-40B4-BE49-F238E27FC236}">
                  <a16:creationId xmlns:a16="http://schemas.microsoft.com/office/drawing/2014/main" id="{530F93FE-F443-2902-F12D-72B9E5E70721}"/>
                </a:ext>
              </a:extLst>
            </p:cNvPr>
            <p:cNvSpPr/>
            <p:nvPr/>
          </p:nvSpPr>
          <p:spPr>
            <a:xfrm rot="17905289">
              <a:off x="7080135" y="1984585"/>
              <a:ext cx="1853684" cy="305913"/>
            </a:xfrm>
            <a:prstGeom prst="leftArrow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de-DE" b="1" i="0" cap="none" spc="0" dirty="0">
                <a:ln>
                  <a:noFill/>
                </a:ln>
                <a:solidFill>
                  <a:schemeClr val="bg2"/>
                </a:solidFill>
                <a:effectLst/>
                <a:latin typeface="+mj-lt"/>
                <a:cs typeface="Arial Narrow" panose="020B0604020202020204" pitchFamily="34" charset="0"/>
              </a:endParaRPr>
            </a:p>
          </p:txBody>
        </p:sp>
        <p:sp>
          <p:nvSpPr>
            <p:cNvPr id="24" name="Left Arrow 23">
              <a:extLst>
                <a:ext uri="{FF2B5EF4-FFF2-40B4-BE49-F238E27FC236}">
                  <a16:creationId xmlns:a16="http://schemas.microsoft.com/office/drawing/2014/main" id="{FEAB0F54-3995-0133-C0B7-B7BA2C5442AF}"/>
                </a:ext>
              </a:extLst>
            </p:cNvPr>
            <p:cNvSpPr/>
            <p:nvPr/>
          </p:nvSpPr>
          <p:spPr>
            <a:xfrm rot="17882615">
              <a:off x="7051022" y="2492236"/>
              <a:ext cx="2200327" cy="305913"/>
            </a:xfrm>
            <a:prstGeom prst="leftArrow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de-DE" b="1" i="0" cap="none" spc="0" dirty="0">
                <a:ln>
                  <a:noFill/>
                </a:ln>
                <a:solidFill>
                  <a:schemeClr val="bg2"/>
                </a:solidFill>
                <a:effectLst/>
                <a:latin typeface="+mj-lt"/>
                <a:cs typeface="Arial Narrow" panose="020B0604020202020204" pitchFamily="34" charset="0"/>
              </a:endParaRPr>
            </a:p>
          </p:txBody>
        </p:sp>
        <p:sp>
          <p:nvSpPr>
            <p:cNvPr id="25" name="Left Arrow 24">
              <a:extLst>
                <a:ext uri="{FF2B5EF4-FFF2-40B4-BE49-F238E27FC236}">
                  <a16:creationId xmlns:a16="http://schemas.microsoft.com/office/drawing/2014/main" id="{6222DA2E-6155-A0AF-4920-36BD424D97B9}"/>
                </a:ext>
              </a:extLst>
            </p:cNvPr>
            <p:cNvSpPr/>
            <p:nvPr/>
          </p:nvSpPr>
          <p:spPr>
            <a:xfrm rot="17711526">
              <a:off x="6695432" y="2911910"/>
              <a:ext cx="3248844" cy="305913"/>
            </a:xfrm>
            <a:prstGeom prst="leftArrow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de-DE" b="1" i="0" cap="none" spc="0" dirty="0">
                <a:ln>
                  <a:noFill/>
                </a:ln>
                <a:solidFill>
                  <a:schemeClr val="bg2"/>
                </a:solidFill>
                <a:effectLst/>
                <a:latin typeface="+mj-lt"/>
                <a:cs typeface="Arial Narrow" panose="020B0604020202020204" pitchFamily="34" charset="0"/>
              </a:endParaRPr>
            </a:p>
          </p:txBody>
        </p:sp>
        <p:sp>
          <p:nvSpPr>
            <p:cNvPr id="26" name="Left Arrow 25">
              <a:extLst>
                <a:ext uri="{FF2B5EF4-FFF2-40B4-BE49-F238E27FC236}">
                  <a16:creationId xmlns:a16="http://schemas.microsoft.com/office/drawing/2014/main" id="{54E37224-2188-C980-E26F-837A6E7EBEA5}"/>
                </a:ext>
              </a:extLst>
            </p:cNvPr>
            <p:cNvSpPr/>
            <p:nvPr/>
          </p:nvSpPr>
          <p:spPr>
            <a:xfrm rot="11783430">
              <a:off x="8669351" y="1531144"/>
              <a:ext cx="1191179" cy="305913"/>
            </a:xfrm>
            <a:prstGeom prst="leftArrow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de-DE" b="1" i="0" cap="none" spc="0" dirty="0">
                <a:ln>
                  <a:noFill/>
                </a:ln>
                <a:solidFill>
                  <a:schemeClr val="bg2"/>
                </a:solidFill>
                <a:effectLst/>
                <a:latin typeface="+mj-lt"/>
                <a:cs typeface="Arial Narrow" panose="020B0604020202020204" pitchFamily="34" charset="0"/>
              </a:endParaRPr>
            </a:p>
          </p:txBody>
        </p:sp>
        <p:sp>
          <p:nvSpPr>
            <p:cNvPr id="28" name="Left Arrow 27">
              <a:extLst>
                <a:ext uri="{FF2B5EF4-FFF2-40B4-BE49-F238E27FC236}">
                  <a16:creationId xmlns:a16="http://schemas.microsoft.com/office/drawing/2014/main" id="{FDD90F4A-F1A8-7D89-C191-B25DFCC0D83E}"/>
                </a:ext>
              </a:extLst>
            </p:cNvPr>
            <p:cNvSpPr/>
            <p:nvPr/>
          </p:nvSpPr>
          <p:spPr>
            <a:xfrm rot="15283882">
              <a:off x="7782002" y="3197466"/>
              <a:ext cx="3401459" cy="305913"/>
            </a:xfrm>
            <a:prstGeom prst="leftArrow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de-DE" i="0" cap="none" spc="0" dirty="0">
                <a:ln>
                  <a:noFill/>
                </a:ln>
                <a:solidFill>
                  <a:schemeClr val="bg2"/>
                </a:solidFill>
                <a:effectLst/>
                <a:latin typeface="+mj-lt"/>
                <a:cs typeface="Arial Narrow" panose="020B0604020202020204" pitchFamily="34" charset="0"/>
              </a:endParaRPr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A25AFA8A-4283-FB5A-22A1-45AD2FEC14D8}"/>
                </a:ext>
              </a:extLst>
            </p:cNvPr>
            <p:cNvSpPr/>
            <p:nvPr/>
          </p:nvSpPr>
          <p:spPr>
            <a:xfrm>
              <a:off x="8159363" y="1083282"/>
              <a:ext cx="1240221" cy="693683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de-DE" sz="2800" b="1" i="0" cap="none" spc="0" dirty="0">
                  <a:ln>
                    <a:noFill/>
                  </a:ln>
                  <a:solidFill>
                    <a:schemeClr val="tx1"/>
                  </a:solidFill>
                  <a:effectLst/>
                  <a:latin typeface="+mj-lt"/>
                  <a:cs typeface="Arial Narrow" panose="020B0604020202020204" pitchFamily="34" charset="0"/>
                </a:rPr>
                <a:t>Cycle 1</a:t>
              </a:r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79AFFBFE-D3E1-EEC1-817A-717FC0E73FF2}"/>
              </a:ext>
            </a:extLst>
          </p:cNvPr>
          <p:cNvGrpSpPr/>
          <p:nvPr/>
        </p:nvGrpSpPr>
        <p:grpSpPr>
          <a:xfrm>
            <a:off x="111865" y="3962400"/>
            <a:ext cx="2252372" cy="1066573"/>
            <a:chOff x="111865" y="3962400"/>
            <a:chExt cx="2252372" cy="1066573"/>
          </a:xfrm>
        </p:grpSpPr>
        <p:sp>
          <p:nvSpPr>
            <p:cNvPr id="32" name="Left Arrow 31">
              <a:extLst>
                <a:ext uri="{FF2B5EF4-FFF2-40B4-BE49-F238E27FC236}">
                  <a16:creationId xmlns:a16="http://schemas.microsoft.com/office/drawing/2014/main" id="{5B3293CF-E32F-9E01-9666-B1CF09D948BF}"/>
                </a:ext>
              </a:extLst>
            </p:cNvPr>
            <p:cNvSpPr/>
            <p:nvPr/>
          </p:nvSpPr>
          <p:spPr>
            <a:xfrm rot="12677700">
              <a:off x="1251717" y="4605322"/>
              <a:ext cx="1112520" cy="423651"/>
            </a:xfrm>
            <a:prstGeom prst="leftArrow">
              <a:avLst/>
            </a:prstGeom>
            <a:solidFill>
              <a:schemeClr val="accent3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de-DE" b="1" i="0" cap="none" spc="0" dirty="0">
                <a:ln>
                  <a:noFill/>
                </a:ln>
                <a:solidFill>
                  <a:schemeClr val="bg2"/>
                </a:solidFill>
                <a:effectLst/>
                <a:latin typeface="+mj-lt"/>
                <a:cs typeface="Arial Narrow" panose="020B0604020202020204" pitchFamily="34" charset="0"/>
              </a:endParaRPr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86070AF3-1902-EA9E-AF3E-F5328382B88C}"/>
                </a:ext>
              </a:extLst>
            </p:cNvPr>
            <p:cNvSpPr/>
            <p:nvPr/>
          </p:nvSpPr>
          <p:spPr>
            <a:xfrm>
              <a:off x="111865" y="3962400"/>
              <a:ext cx="1884576" cy="963189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 w="76200">
              <a:solidFill>
                <a:schemeClr val="accent3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de-DE" sz="2400" b="1" i="0" cap="none" spc="0" dirty="0">
                  <a:ln>
                    <a:noFill/>
                  </a:ln>
                  <a:solidFill>
                    <a:schemeClr val="tx1"/>
                  </a:solidFill>
                  <a:effectLst/>
                  <a:latin typeface="+mj-lt"/>
                  <a:cs typeface="Arial Narrow" panose="020B0604020202020204" pitchFamily="34" charset="0"/>
                </a:rPr>
                <a:t>Lower Bound:</a:t>
              </a:r>
            </a:p>
            <a:p>
              <a:pPr algn="ctr"/>
              <a:r>
                <a:rPr lang="de-DE" sz="2400" b="1" dirty="0">
                  <a:solidFill>
                    <a:schemeClr val="tx1"/>
                  </a:solidFill>
                  <a:latin typeface="+mj-lt"/>
                  <a:cs typeface="Arial Narrow" panose="020B0604020202020204" pitchFamily="34" charset="0"/>
                </a:rPr>
                <a:t># of </a:t>
              </a:r>
              <a:r>
                <a:rPr lang="de-DE" sz="2400" b="1" dirty="0" err="1">
                  <a:solidFill>
                    <a:schemeClr val="tx1"/>
                  </a:solidFill>
                  <a:latin typeface="+mj-lt"/>
                  <a:cs typeface="Arial Narrow" panose="020B0604020202020204" pitchFamily="34" charset="0"/>
                </a:rPr>
                <a:t>vfmac.s</a:t>
              </a:r>
              <a:endParaRPr lang="de-DE" sz="2400" b="1" i="0" cap="none" spc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cs typeface="Arial Narrow" panose="020B0604020202020204" pitchFamily="34" charset="0"/>
              </a:endParaRPr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A481E092-63CA-4C77-BF22-822E6B74EE74}"/>
              </a:ext>
            </a:extLst>
          </p:cNvPr>
          <p:cNvGrpSpPr/>
          <p:nvPr/>
        </p:nvGrpSpPr>
        <p:grpSpPr>
          <a:xfrm>
            <a:off x="1875166" y="2743176"/>
            <a:ext cx="3347091" cy="1444756"/>
            <a:chOff x="1685638" y="2977073"/>
            <a:chExt cx="3347091" cy="1444756"/>
          </a:xfrm>
        </p:grpSpPr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A4BA4439-0260-AAB6-D961-01BE4FB9E324}"/>
                </a:ext>
              </a:extLst>
            </p:cNvPr>
            <p:cNvSpPr/>
            <p:nvPr/>
          </p:nvSpPr>
          <p:spPr>
            <a:xfrm>
              <a:off x="2960089" y="2977073"/>
              <a:ext cx="2072640" cy="863425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 w="76200">
              <a:solidFill>
                <a:schemeClr val="accent3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de-DE" sz="2400" b="1" dirty="0">
                  <a:solidFill>
                    <a:sysClr val="windowText" lastClr="000000"/>
                  </a:solidFill>
                  <a:latin typeface="+mj-lt"/>
                  <a:cs typeface="Arial Narrow" panose="020B0604020202020204" pitchFamily="34" charset="0"/>
                </a:rPr>
                <a:t>7x </a:t>
              </a:r>
              <a:r>
                <a:rPr lang="de-DE" sz="2400" b="1" dirty="0" err="1">
                  <a:solidFill>
                    <a:sysClr val="windowText" lastClr="000000"/>
                  </a:solidFill>
                  <a:latin typeface="+mj-lt"/>
                  <a:cs typeface="Arial Narrow" panose="020B0604020202020204" pitchFamily="34" charset="0"/>
                </a:rPr>
                <a:t>speedup</a:t>
              </a:r>
              <a:r>
                <a:rPr lang="de-DE" sz="2400" b="1" dirty="0">
                  <a:solidFill>
                    <a:sysClr val="windowText" lastClr="000000"/>
                  </a:solidFill>
                  <a:latin typeface="+mj-lt"/>
                  <a:cs typeface="Arial Narrow" panose="020B0604020202020204" pitchFamily="34" charset="0"/>
                </a:rPr>
                <a:t> </a:t>
              </a:r>
              <a:r>
                <a:rPr lang="de-DE" sz="2400" b="1" dirty="0" err="1">
                  <a:solidFill>
                    <a:sysClr val="windowText" lastClr="000000"/>
                  </a:solidFill>
                  <a:latin typeface="+mj-lt"/>
                  <a:cs typeface="Arial Narrow" panose="020B0604020202020204" pitchFamily="34" charset="0"/>
                </a:rPr>
                <a:t>with</a:t>
              </a:r>
              <a:r>
                <a:rPr lang="de-DE" sz="2400" b="1" dirty="0">
                  <a:solidFill>
                    <a:sysClr val="windowText" lastClr="000000"/>
                  </a:solidFill>
                  <a:latin typeface="+mj-lt"/>
                  <a:cs typeface="Arial Narrow" panose="020B0604020202020204" pitchFamily="34" charset="0"/>
                </a:rPr>
                <a:t> 8 </a:t>
              </a:r>
              <a:r>
                <a:rPr lang="de-DE" sz="2400" b="1" dirty="0" err="1">
                  <a:solidFill>
                    <a:sysClr val="windowText" lastClr="000000"/>
                  </a:solidFill>
                  <a:latin typeface="+mj-lt"/>
                  <a:cs typeface="Arial Narrow" panose="020B0604020202020204" pitchFamily="34" charset="0"/>
                </a:rPr>
                <a:t>cores</a:t>
              </a:r>
              <a:endParaRPr lang="de-DE" sz="2400" b="1" i="0" cap="none" spc="0" dirty="0">
                <a:ln>
                  <a:noFill/>
                </a:ln>
                <a:solidFill>
                  <a:sysClr val="windowText" lastClr="000000"/>
                </a:solidFill>
                <a:effectLst/>
                <a:latin typeface="+mj-lt"/>
                <a:cs typeface="Arial Narrow" panose="020B0604020202020204" pitchFamily="34" charset="0"/>
              </a:endParaRPr>
            </a:p>
          </p:txBody>
        </p:sp>
        <p:sp>
          <p:nvSpPr>
            <p:cNvPr id="35" name="Left Arrow 34">
              <a:extLst>
                <a:ext uri="{FF2B5EF4-FFF2-40B4-BE49-F238E27FC236}">
                  <a16:creationId xmlns:a16="http://schemas.microsoft.com/office/drawing/2014/main" id="{A84A215D-4154-E15E-517B-8B40734E5172}"/>
                </a:ext>
              </a:extLst>
            </p:cNvPr>
            <p:cNvSpPr/>
            <p:nvPr/>
          </p:nvSpPr>
          <p:spPr>
            <a:xfrm rot="12720693">
              <a:off x="1685638" y="3869229"/>
              <a:ext cx="2786917" cy="552600"/>
            </a:xfrm>
            <a:prstGeom prst="leftArrow">
              <a:avLst/>
            </a:prstGeom>
            <a:solidFill>
              <a:schemeClr val="accent3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de-DE" b="1" i="0" cap="none" spc="0" dirty="0">
                <a:ln>
                  <a:noFill/>
                </a:ln>
                <a:solidFill>
                  <a:schemeClr val="bg2"/>
                </a:solidFill>
                <a:effectLst/>
                <a:latin typeface="+mj-lt"/>
                <a:cs typeface="Arial Narrow" panose="020B0604020202020204" pitchFamily="34" charset="0"/>
              </a:endParaRPr>
            </a:p>
          </p:txBody>
        </p:sp>
      </p:grpSp>
      <p:sp>
        <p:nvSpPr>
          <p:cNvPr id="8" name="Rectangle 7">
            <a:extLst>
              <a:ext uri="{FF2B5EF4-FFF2-40B4-BE49-F238E27FC236}">
                <a16:creationId xmlns:a16="http://schemas.microsoft.com/office/drawing/2014/main" id="{4B0AACF4-57C4-774E-6F64-AD148EAA3C14}"/>
              </a:ext>
            </a:extLst>
          </p:cNvPr>
          <p:cNvSpPr/>
          <p:nvPr/>
        </p:nvSpPr>
        <p:spPr>
          <a:xfrm>
            <a:off x="2135292" y="1303412"/>
            <a:ext cx="6450479" cy="243432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76200">
            <a:solidFill>
              <a:schemeClr val="accent5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de-DE" sz="2400" b="1" dirty="0">
                <a:solidFill>
                  <a:sysClr val="windowText" lastClr="000000"/>
                </a:solidFill>
                <a:latin typeface="+mj-lt"/>
                <a:cs typeface="Arial Narrow" panose="020B0604020202020204" pitchFamily="34" charset="0"/>
              </a:rPr>
              <a:t>For </a:t>
            </a:r>
            <a:r>
              <a:rPr lang="de-DE" sz="2400" b="1" dirty="0" err="1">
                <a:solidFill>
                  <a:sysClr val="windowText" lastClr="000000"/>
                </a:solidFill>
                <a:latin typeface="+mj-lt"/>
                <a:cs typeface="Arial Narrow" panose="020B0604020202020204" pitchFamily="34" charset="0"/>
              </a:rPr>
              <a:t>p</a:t>
            </a:r>
            <a:r>
              <a:rPr lang="de-DE" sz="2400" b="1" baseline="30000" dirty="0" err="1">
                <a:solidFill>
                  <a:sysClr val="windowText" lastClr="000000"/>
                </a:solidFill>
                <a:latin typeface="+mj-lt"/>
                <a:cs typeface="Arial Narrow" panose="020B0604020202020204" pitchFamily="34" charset="0"/>
              </a:rPr>
              <a:t>T</a:t>
            </a:r>
            <a:r>
              <a:rPr lang="de-DE" sz="2400" b="1" dirty="0" err="1">
                <a:solidFill>
                  <a:sysClr val="windowText" lastClr="000000"/>
                </a:solidFill>
                <a:latin typeface="+mj-lt"/>
                <a:cs typeface="Arial Narrow" panose="020B0604020202020204" pitchFamily="34" charset="0"/>
              </a:rPr>
              <a:t>V</a:t>
            </a:r>
            <a:r>
              <a:rPr lang="de-DE" sz="2400" b="1" dirty="0">
                <a:solidFill>
                  <a:sysClr val="windowText" lastClr="000000"/>
                </a:solidFill>
                <a:latin typeface="+mj-lt"/>
                <a:cs typeface="Arial Narrow" panose="020B0604020202020204" pitchFamily="34" charset="0"/>
              </a:rPr>
              <a:t> </a:t>
            </a:r>
            <a:r>
              <a:rPr lang="de-DE" sz="2400" b="1" dirty="0" err="1">
                <a:solidFill>
                  <a:sysClr val="windowText" lastClr="000000"/>
                </a:solidFill>
                <a:latin typeface="+mj-lt"/>
                <a:cs typeface="Arial Narrow" panose="020B0604020202020204" pitchFamily="34" charset="0"/>
              </a:rPr>
              <a:t>we</a:t>
            </a:r>
            <a:r>
              <a:rPr lang="de-DE" sz="2400" b="1" dirty="0">
                <a:solidFill>
                  <a:sysClr val="windowText" lastClr="000000"/>
                </a:solidFill>
                <a:latin typeface="+mj-lt"/>
                <a:cs typeface="Arial Narrow" panose="020B0604020202020204" pitchFamily="34" charset="0"/>
              </a:rPr>
              <a:t> </a:t>
            </a:r>
            <a:r>
              <a:rPr lang="de-DE" sz="2400" b="1" dirty="0" err="1">
                <a:solidFill>
                  <a:sysClr val="windowText" lastClr="000000"/>
                </a:solidFill>
                <a:latin typeface="+mj-lt"/>
                <a:cs typeface="Arial Narrow" panose="020B0604020202020204" pitchFamily="34" charset="0"/>
              </a:rPr>
              <a:t>parallelize</a:t>
            </a:r>
            <a:r>
              <a:rPr lang="de-DE" sz="2400" b="1" dirty="0">
                <a:solidFill>
                  <a:sysClr val="windowText" lastClr="000000"/>
                </a:solidFill>
                <a:latin typeface="+mj-lt"/>
                <a:cs typeface="Arial Narrow" panose="020B0604020202020204" pitchFamily="34" charset="0"/>
              </a:rPr>
              <a:t> </a:t>
            </a:r>
            <a:r>
              <a:rPr lang="de-DE" sz="2400" b="1" dirty="0" err="1">
                <a:solidFill>
                  <a:sysClr val="windowText" lastClr="000000"/>
                </a:solidFill>
                <a:latin typeface="+mj-lt"/>
                <a:cs typeface="Arial Narrow" panose="020B0604020202020204" pitchFamily="34" charset="0"/>
              </a:rPr>
              <a:t>over</a:t>
            </a:r>
            <a:r>
              <a:rPr lang="de-DE" sz="2400" b="1" dirty="0">
                <a:solidFill>
                  <a:sysClr val="windowText" lastClr="000000"/>
                </a:solidFill>
                <a:latin typeface="+mj-lt"/>
                <a:cs typeface="Arial Narrow" panose="020B0604020202020204" pitchFamily="34" charset="0"/>
              </a:rPr>
              <a:t> </a:t>
            </a:r>
            <a:r>
              <a:rPr lang="de-DE" sz="2400" b="1" dirty="0" err="1">
                <a:solidFill>
                  <a:sysClr val="windowText" lastClr="000000"/>
                </a:solidFill>
                <a:latin typeface="+mj-lt"/>
                <a:cs typeface="Arial Narrow" panose="020B0604020202020204" pitchFamily="34" charset="0"/>
              </a:rPr>
              <a:t>output</a:t>
            </a:r>
            <a:r>
              <a:rPr lang="de-DE" sz="2400" b="1" dirty="0">
                <a:solidFill>
                  <a:sysClr val="windowText" lastClr="000000"/>
                </a:solidFill>
                <a:latin typeface="+mj-lt"/>
                <a:cs typeface="Arial Narrow" panose="020B0604020202020204" pitchFamily="34" charset="0"/>
              </a:rPr>
              <a:t> </a:t>
            </a:r>
            <a:r>
              <a:rPr lang="de-DE" sz="2400" b="1" dirty="0" err="1">
                <a:solidFill>
                  <a:sysClr val="windowText" lastClr="000000"/>
                </a:solidFill>
                <a:latin typeface="+mj-lt"/>
                <a:cs typeface="Arial Narrow" panose="020B0604020202020204" pitchFamily="34" charset="0"/>
              </a:rPr>
              <a:t>dimension</a:t>
            </a:r>
            <a:r>
              <a:rPr lang="de-DE" sz="2400" b="1" dirty="0">
                <a:solidFill>
                  <a:sysClr val="windowText" lastClr="000000"/>
                </a:solidFill>
                <a:latin typeface="+mj-lt"/>
                <a:cs typeface="Arial Narrow" panose="020B0604020202020204" pitchFamily="34" charset="0"/>
              </a:rPr>
              <a:t> d</a:t>
            </a:r>
          </a:p>
          <a:p>
            <a:pPr algn="ctr"/>
            <a:endParaRPr lang="de-DE" sz="2400" b="1" dirty="0">
              <a:solidFill>
                <a:sysClr val="windowText" lastClr="000000"/>
              </a:solidFill>
              <a:latin typeface="+mj-lt"/>
              <a:cs typeface="Arial Narrow" panose="020B0604020202020204" pitchFamily="34" charset="0"/>
            </a:endParaRPr>
          </a:p>
          <a:p>
            <a:pPr algn="ctr"/>
            <a:r>
              <a:rPr lang="de-DE" sz="2400" b="1" dirty="0">
                <a:solidFill>
                  <a:sysClr val="windowText" lastClr="000000"/>
                </a:solidFill>
                <a:latin typeface="+mj-lt"/>
                <a:cs typeface="Arial Narrow" panose="020B0604020202020204" pitchFamily="34" charset="0"/>
              </a:rPr>
              <a:t>The </a:t>
            </a:r>
            <a:r>
              <a:rPr lang="de-DE" sz="2400" b="1" dirty="0" err="1">
                <a:solidFill>
                  <a:sysClr val="windowText" lastClr="000000"/>
                </a:solidFill>
                <a:latin typeface="+mj-lt"/>
                <a:cs typeface="Arial Narrow" panose="020B0604020202020204" pitchFamily="34" charset="0"/>
              </a:rPr>
              <a:t>access</a:t>
            </a:r>
            <a:r>
              <a:rPr lang="de-DE" sz="2400" b="1" dirty="0">
                <a:solidFill>
                  <a:sysClr val="windowText" lastClr="000000"/>
                </a:solidFill>
                <a:latin typeface="+mj-lt"/>
                <a:cs typeface="Arial Narrow" panose="020B0604020202020204" pitchFamily="34" charset="0"/>
              </a:rPr>
              <a:t> </a:t>
            </a:r>
            <a:r>
              <a:rPr lang="de-DE" sz="2400" b="1" dirty="0" err="1">
                <a:solidFill>
                  <a:sysClr val="windowText" lastClr="000000"/>
                </a:solidFill>
                <a:latin typeface="+mj-lt"/>
                <a:cs typeface="Arial Narrow" panose="020B0604020202020204" pitchFamily="34" charset="0"/>
              </a:rPr>
              <a:t>pattern</a:t>
            </a:r>
            <a:r>
              <a:rPr lang="de-DE" sz="2400" b="1" dirty="0">
                <a:solidFill>
                  <a:sysClr val="windowText" lastClr="000000"/>
                </a:solidFill>
                <a:latin typeface="+mj-lt"/>
                <a:cs typeface="Arial Narrow" panose="020B0604020202020204" pitchFamily="34" charset="0"/>
              </a:rPr>
              <a:t> </a:t>
            </a:r>
            <a:r>
              <a:rPr lang="de-DE" sz="2400" b="1" dirty="0" err="1">
                <a:solidFill>
                  <a:sysClr val="windowText" lastClr="000000"/>
                </a:solidFill>
                <a:latin typeface="+mj-lt"/>
                <a:cs typeface="Arial Narrow" panose="020B0604020202020204" pitchFamily="34" charset="0"/>
              </a:rPr>
              <a:t>is</a:t>
            </a:r>
            <a:r>
              <a:rPr lang="de-DE" sz="2400" b="1" dirty="0">
                <a:solidFill>
                  <a:sysClr val="windowText" lastClr="000000"/>
                </a:solidFill>
                <a:latin typeface="+mj-lt"/>
                <a:cs typeface="Arial Narrow" panose="020B0604020202020204" pitchFamily="34" charset="0"/>
              </a:rPr>
              <a:t> </a:t>
            </a:r>
            <a:r>
              <a:rPr lang="de-DE" sz="2400" b="1" dirty="0" err="1">
                <a:solidFill>
                  <a:sysClr val="windowText" lastClr="000000"/>
                </a:solidFill>
                <a:latin typeface="+mj-lt"/>
                <a:cs typeface="Arial Narrow" panose="020B0604020202020204" pitchFamily="34" charset="0"/>
              </a:rPr>
              <a:t>already</a:t>
            </a:r>
            <a:r>
              <a:rPr lang="de-DE" sz="2400" b="1" dirty="0">
                <a:solidFill>
                  <a:sysClr val="windowText" lastClr="000000"/>
                </a:solidFill>
                <a:latin typeface="+mj-lt"/>
                <a:cs typeface="Arial Narrow" panose="020B0604020202020204" pitchFamily="34" charset="0"/>
              </a:rPr>
              <a:t> bank-</a:t>
            </a:r>
            <a:r>
              <a:rPr lang="de-DE" sz="2400" b="1" dirty="0" err="1">
                <a:solidFill>
                  <a:sysClr val="windowText" lastClr="000000"/>
                </a:solidFill>
                <a:latin typeface="+mj-lt"/>
                <a:cs typeface="Arial Narrow" panose="020B0604020202020204" pitchFamily="34" charset="0"/>
              </a:rPr>
              <a:t>friendly</a:t>
            </a:r>
            <a:r>
              <a:rPr lang="de-DE" sz="2400" b="1" dirty="0">
                <a:solidFill>
                  <a:sysClr val="windowText" lastClr="000000"/>
                </a:solidFill>
                <a:latin typeface="+mj-lt"/>
                <a:cs typeface="Arial Narrow" panose="020B0604020202020204" pitchFamily="34" charset="0"/>
              </a:rPr>
              <a:t> </a:t>
            </a:r>
            <a:endParaRPr lang="de-DE" sz="2400" b="1" i="0" cap="none" spc="0" dirty="0">
              <a:ln>
                <a:noFill/>
              </a:ln>
              <a:solidFill>
                <a:sysClr val="windowText" lastClr="000000"/>
              </a:solidFill>
              <a:effectLst/>
              <a:latin typeface="+mj-lt"/>
              <a:cs typeface="Arial Narrow" panose="020B0604020202020204" pitchFamily="34" charset="0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1D2CD52D-31AD-EC97-5C4F-9561A8DAF5BA}"/>
              </a:ext>
            </a:extLst>
          </p:cNvPr>
          <p:cNvGrpSpPr/>
          <p:nvPr/>
        </p:nvGrpSpPr>
        <p:grpSpPr>
          <a:xfrm>
            <a:off x="3400641" y="3832253"/>
            <a:ext cx="2793388" cy="1391596"/>
            <a:chOff x="3400641" y="3832253"/>
            <a:chExt cx="2793388" cy="1391596"/>
          </a:xfrm>
        </p:grpSpPr>
        <p:sp>
          <p:nvSpPr>
            <p:cNvPr id="9" name="Left Arrow 8">
              <a:extLst>
                <a:ext uri="{FF2B5EF4-FFF2-40B4-BE49-F238E27FC236}">
                  <a16:creationId xmlns:a16="http://schemas.microsoft.com/office/drawing/2014/main" id="{4BCCAB83-C749-B359-5254-B75CEF9AE23C}"/>
                </a:ext>
              </a:extLst>
            </p:cNvPr>
            <p:cNvSpPr/>
            <p:nvPr/>
          </p:nvSpPr>
          <p:spPr>
            <a:xfrm rot="12795875">
              <a:off x="3400641" y="4734598"/>
              <a:ext cx="638938" cy="489251"/>
            </a:xfrm>
            <a:prstGeom prst="leftArrow">
              <a:avLst/>
            </a:prstGeom>
            <a:solidFill>
              <a:schemeClr val="accent3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de-DE" b="1" i="0" cap="none" spc="0" dirty="0">
                <a:ln>
                  <a:noFill/>
                </a:ln>
                <a:solidFill>
                  <a:schemeClr val="bg2"/>
                </a:solidFill>
                <a:effectLst/>
                <a:latin typeface="+mj-lt"/>
                <a:cs typeface="Arial Narrow" panose="020B0604020202020204" pitchFamily="34" charset="0"/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3EC3A0BF-8DA0-52E8-16BE-1D410A76B8EE}"/>
                </a:ext>
              </a:extLst>
            </p:cNvPr>
            <p:cNvSpPr/>
            <p:nvPr/>
          </p:nvSpPr>
          <p:spPr>
            <a:xfrm>
              <a:off x="3685958" y="3832253"/>
              <a:ext cx="2508071" cy="849982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 w="76200">
              <a:solidFill>
                <a:schemeClr val="accent3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de-DE" b="1" dirty="0">
                  <a:solidFill>
                    <a:sysClr val="windowText" lastClr="000000"/>
                  </a:solidFill>
                  <a:latin typeface="+mj-lt"/>
                  <a:cs typeface="Arial Narrow" panose="020B0604020202020204" pitchFamily="34" charset="0"/>
                </a:rPr>
                <a:t>2.2x </a:t>
              </a:r>
              <a:r>
                <a:rPr lang="de-DE" b="1" dirty="0" err="1">
                  <a:solidFill>
                    <a:sysClr val="windowText" lastClr="000000"/>
                  </a:solidFill>
                  <a:latin typeface="+mj-lt"/>
                  <a:cs typeface="Arial Narrow" panose="020B0604020202020204" pitchFamily="34" charset="0"/>
                </a:rPr>
                <a:t>Speedup</a:t>
              </a:r>
              <a:r>
                <a:rPr lang="de-DE" b="1" dirty="0">
                  <a:solidFill>
                    <a:sysClr val="windowText" lastClr="000000"/>
                  </a:solidFill>
                  <a:latin typeface="+mj-lt"/>
                  <a:cs typeface="Arial Narrow" panose="020B0604020202020204" pitchFamily="34" charset="0"/>
                </a:rPr>
                <a:t> Through Bank Placement</a:t>
              </a:r>
              <a:endParaRPr lang="de-DE" b="1" i="0" cap="none" spc="0" dirty="0">
                <a:ln>
                  <a:noFill/>
                </a:ln>
                <a:solidFill>
                  <a:sysClr val="windowText" lastClr="000000"/>
                </a:solidFill>
                <a:effectLst/>
                <a:latin typeface="+mj-lt"/>
                <a:cs typeface="Arial Narrow" panose="020B0604020202020204" pitchFamily="34" charset="0"/>
              </a:endParaRPr>
            </a:p>
          </p:txBody>
        </p:sp>
      </p:grpSp>
      <p:sp>
        <p:nvSpPr>
          <p:cNvPr id="3" name="Rectangle 2">
            <a:extLst>
              <a:ext uri="{FF2B5EF4-FFF2-40B4-BE49-F238E27FC236}">
                <a16:creationId xmlns:a16="http://schemas.microsoft.com/office/drawing/2014/main" id="{D35B42FA-31D5-CE9C-EA60-97965405C10C}"/>
              </a:ext>
            </a:extLst>
          </p:cNvPr>
          <p:cNvSpPr/>
          <p:nvPr/>
        </p:nvSpPr>
        <p:spPr>
          <a:xfrm>
            <a:off x="1405897" y="980533"/>
            <a:ext cx="8858757" cy="445971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76200">
            <a:solidFill>
              <a:schemeClr val="accent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de-DE" sz="3600" b="1" i="0" cap="none" spc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cs typeface="Arial Narrow" panose="020B0604020202020204" pitchFamily="34" charset="0"/>
              </a:rPr>
              <a:t>Scalar </a:t>
            </a:r>
            <a:r>
              <a:rPr lang="de-DE" sz="3600" b="1" i="0" cap="none" spc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  <a:cs typeface="Arial Narrow" panose="020B0604020202020204" pitchFamily="34" charset="0"/>
              </a:rPr>
              <a:t>expf</a:t>
            </a:r>
            <a:r>
              <a:rPr lang="de-DE" sz="3600" b="1" i="0" cap="none" spc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cs typeface="Arial Narrow" panose="020B0604020202020204" pitchFamily="34" charset="0"/>
              </a:rPr>
              <a:t> </a:t>
            </a:r>
            <a:r>
              <a:rPr lang="de-DE" sz="3600" b="1" i="0" cap="none" spc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  <a:cs typeface="Arial Narrow" panose="020B0604020202020204" pitchFamily="34" charset="0"/>
              </a:rPr>
              <a:t>now</a:t>
            </a:r>
            <a:r>
              <a:rPr lang="de-DE" sz="3600" b="1" i="0" cap="none" spc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cs typeface="Arial Narrow" panose="020B0604020202020204" pitchFamily="34" charset="0"/>
              </a:rPr>
              <a:t> </a:t>
            </a:r>
            <a:r>
              <a:rPr lang="de-DE" sz="3600" b="1" i="0" cap="none" spc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  <a:cs typeface="Arial Narrow" panose="020B0604020202020204" pitchFamily="34" charset="0"/>
              </a:rPr>
              <a:t>dominates</a:t>
            </a:r>
            <a:r>
              <a:rPr lang="de-DE" sz="3600" b="1" i="0" cap="none" spc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cs typeface="Arial Narrow" panose="020B0604020202020204" pitchFamily="34" charset="0"/>
              </a:rPr>
              <a:t> </a:t>
            </a:r>
            <a:r>
              <a:rPr lang="de-DE" sz="3600" b="1" i="0" cap="none" spc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  <a:cs typeface="Arial Narrow" panose="020B0604020202020204" pitchFamily="34" charset="0"/>
              </a:rPr>
              <a:t>runtime</a:t>
            </a:r>
            <a:r>
              <a:rPr lang="de-DE" sz="3600" b="1" i="0" cap="none" spc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cs typeface="Arial Narrow" panose="020B0604020202020204" pitchFamily="34" charset="0"/>
              </a:rPr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25046054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3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63356450-7BD7-D5B7-CB79-4AA1918EB1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A31954-5274-4EE2-753C-3397C2E188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/>
              <a:t>Optimization 2 — Vectorized Online Softmax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136F77-D12E-E769-59D4-D3C8EC7FBEA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99071" y="1007577"/>
            <a:ext cx="5813633" cy="5220000"/>
          </a:xfrm>
        </p:spPr>
        <p:txBody>
          <a:bodyPr vert="horz" lIns="0" tIns="46800" rIns="0" bIns="45720" rtlCol="0" anchor="t">
            <a:noAutofit/>
          </a:bodyPr>
          <a:lstStyle/>
          <a:p>
            <a:r>
              <a:rPr lang="de-DE" sz="2000">
                <a:ea typeface="+mn-lt"/>
                <a:cs typeface="+mn-lt"/>
              </a:rPr>
              <a:t>Range-</a:t>
            </a:r>
            <a:r>
              <a:rPr lang="de-DE" sz="2000" err="1">
                <a:ea typeface="+mn-lt"/>
                <a:cs typeface="+mn-lt"/>
              </a:rPr>
              <a:t>reduced</a:t>
            </a:r>
            <a:r>
              <a:rPr lang="de-DE" sz="2000">
                <a:ea typeface="+mn-lt"/>
                <a:cs typeface="+mn-lt"/>
              </a:rPr>
              <a:t> </a:t>
            </a:r>
            <a:r>
              <a:rPr lang="de-DE" sz="2000" err="1">
                <a:ea typeface="+mn-lt"/>
                <a:cs typeface="+mn-lt"/>
              </a:rPr>
              <a:t>exponential</a:t>
            </a:r>
            <a:r>
              <a:rPr lang="de-DE" sz="2000">
                <a:ea typeface="+mn-lt"/>
                <a:cs typeface="+mn-lt"/>
              </a:rPr>
              <a:t>: LUT + polynomial </a:t>
            </a:r>
            <a:r>
              <a:rPr lang="de-DE" sz="2000" err="1">
                <a:ea typeface="+mn-lt"/>
                <a:cs typeface="+mn-lt"/>
              </a:rPr>
              <a:t>approximation</a:t>
            </a:r>
            <a:endParaRPr lang="de-DE" sz="2000">
              <a:ea typeface="+mn-lt"/>
              <a:cs typeface="+mn-lt"/>
            </a:endParaRPr>
          </a:p>
          <a:p>
            <a:pPr lvl="1"/>
            <a:r>
              <a:rPr lang="de-DE" sz="1600">
                <a:ea typeface="+mn-lt"/>
                <a:cs typeface="+mn-lt"/>
              </a:rPr>
              <a:t>LUT + </a:t>
            </a:r>
            <a:r>
              <a:rPr lang="de-DE" sz="1600" err="1">
                <a:ea typeface="+mn-lt"/>
                <a:cs typeface="+mn-lt"/>
              </a:rPr>
              <a:t>constants</a:t>
            </a:r>
            <a:r>
              <a:rPr lang="de-DE" sz="1600">
                <a:ea typeface="+mn-lt"/>
                <a:cs typeface="+mn-lt"/>
              </a:rPr>
              <a:t> </a:t>
            </a:r>
            <a:r>
              <a:rPr lang="de-DE" sz="1600" err="1">
                <a:ea typeface="+mn-lt"/>
                <a:cs typeface="+mn-lt"/>
              </a:rPr>
              <a:t>staged</a:t>
            </a:r>
            <a:r>
              <a:rPr lang="de-DE" sz="1600">
                <a:ea typeface="+mn-lt"/>
                <a:cs typeface="+mn-lt"/>
              </a:rPr>
              <a:t> in TCDM</a:t>
            </a:r>
          </a:p>
          <a:p>
            <a:r>
              <a:rPr lang="de-DE" sz="2000">
                <a:ea typeface="+mn-lt"/>
                <a:cs typeface="+mn-lt"/>
              </a:rPr>
              <a:t>SSR/FREP </a:t>
            </a:r>
            <a:r>
              <a:rPr lang="de-DE" sz="2000" err="1">
                <a:ea typeface="+mn-lt"/>
                <a:cs typeface="+mn-lt"/>
              </a:rPr>
              <a:t>pipeline</a:t>
            </a:r>
            <a:r>
              <a:rPr lang="de-DE" sz="2000">
                <a:ea typeface="+mn-lt"/>
                <a:cs typeface="+mn-lt"/>
              </a:rPr>
              <a:t> </a:t>
            </a:r>
            <a:r>
              <a:rPr lang="de-DE" sz="2000" err="1">
                <a:ea typeface="+mn-lt"/>
                <a:cs typeface="+mn-lt"/>
              </a:rPr>
              <a:t>processes</a:t>
            </a:r>
            <a:r>
              <a:rPr lang="de-DE" sz="2000">
                <a:ea typeface="+mn-lt"/>
                <a:cs typeface="+mn-lt"/>
              </a:rPr>
              <a:t> </a:t>
            </a:r>
            <a:r>
              <a:rPr lang="de-DE" sz="2000" err="1">
                <a:ea typeface="+mn-lt"/>
                <a:cs typeface="+mn-lt"/>
              </a:rPr>
              <a:t>independent</a:t>
            </a:r>
            <a:r>
              <a:rPr lang="de-DE" sz="2000">
                <a:ea typeface="+mn-lt"/>
                <a:cs typeface="+mn-lt"/>
              </a:rPr>
              <a:t> </a:t>
            </a:r>
            <a:r>
              <a:rPr lang="de-DE" sz="2000" err="1">
                <a:ea typeface="+mn-lt"/>
                <a:cs typeface="+mn-lt"/>
              </a:rPr>
              <a:t>exponentials</a:t>
            </a:r>
            <a:r>
              <a:rPr lang="de-DE" sz="2000">
                <a:ea typeface="+mn-lt"/>
                <a:cs typeface="+mn-lt"/>
              </a:rPr>
              <a:t> in parallel</a:t>
            </a:r>
          </a:p>
          <a:p>
            <a:r>
              <a:rPr lang="de-DE" sz="2000" b="0">
                <a:ea typeface="+mn-lt"/>
                <a:cs typeface="+mn-lt"/>
              </a:rPr>
              <a:t>Fuse </a:t>
            </a:r>
            <a:r>
              <a:rPr lang="de-DE" sz="2000" err="1">
                <a:ea typeface="+mn-lt"/>
                <a:cs typeface="+mn-lt"/>
              </a:rPr>
              <a:t>Softmax</a:t>
            </a:r>
            <a:r>
              <a:rPr lang="de-DE" sz="2000">
                <a:ea typeface="+mn-lt"/>
                <a:cs typeface="+mn-lt"/>
              </a:rPr>
              <a:t> Pₜ </a:t>
            </a:r>
            <a:r>
              <a:rPr lang="de-DE" sz="2000" b="0">
                <a:ea typeface="+mn-lt"/>
                <a:cs typeface="+mn-lt"/>
              </a:rPr>
              <a:t>and </a:t>
            </a:r>
            <a:r>
              <a:rPr lang="de-DE" sz="2000" b="0" err="1">
                <a:ea typeface="+mn-lt"/>
                <a:cs typeface="+mn-lt"/>
              </a:rPr>
              <a:t>rescaling</a:t>
            </a:r>
            <a:r>
              <a:rPr lang="de-DE" sz="2000" b="0">
                <a:ea typeface="+mn-lt"/>
                <a:cs typeface="+mn-lt"/>
              </a:rPr>
              <a:t> </a:t>
            </a:r>
            <a:r>
              <a:rPr lang="de-DE" sz="2000" b="0" err="1">
                <a:ea typeface="+mn-lt"/>
                <a:cs typeface="+mn-lt"/>
              </a:rPr>
              <a:t>factor</a:t>
            </a:r>
            <a:r>
              <a:rPr lang="de-DE" sz="2000" b="0">
                <a:ea typeface="+mn-lt"/>
                <a:cs typeface="+mn-lt"/>
              </a:rPr>
              <a:t> </a:t>
            </a:r>
            <a:r>
              <a:rPr lang="el-GR" sz="2000">
                <a:ea typeface="+mn-lt"/>
                <a:cs typeface="+mn-lt"/>
              </a:rPr>
              <a:t>α</a:t>
            </a:r>
            <a:r>
              <a:rPr lang="de-DE" sz="2000">
                <a:ea typeface="+mn-lt"/>
                <a:cs typeface="+mn-lt"/>
              </a:rPr>
              <a:t>ₜ</a:t>
            </a:r>
            <a:r>
              <a:rPr lang="de-DE" sz="2000" b="0">
                <a:ea typeface="+mn-lt"/>
                <a:cs typeface="+mn-lt"/>
              </a:rPr>
              <a:t> </a:t>
            </a:r>
            <a:r>
              <a:rPr lang="de-DE" sz="2000" b="0" err="1">
                <a:ea typeface="+mn-lt"/>
                <a:cs typeface="+mn-lt"/>
              </a:rPr>
              <a:t>into</a:t>
            </a:r>
            <a:r>
              <a:rPr lang="de-DE" sz="2000" b="0">
                <a:ea typeface="+mn-lt"/>
                <a:cs typeface="+mn-lt"/>
              </a:rPr>
              <a:t> </a:t>
            </a:r>
            <a:r>
              <a:rPr lang="de-DE" sz="2000" b="0" err="1">
                <a:ea typeface="+mn-lt"/>
                <a:cs typeface="+mn-lt"/>
              </a:rPr>
              <a:t>one</a:t>
            </a:r>
            <a:r>
              <a:rPr lang="de-DE" sz="2000" b="0">
                <a:ea typeface="+mn-lt"/>
                <a:cs typeface="+mn-lt"/>
              </a:rPr>
              <a:t> </a:t>
            </a:r>
            <a:r>
              <a:rPr lang="de-DE" sz="2000" err="1">
                <a:ea typeface="+mn-lt"/>
                <a:cs typeface="+mn-lt"/>
              </a:rPr>
              <a:t>vector</a:t>
            </a:r>
            <a:r>
              <a:rPr lang="de-DE" sz="2000">
                <a:ea typeface="+mn-lt"/>
                <a:cs typeface="+mn-lt"/>
              </a:rPr>
              <a:t> </a:t>
            </a:r>
            <a:r>
              <a:rPr lang="de-DE" sz="2000" err="1">
                <a:ea typeface="+mn-lt"/>
                <a:cs typeface="+mn-lt"/>
              </a:rPr>
              <a:t>call</a:t>
            </a:r>
            <a:endParaRPr lang="de-DE" sz="2000">
              <a:ea typeface="+mn-lt"/>
              <a:cs typeface="+mn-lt"/>
            </a:endParaRPr>
          </a:p>
          <a:p>
            <a:r>
              <a:rPr lang="de-DE" sz="2000">
                <a:ea typeface="+mn-lt"/>
                <a:cs typeface="+mn-lt"/>
              </a:rPr>
              <a:t>Pad to </a:t>
            </a:r>
            <a:r>
              <a:rPr lang="de-DE" sz="2000" err="1">
                <a:ea typeface="+mn-lt"/>
                <a:cs typeface="+mn-lt"/>
              </a:rPr>
              <a:t>vector</a:t>
            </a:r>
            <a:r>
              <a:rPr lang="de-DE" sz="2000">
                <a:ea typeface="+mn-lt"/>
                <a:cs typeface="+mn-lt"/>
              </a:rPr>
              <a:t> </a:t>
            </a:r>
            <a:r>
              <a:rPr lang="de-DE" sz="2000" err="1">
                <a:ea typeface="+mn-lt"/>
                <a:cs typeface="+mn-lt"/>
              </a:rPr>
              <a:t>granularity</a:t>
            </a:r>
            <a:endParaRPr lang="de-DE" sz="2000">
              <a:ea typeface="+mn-lt"/>
              <a:cs typeface="+mn-lt"/>
            </a:endParaRPr>
          </a:p>
          <a:p>
            <a:pPr lvl="1"/>
            <a:r>
              <a:rPr lang="de-DE" sz="1600" err="1">
                <a:ea typeface="+mn-lt"/>
                <a:cs typeface="+mn-lt"/>
              </a:rPr>
              <a:t>no</a:t>
            </a:r>
            <a:r>
              <a:rPr lang="de-DE" sz="1600">
                <a:ea typeface="+mn-lt"/>
                <a:cs typeface="+mn-lt"/>
              </a:rPr>
              <a:t> </a:t>
            </a:r>
            <a:r>
              <a:rPr lang="de-DE" sz="1600" err="1">
                <a:ea typeface="+mn-lt"/>
                <a:cs typeface="+mn-lt"/>
              </a:rPr>
              <a:t>scalar</a:t>
            </a:r>
            <a:r>
              <a:rPr lang="de-DE" sz="1600">
                <a:ea typeface="+mn-lt"/>
                <a:cs typeface="+mn-lt"/>
              </a:rPr>
              <a:t> </a:t>
            </a:r>
            <a:r>
              <a:rPr lang="de-DE" sz="1600" err="1">
                <a:ea typeface="+mn-lt"/>
                <a:cs typeface="+mn-lt"/>
              </a:rPr>
              <a:t>expf</a:t>
            </a:r>
            <a:r>
              <a:rPr lang="de-DE" sz="1600">
                <a:ea typeface="+mn-lt"/>
                <a:cs typeface="+mn-lt"/>
              </a:rPr>
              <a:t> </a:t>
            </a:r>
            <a:r>
              <a:rPr lang="de-DE" sz="1600" err="1">
                <a:ea typeface="+mn-lt"/>
                <a:cs typeface="+mn-lt"/>
              </a:rPr>
              <a:t>fallback</a:t>
            </a:r>
            <a:endParaRPr lang="de-DE"/>
          </a:p>
          <a:p>
            <a:pPr lvl="1"/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58FA06-4336-49A7-677D-FD6414AC4602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de-DE"/>
              <a:t>SoC DaML Mini Project Presentation Lars Kröger, 20.08.2026</a:t>
            </a: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4B99583-6979-BAB5-DEA9-86C404C56B9C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33867F2A-E750-44E7-A740-D3E09DF683AD}" type="slidenum">
              <a:rPr lang="en-US" smtClean="0"/>
              <a:pPr/>
              <a:t>10</a:t>
            </a:fld>
            <a:endParaRPr lang="en-US"/>
          </a:p>
        </p:txBody>
      </p:sp>
      <p:pic>
        <p:nvPicPr>
          <p:cNvPr id="7" name="Picture 6" descr="A diagram of a mathematical equation&#10;&#10;AI-generated content may be incorrect.">
            <a:extLst>
              <a:ext uri="{FF2B5EF4-FFF2-40B4-BE49-F238E27FC236}">
                <a16:creationId xmlns:a16="http://schemas.microsoft.com/office/drawing/2014/main" id="{DD061C96-9D00-368E-D717-9DAE46275A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6986" y="1419433"/>
            <a:ext cx="4613068" cy="3784166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5F46F236-A40E-7622-1ADA-C5633FF2E664}"/>
              </a:ext>
            </a:extLst>
          </p:cNvPr>
          <p:cNvSpPr/>
          <p:nvPr/>
        </p:nvSpPr>
        <p:spPr>
          <a:xfrm>
            <a:off x="7342003" y="744659"/>
            <a:ext cx="2385814" cy="106383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76200">
            <a:solidFill>
              <a:schemeClr val="accent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de-DE" sz="2000" b="1" i="0" cap="none" spc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cs typeface="Arial Narrow" panose="020B0604020202020204" pitchFamily="34" charset="0"/>
              </a:rPr>
              <a:t>Scalar </a:t>
            </a:r>
            <a:r>
              <a:rPr lang="de-DE" sz="2000" b="1" i="0" cap="none" spc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  <a:cs typeface="Arial Narrow" panose="020B0604020202020204" pitchFamily="34" charset="0"/>
              </a:rPr>
              <a:t>expf</a:t>
            </a:r>
            <a:r>
              <a:rPr lang="de-DE" sz="2000" b="1" i="0" cap="none" spc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cs typeface="Arial Narrow" panose="020B0604020202020204" pitchFamily="34" charset="0"/>
              </a:rPr>
              <a:t> </a:t>
            </a:r>
            <a:r>
              <a:rPr lang="de-DE" sz="2000" b="1" i="0" cap="none" spc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  <a:cs typeface="Arial Narrow" panose="020B0604020202020204" pitchFamily="34" charset="0"/>
              </a:rPr>
              <a:t>dominates</a:t>
            </a:r>
            <a:r>
              <a:rPr lang="de-DE" sz="2000" b="1" i="0" cap="none" spc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cs typeface="Arial Narrow" panose="020B0604020202020204" pitchFamily="34" charset="0"/>
              </a:rPr>
              <a:t> </a:t>
            </a:r>
            <a:r>
              <a:rPr lang="de-DE" sz="2000" b="1" i="0" cap="none" spc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  <a:cs typeface="Arial Narrow" panose="020B0604020202020204" pitchFamily="34" charset="0"/>
              </a:rPr>
              <a:t>runtime</a:t>
            </a:r>
            <a:r>
              <a:rPr lang="de-DE" sz="2000" b="1" i="0" cap="none" spc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cs typeface="Arial Narrow" panose="020B0604020202020204" pitchFamily="34" charset="0"/>
              </a:rPr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9294040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2FEE95-1185-B96B-2DC6-2C004D39DD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25CAB0-5F88-FE86-CD72-0DB34A3491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Optimization 3 — Vectorized Online Softmax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E10C0D5-6CA2-B1A0-1795-5DCD3C49ED11}"/>
                  </a:ext>
                </a:extLst>
              </p:cNvPr>
              <p:cNvSpPr>
                <a:spLocks noGrp="1"/>
              </p:cNvSpPr>
              <p:nvPr>
                <p:ph sz="quarter" idx="13"/>
              </p:nvPr>
            </p:nvSpPr>
            <p:spPr>
              <a:xfrm>
                <a:off x="245092" y="742219"/>
                <a:ext cx="5958854" cy="4178786"/>
              </a:xfrm>
            </p:spPr>
            <p:txBody>
              <a:bodyPr vert="horz" lIns="0" tIns="46800" rIns="0" bIns="45720" rtlCol="0" anchor="t">
                <a:noAutofit/>
              </a:bodyPr>
              <a:lstStyle/>
              <a:p>
                <a:r>
                  <a:rPr lang="en-DE" dirty="0"/>
                  <a:t>Existing vexpf: LUT + polynomial</a:t>
                </a:r>
              </a:p>
              <a:p>
                <a:pPr lvl="1"/>
                <a:r>
                  <a:rPr lang="en-DE" dirty="0"/>
                  <a:t>data-dependent LUT accesses</a:t>
                </a:r>
              </a:p>
              <a:p>
                <a:pPr lvl="1"/>
                <a:r>
                  <a:rPr lang="en-DE" dirty="0"/>
                  <a:t>awkward for packed SIMD</a:t>
                </a:r>
              </a:p>
              <a:p>
                <a:r>
                  <a:rPr lang="en-DE" dirty="0"/>
                  <a:t>Softmax-specific scaling &amp; squaring [2]</a:t>
                </a:r>
              </a:p>
              <a:p>
                <a:pPr lvl="1"/>
                <a:r>
                  <a:rPr lang="en-DE" dirty="0"/>
                  <a:t>Clamp the numerically negligible Softmax tail</a:t>
                </a:r>
              </a:p>
              <a:p>
                <a:pPr lvl="2"/>
                <a14:m>
                  <m:oMath xmlns:m="http://schemas.openxmlformats.org/officeDocument/2006/math">
                    <m:sSup>
                      <m:sSupPr>
                        <m:ctrlPr>
                          <a:rPr lang="de-DE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−23</m:t>
                        </m:r>
                      </m:sup>
                    </m:sSup>
                    <m:r>
                      <a:rPr lang="de-DE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de-DE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−10</m:t>
                        </m:r>
                      </m:sup>
                    </m:sSup>
                  </m:oMath>
                </a14:m>
                <a:endParaRPr lang="en-DE" dirty="0"/>
              </a:p>
              <a:p>
                <a:pPr lvl="1"/>
                <a:r>
                  <a:rPr lang="en-DE" dirty="0"/>
                  <a:t>cubic on small interval </a:t>
                </a:r>
                <a:endParaRPr lang="de-DE" b="1" dirty="0">
                  <a:ea typeface="Calibri"/>
                  <a:cs typeface="Calibri"/>
                </a:endParaRPr>
              </a:p>
              <a:p>
                <a:r>
                  <a:rPr lang="en-DE" dirty="0"/>
                  <a:t>Maps efficiently to Snitch </a:t>
                </a:r>
              </a:p>
              <a:p>
                <a:pPr lvl="1"/>
                <a:r>
                  <a:rPr lang="en-DE" dirty="0"/>
                  <a:t>2-way FP32 SIMD</a:t>
                </a:r>
              </a:p>
              <a:p>
                <a:pPr lvl="1"/>
                <a:r>
                  <a:rPr lang="en-DE" dirty="0"/>
                  <a:t>8 exp in parallel </a:t>
                </a:r>
              </a:p>
              <a:p>
                <a:pPr lvl="1"/>
                <a:r>
                  <a:rPr lang="en-DE" dirty="0"/>
                  <a:t>Works with 16-entry sequencer (unlike LUT version)</a:t>
                </a:r>
              </a:p>
              <a:p>
                <a:pPr marL="287655" indent="-287655"/>
                <a:r>
                  <a:rPr lang="de-DE" b="1" dirty="0" err="1">
                    <a:ea typeface="Calibri"/>
                    <a:cs typeface="Calibri"/>
                  </a:rPr>
                  <a:t>Accuracy</a:t>
                </a:r>
                <a:r>
                  <a:rPr lang="de-DE" b="1" dirty="0">
                    <a:ea typeface="Calibri"/>
                    <a:cs typeface="Calibri"/>
                  </a:rPr>
                  <a:t> </a:t>
                </a:r>
                <a:r>
                  <a:rPr lang="de-DE" b="1" dirty="0" err="1">
                    <a:ea typeface="Calibri"/>
                    <a:cs typeface="Calibri"/>
                  </a:rPr>
                  <a:t>within</a:t>
                </a:r>
                <a:r>
                  <a:rPr lang="de-DE" b="1" dirty="0">
                    <a:ea typeface="Calibri"/>
                    <a:cs typeface="Calibri"/>
                  </a:rPr>
                  <a:t> </a:t>
                </a:r>
                <a:r>
                  <a:rPr lang="de-DE" b="1" dirty="0" err="1">
                    <a:ea typeface="Calibri"/>
                    <a:cs typeface="Calibri"/>
                  </a:rPr>
                  <a:t>baseline</a:t>
                </a:r>
                <a:r>
                  <a:rPr lang="de-DE" b="1" dirty="0">
                    <a:ea typeface="Calibri"/>
                    <a:cs typeface="Calibri"/>
                  </a:rPr>
                  <a:t> </a:t>
                </a:r>
                <a:r>
                  <a:rPr lang="de-DE" b="1" dirty="0" err="1">
                    <a:ea typeface="Calibri"/>
                    <a:cs typeface="Calibri"/>
                  </a:rPr>
                  <a:t>verifier</a:t>
                </a:r>
                <a:r>
                  <a:rPr lang="de-DE" b="1" dirty="0">
                    <a:ea typeface="Calibri"/>
                    <a:cs typeface="Calibri"/>
                  </a:rPr>
                  <a:t> </a:t>
                </a:r>
                <a:r>
                  <a:rPr lang="de-DE" b="1" dirty="0" err="1">
                    <a:ea typeface="Calibri"/>
                    <a:cs typeface="Calibri"/>
                  </a:rPr>
                  <a:t>tolerance</a:t>
                </a:r>
                <a:endParaRPr lang="de-DE" b="1" dirty="0">
                  <a:ea typeface="Calibri"/>
                  <a:cs typeface="Calibri"/>
                </a:endParaRPr>
              </a:p>
              <a:p>
                <a:pPr marL="503651" lvl="1" indent="-287655"/>
                <a:endParaRPr lang="de-DE" b="1" dirty="0">
                  <a:ea typeface="Calibri"/>
                  <a:cs typeface="Calibri"/>
                </a:endParaRPr>
              </a:p>
              <a:p>
                <a:pPr marL="503651" lvl="1" indent="-287655"/>
                <a:endParaRPr lang="de-DE" sz="1600" dirty="0">
                  <a:ea typeface="Calibri"/>
                  <a:cs typeface="Calibri"/>
                </a:endParaRPr>
              </a:p>
              <a:p>
                <a:pPr lvl="1"/>
                <a:endParaRPr lang="de-DE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E10C0D5-6CA2-B1A0-1795-5DCD3C49ED1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3"/>
              </p:nvPr>
            </p:nvSpPr>
            <p:spPr>
              <a:xfrm>
                <a:off x="245092" y="742219"/>
                <a:ext cx="5958854" cy="4178786"/>
              </a:xfrm>
              <a:blipFill>
                <a:blip r:embed="rId3"/>
                <a:stretch>
                  <a:fillRect l="-2553" t="-1212" r="-426" b="-23333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833333-E479-2E59-6F0A-39F8A95D3DD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de-DE" dirty="0"/>
              <a:t>SoC </a:t>
            </a:r>
            <a:r>
              <a:rPr lang="de-DE" dirty="0" err="1"/>
              <a:t>DaML</a:t>
            </a:r>
            <a:r>
              <a:rPr lang="de-DE" dirty="0"/>
              <a:t> Mini Project </a:t>
            </a:r>
            <a:r>
              <a:rPr lang="de-DE" dirty="0" err="1"/>
              <a:t>Presentation</a:t>
            </a:r>
            <a:r>
              <a:rPr lang="de-DE" dirty="0"/>
              <a:t> Lars Kröger, 20.08.2026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3516A5-2E46-23AA-1D5F-4B344A83237A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33867F2A-E750-44E7-A740-D3E09DF683AD}" type="slidenum">
              <a:rPr lang="en-US" smtClean="0"/>
              <a:pPr/>
              <a:t>11</a:t>
            </a:fld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658F78DB-0D12-6EA5-EA78-C804C93F8967}"/>
                  </a:ext>
                </a:extLst>
              </p:cNvPr>
              <p:cNvSpPr/>
              <p:nvPr/>
            </p:nvSpPr>
            <p:spPr>
              <a:xfrm>
                <a:off x="6370310" y="1228420"/>
                <a:ext cx="5080112" cy="4737665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 w="76200">
                <a:solidFill>
                  <a:schemeClr val="accent2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de-DE" sz="2400" b="1" i="1" cap="none" spc="0" smtClean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Cambria Math" panose="02040503050406030204" pitchFamily="18" charset="0"/>
                          <a:cs typeface="Arial Narrow" panose="020B0604020202020204" pitchFamily="34" charset="0"/>
                        </a:rPr>
                        <m:t>𝒙</m:t>
                      </m:r>
                      <m:r>
                        <a:rPr lang="de-DE" sz="2400" b="1" i="1" cap="none" spc="0" smtClean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Cambria Math" panose="02040503050406030204" pitchFamily="18" charset="0"/>
                          <a:cs typeface="Arial Narrow" panose="020B0604020202020204" pitchFamily="34" charset="0"/>
                        </a:rPr>
                        <m:t>=</m:t>
                      </m:r>
                      <m:sSub>
                        <m:sSubPr>
                          <m:ctrlPr>
                            <a:rPr lang="de-DE" sz="2400" b="1" i="1" cap="none" spc="0" smtClean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latin typeface="Cambria Math" panose="02040503050406030204" pitchFamily="18" charset="0"/>
                              <a:cs typeface="Arial Narrow" panose="020B0604020202020204" pitchFamily="34" charset="0"/>
                            </a:rPr>
                          </m:ctrlPr>
                        </m:sSubPr>
                        <m:e>
                          <m:r>
                            <a:rPr lang="de-DE" sz="2400" b="1" i="1" cap="none" spc="0" smtClean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latin typeface="Cambria Math" panose="02040503050406030204" pitchFamily="18" charset="0"/>
                              <a:cs typeface="Arial Narrow" panose="020B0604020202020204" pitchFamily="34" charset="0"/>
                            </a:rPr>
                            <m:t>𝒔</m:t>
                          </m:r>
                        </m:e>
                        <m:sub>
                          <m:r>
                            <a:rPr lang="de-DE" sz="2400" b="1" i="1" cap="none" spc="0" smtClean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latin typeface="Cambria Math" panose="02040503050406030204" pitchFamily="18" charset="0"/>
                              <a:cs typeface="Arial Narrow" panose="020B0604020202020204" pitchFamily="34" charset="0"/>
                            </a:rPr>
                            <m:t>𝒊</m:t>
                          </m:r>
                        </m:sub>
                      </m:sSub>
                      <m:r>
                        <a:rPr lang="de-DE" sz="2400" b="1" i="1" cap="none" spc="0" smtClean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Cambria Math" panose="02040503050406030204" pitchFamily="18" charset="0"/>
                          <a:cs typeface="Arial Narrow" panose="020B0604020202020204" pitchFamily="34" charset="0"/>
                        </a:rPr>
                        <m:t>−</m:t>
                      </m:r>
                      <m:sSub>
                        <m:sSubPr>
                          <m:ctrlPr>
                            <a:rPr lang="de-DE" sz="2400" b="1" i="1" cap="none" spc="0" smtClean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latin typeface="Cambria Math" panose="02040503050406030204" pitchFamily="18" charset="0"/>
                              <a:cs typeface="Arial Narrow" panose="020B0604020202020204" pitchFamily="34" charset="0"/>
                            </a:rPr>
                          </m:ctrlPr>
                        </m:sSubPr>
                        <m:e>
                          <m:r>
                            <a:rPr lang="de-DE" sz="2400" b="1" i="1" cap="none" spc="0" smtClean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latin typeface="Cambria Math" panose="02040503050406030204" pitchFamily="18" charset="0"/>
                              <a:cs typeface="Arial Narrow" panose="020B0604020202020204" pitchFamily="34" charset="0"/>
                            </a:rPr>
                            <m:t>𝒎</m:t>
                          </m:r>
                        </m:e>
                        <m:sub>
                          <m:r>
                            <a:rPr lang="de-DE" sz="2400" b="1" i="1" cap="none" spc="0" smtClean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latin typeface="Cambria Math" panose="02040503050406030204" pitchFamily="18" charset="0"/>
                              <a:cs typeface="Arial Narrow" panose="020B0604020202020204" pitchFamily="34" charset="0"/>
                            </a:rPr>
                            <m:t>𝒕</m:t>
                          </m:r>
                        </m:sub>
                      </m:sSub>
                      <m:r>
                        <a:rPr lang="de-DE" sz="2400" b="1" i="1" cap="none" spc="0" smtClean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Cambria Math" panose="02040503050406030204" pitchFamily="18" charset="0"/>
                          <a:cs typeface="Arial Narrow" panose="020B0604020202020204" pitchFamily="34" charset="0"/>
                        </a:rPr>
                        <m:t>  </m:t>
                      </m:r>
                      <m:r>
                        <a:rPr lang="de-DE" sz="2400" b="1" i="1" cap="none" spc="0" smtClean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Cambria Math" panose="02040503050406030204" pitchFamily="18" charset="0"/>
                          <a:cs typeface="Arial Narrow" panose="020B0604020202020204" pitchFamily="34" charset="0"/>
                        </a:rPr>
                        <m:t>𝒙</m:t>
                      </m:r>
                      <m:r>
                        <a:rPr lang="de-DE" sz="2400" b="1" i="1" cap="none" spc="0" smtClean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 Narrow" panose="020B0604020202020204" pitchFamily="34" charset="0"/>
                        </a:rPr>
                        <m:t>∈</m:t>
                      </m:r>
                      <m:r>
                        <a:rPr lang="de-DE" sz="2400" b="1" i="1" cap="none" spc="0" smtClean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Cambria Math" panose="02040503050406030204" pitchFamily="18" charset="0"/>
                          <a:cs typeface="Arial Narrow" panose="020B0604020202020204" pitchFamily="34" charset="0"/>
                        </a:rPr>
                        <m:t>[−</m:t>
                      </m:r>
                      <m:r>
                        <a:rPr lang="de-DE" sz="2400" b="1" i="1" cap="none" spc="0" smtClean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Cambria Math" panose="02040503050406030204" pitchFamily="18" charset="0"/>
                          <a:cs typeface="Arial Narrow" panose="020B0604020202020204" pitchFamily="34" charset="0"/>
                        </a:rPr>
                        <m:t>𝟐𝟑</m:t>
                      </m:r>
                      <m:r>
                        <a:rPr lang="de-DE" sz="2400" b="1" i="1" cap="none" spc="0" smtClean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Cambria Math" panose="02040503050406030204" pitchFamily="18" charset="0"/>
                          <a:cs typeface="Arial Narrow" panose="020B0604020202020204" pitchFamily="34" charset="0"/>
                        </a:rPr>
                        <m:t>,</m:t>
                      </m:r>
                      <m:r>
                        <a:rPr lang="de-DE" sz="2400" b="1" i="1" cap="none" spc="0" smtClean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Cambria Math" panose="02040503050406030204" pitchFamily="18" charset="0"/>
                          <a:cs typeface="Arial Narrow" panose="020B0604020202020204" pitchFamily="34" charset="0"/>
                        </a:rPr>
                        <m:t>𝟎</m:t>
                      </m:r>
                      <m:r>
                        <a:rPr lang="de-DE" sz="2400" b="1" i="1" cap="none" spc="0" smtClean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Cambria Math" panose="02040503050406030204" pitchFamily="18" charset="0"/>
                          <a:cs typeface="Arial Narrow" panose="020B0604020202020204" pitchFamily="34" charset="0"/>
                        </a:rPr>
                        <m:t>]</m:t>
                      </m:r>
                    </m:oMath>
                  </m:oMathPara>
                </a14:m>
                <a:endParaRPr lang="de-DE" sz="2400" b="1" i="1" cap="none" spc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latin typeface="Cambria Math" panose="02040503050406030204" pitchFamily="18" charset="0"/>
                  <a:cs typeface="Arial Narrow" panose="020B0604020202020204" pitchFamily="34" charset="0"/>
                </a:endParaRPr>
              </a:p>
              <a:p>
                <a:pPr algn="ctr"/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de-DE" sz="2800" b="1" i="1" cap="none" spc="0" smtClean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latin typeface="Cambria Math" panose="02040503050406030204" pitchFamily="18" charset="0"/>
                              <a:cs typeface="Arial Narrow" panose="020B0604020202020204" pitchFamily="34" charset="0"/>
                            </a:rPr>
                          </m:ctrlPr>
                        </m:sSupPr>
                        <m:e>
                          <m:r>
                            <a:rPr lang="de-DE" sz="2800" b="1" i="1" cap="none" spc="0" smtClean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latin typeface="Cambria Math" panose="02040503050406030204" pitchFamily="18" charset="0"/>
                              <a:cs typeface="Arial Narrow" panose="020B0604020202020204" pitchFamily="34" charset="0"/>
                            </a:rPr>
                            <m:t>𝒆</m:t>
                          </m:r>
                        </m:e>
                        <m:sup>
                          <m:r>
                            <a:rPr lang="de-DE" sz="2800" b="1" i="1" cap="none" spc="0" smtClean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latin typeface="Cambria Math" panose="02040503050406030204" pitchFamily="18" charset="0"/>
                              <a:cs typeface="Arial Narrow" panose="020B0604020202020204" pitchFamily="34" charset="0"/>
                            </a:rPr>
                            <m:t>𝒙</m:t>
                          </m:r>
                        </m:sup>
                      </m:sSup>
                      <m:r>
                        <a:rPr lang="de-DE" sz="2800" b="1" i="1" cap="none" spc="0" smtClean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Cambria Math" panose="02040503050406030204" pitchFamily="18" charset="0"/>
                          <a:cs typeface="Arial Narrow" panose="020B0604020202020204" pitchFamily="34" charset="0"/>
                        </a:rPr>
                        <m:t>=(</m:t>
                      </m:r>
                      <m:sSup>
                        <m:sSupPr>
                          <m:ctrlPr>
                            <a:rPr lang="de-DE" sz="2800" b="1" i="1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  <a:cs typeface="Arial Narrow" panose="020B0604020202020204" pitchFamily="34" charset="0"/>
                            </a:rPr>
                          </m:ctrlPr>
                        </m:sSupPr>
                        <m:e>
                          <m:sSup>
                            <m:sSupPr>
                              <m:ctrlPr>
                                <a:rPr lang="de-DE" sz="2800" b="1" i="1"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  <a:cs typeface="Arial Narrow" panose="020B0604020202020204" pitchFamily="34" charset="0"/>
                                </a:rPr>
                              </m:ctrlPr>
                            </m:sSupPr>
                            <m:e>
                              <m:r>
                                <a:rPr lang="de-DE" sz="2800" b="1" i="1"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  <a:cs typeface="Arial Narrow" panose="020B0604020202020204" pitchFamily="34" charset="0"/>
                                </a:rPr>
                                <m:t>𝒆</m:t>
                              </m:r>
                            </m:e>
                            <m:sup>
                              <m:f>
                                <m:fPr>
                                  <m:ctrlPr>
                                    <a:rPr lang="de-DE" sz="2800" b="1" i="1">
                                      <a:solidFill>
                                        <a:sysClr val="windowText" lastClr="000000"/>
                                      </a:solidFill>
                                      <a:latin typeface="Cambria Math" panose="02040503050406030204" pitchFamily="18" charset="0"/>
                                      <a:cs typeface="Arial Narrow" panose="020B0604020202020204" pitchFamily="34" charset="0"/>
                                    </a:rPr>
                                  </m:ctrlPr>
                                </m:fPr>
                                <m:num>
                                  <m:r>
                                    <a:rPr lang="de-DE" sz="2800" b="1" i="1">
                                      <a:solidFill>
                                        <a:sysClr val="windowText" lastClr="000000"/>
                                      </a:solidFill>
                                      <a:latin typeface="Cambria Math" panose="02040503050406030204" pitchFamily="18" charset="0"/>
                                      <a:cs typeface="Arial Narrow" panose="020B0604020202020204" pitchFamily="34" charset="0"/>
                                    </a:rPr>
                                    <m:t>𝒙</m:t>
                                  </m:r>
                                </m:num>
                                <m:den>
                                  <m:r>
                                    <a:rPr lang="de-DE" sz="2800" b="1" i="1">
                                      <a:solidFill>
                                        <a:sysClr val="windowText" lastClr="000000"/>
                                      </a:solidFill>
                                      <a:latin typeface="Cambria Math" panose="02040503050406030204" pitchFamily="18" charset="0"/>
                                      <a:cs typeface="Arial Narrow" panose="020B0604020202020204" pitchFamily="34" charset="0"/>
                                    </a:rPr>
                                    <m:t>𝟏𝟐𝟖</m:t>
                                  </m:r>
                                </m:den>
                              </m:f>
                            </m:sup>
                          </m:sSup>
                          <m:r>
                            <a:rPr lang="de-DE" sz="2800" b="1" i="1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  <a:cs typeface="Arial Narrow" panose="020B0604020202020204" pitchFamily="34" charset="0"/>
                            </a:rPr>
                            <m:t>)</m:t>
                          </m:r>
                          <m:r>
                            <m:rPr>
                              <m:nor/>
                            </m:rPr>
                            <a:rPr lang="de-DE" sz="2800" b="1" i="0" dirty="0">
                              <a:solidFill>
                                <a:sysClr val="windowText" lastClr="000000"/>
                              </a:solidFill>
                              <a:cs typeface="Arial Narrow" panose="020B0604020202020204" pitchFamily="34" charset="0"/>
                            </a:rPr>
                            <m:t> </m:t>
                          </m:r>
                        </m:e>
                        <m:sup>
                          <m:r>
                            <a:rPr lang="de-DE" sz="2800" b="1" i="1" cap="none" spc="0" smtClean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latin typeface="Cambria Math" panose="02040503050406030204" pitchFamily="18" charset="0"/>
                              <a:cs typeface="Arial Narrow" panose="020B0604020202020204" pitchFamily="34" charset="0"/>
                            </a:rPr>
                            <m:t>𝟏𝟐𝟖</m:t>
                          </m:r>
                        </m:sup>
                      </m:sSup>
                    </m:oMath>
                  </m:oMathPara>
                </a14:m>
                <a:endParaRPr lang="de-DE" sz="2400" b="1" i="0" cap="none" spc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latin typeface="+mj-lt"/>
                  <a:cs typeface="Arial Narrow" panose="020B0604020202020204" pitchFamily="34" charset="0"/>
                </a:endParaRPr>
              </a:p>
              <a:p>
                <a:pPr algn="ctr"/>
                <a14:m>
                  <m:oMathPara xmlns:m="http://schemas.openxmlformats.org/officeDocument/2006/math">
                    <m:oMath>
                      <m:r>
                        <a:rPr lang="de-DE" sz="2400" b="1" i="1"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  <a:cs typeface="Arial Narrow" panose="020B0604020202020204" pitchFamily="34" charset="0"/>
                        </a:rPr>
                        <m:t>𝒙</m:t>
                      </m:r>
                      <m:r>
                        <a:rPr lang="de-DE" sz="2400" b="1" i="1" smtClean="0"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  <a:cs typeface="Arial Narrow" panose="020B0604020202020204" pitchFamily="34" charset="0"/>
                        </a:rPr>
                        <m:t>/</m:t>
                      </m:r>
                      <m:r>
                        <a:rPr lang="de-DE" sz="2400" b="1" i="1" smtClean="0"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  <a:cs typeface="Arial Narrow" panose="020B0604020202020204" pitchFamily="34" charset="0"/>
                        </a:rPr>
                        <m:t>𝟏𝟐𝟖</m:t>
                      </m:r>
                      <m:r>
                        <a:rPr lang="de-DE" sz="2400" b="1" i="1"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 Narrow" panose="020B0604020202020204" pitchFamily="34" charset="0"/>
                        </a:rPr>
                        <m:t>∈</m:t>
                      </m:r>
                      <m:r>
                        <a:rPr lang="de-DE" sz="2400" b="1" i="1"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  <a:cs typeface="Arial Narrow" panose="020B0604020202020204" pitchFamily="34" charset="0"/>
                        </a:rPr>
                        <m:t>[−</m:t>
                      </m:r>
                      <m:r>
                        <a:rPr lang="de-DE" sz="2400" b="1" i="1" smtClean="0"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  <a:cs typeface="Arial Narrow" panose="020B0604020202020204" pitchFamily="34" charset="0"/>
                        </a:rPr>
                        <m:t>𝟎</m:t>
                      </m:r>
                      <m:r>
                        <a:rPr lang="de-DE" sz="2400" b="1" i="1" smtClean="0"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  <a:cs typeface="Arial Narrow" panose="020B0604020202020204" pitchFamily="34" charset="0"/>
                        </a:rPr>
                        <m:t>.</m:t>
                      </m:r>
                      <m:r>
                        <a:rPr lang="de-DE" sz="2400" b="1" i="1" smtClean="0"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  <a:cs typeface="Arial Narrow" panose="020B0604020202020204" pitchFamily="34" charset="0"/>
                        </a:rPr>
                        <m:t>𝟏𝟖</m:t>
                      </m:r>
                      <m:r>
                        <a:rPr lang="de-DE" sz="2400" b="1" i="1"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  <a:cs typeface="Arial Narrow" panose="020B0604020202020204" pitchFamily="34" charset="0"/>
                        </a:rPr>
                        <m:t>,</m:t>
                      </m:r>
                      <m:r>
                        <a:rPr lang="de-DE" sz="2400" b="1" i="1"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  <a:cs typeface="Arial Narrow" panose="020B0604020202020204" pitchFamily="34" charset="0"/>
                        </a:rPr>
                        <m:t>𝟎</m:t>
                      </m:r>
                      <m:r>
                        <a:rPr lang="de-DE" sz="2400" b="1" i="1"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  <a:cs typeface="Arial Narrow" panose="020B0604020202020204" pitchFamily="34" charset="0"/>
                        </a:rPr>
                        <m:t>]</m:t>
                      </m:r>
                    </m:oMath>
                  </m:oMathPara>
                </a14:m>
                <a:endParaRPr lang="de-DE" sz="2400" i="0" cap="none" spc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latin typeface="+mj-lt"/>
                  <a:cs typeface="Arial Narrow" panose="020B0604020202020204" pitchFamily="34" charset="0"/>
                </a:endParaRPr>
              </a:p>
              <a:p>
                <a:pPr algn="ctr"/>
                <a:endParaRPr lang="de-DE" sz="2400" b="1" dirty="0">
                  <a:solidFill>
                    <a:sysClr val="windowText" lastClr="000000"/>
                  </a:solidFill>
                  <a:latin typeface="+mj-lt"/>
                  <a:cs typeface="Arial Narrow" panose="020B0604020202020204" pitchFamily="34" charset="0"/>
                </a:endParaRPr>
              </a:p>
              <a:p>
                <a:pPr algn="ctr"/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de-DE" sz="2400" b="1" i="1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  <a:cs typeface="Arial Narrow" panose="020B0604020202020204" pitchFamily="34" charset="0"/>
                            </a:rPr>
                          </m:ctrlPr>
                        </m:sSupPr>
                        <m:e>
                          <m:r>
                            <a:rPr lang="de-DE" sz="2400" b="1" i="1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  <a:cs typeface="Arial Narrow" panose="020B0604020202020204" pitchFamily="34" charset="0"/>
                            </a:rPr>
                            <m:t>𝒑</m:t>
                          </m:r>
                          <m:r>
                            <a:rPr lang="de-DE" sz="2400" b="1" i="1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  <a:cs typeface="Arial Narrow" panose="020B0604020202020204" pitchFamily="34" charset="0"/>
                            </a:rPr>
                            <m:t>= </m:t>
                          </m:r>
                          <m:r>
                            <a:rPr lang="de-DE" sz="2400" b="1" i="1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  <a:cs typeface="Arial Narrow" panose="020B0604020202020204" pitchFamily="34" charset="0"/>
                            </a:rPr>
                            <m:t>𝒆</m:t>
                          </m:r>
                        </m:e>
                        <m:sup>
                          <m:f>
                            <m:fPr>
                              <m:ctrlPr>
                                <a:rPr lang="de-DE" sz="2400" b="1" i="1"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  <a:cs typeface="Arial Narrow" panose="020B0604020202020204" pitchFamily="34" charset="0"/>
                                </a:rPr>
                              </m:ctrlPr>
                            </m:fPr>
                            <m:num>
                              <m:r>
                                <a:rPr lang="de-DE" sz="2400" b="1" i="1"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  <a:cs typeface="Arial Narrow" panose="020B0604020202020204" pitchFamily="34" charset="0"/>
                                </a:rPr>
                                <m:t>𝒙</m:t>
                              </m:r>
                            </m:num>
                            <m:den>
                              <m:r>
                                <a:rPr lang="de-DE" sz="2400" b="1" i="1"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  <a:cs typeface="Arial Narrow" panose="020B0604020202020204" pitchFamily="34" charset="0"/>
                                </a:rPr>
                                <m:t>𝟏𝟐𝟖</m:t>
                              </m:r>
                            </m:den>
                          </m:f>
                        </m:sup>
                      </m:sSup>
                      <m:r>
                        <a:rPr lang="de-DE" sz="2400" b="1" i="1" smtClean="0"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 Narrow" panose="020B0604020202020204" pitchFamily="34" charset="0"/>
                        </a:rPr>
                        <m:t>≈</m:t>
                      </m:r>
                      <m:r>
                        <a:rPr lang="de-DE" sz="2400" b="1" i="1" smtClean="0"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 Narrow" panose="020B0604020202020204" pitchFamily="34" charset="0"/>
                        </a:rPr>
                        <m:t>𝟏</m:t>
                      </m:r>
                      <m:r>
                        <a:rPr lang="de-DE" sz="2400" b="1" i="1" smtClean="0"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 Narrow" panose="020B0604020202020204" pitchFamily="34" charset="0"/>
                        </a:rPr>
                        <m:t>+</m:t>
                      </m:r>
                      <m:f>
                        <m:fPr>
                          <m:ctrlPr>
                            <a:rPr lang="de-DE" sz="2400" b="1" i="1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 Narrow" panose="020B0604020202020204" pitchFamily="34" charset="0"/>
                            </a:rPr>
                          </m:ctrlPr>
                        </m:fPr>
                        <m:num>
                          <m:r>
                            <a:rPr lang="de-DE" sz="2400" b="1" i="1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 Narrow" panose="020B0604020202020204" pitchFamily="34" charset="0"/>
                            </a:rPr>
                            <m:t>𝒙</m:t>
                          </m:r>
                        </m:num>
                        <m:den>
                          <m:r>
                            <a:rPr lang="de-DE" sz="2400" b="1" i="1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 Narrow" panose="020B0604020202020204" pitchFamily="34" charset="0"/>
                            </a:rPr>
                            <m:t>𝟏𝟐𝟖</m:t>
                          </m:r>
                        </m:den>
                      </m:f>
                      <m:r>
                        <a:rPr lang="de-DE" sz="2400" b="1" i="1" smtClean="0"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 Narrow" panose="020B0604020202020204" pitchFamily="34" charset="0"/>
                        </a:rPr>
                        <m:t>+</m:t>
                      </m:r>
                      <m:f>
                        <m:fPr>
                          <m:ctrlPr>
                            <a:rPr lang="de-DE" sz="2400" b="1" i="1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 Narrow" panose="020B0604020202020204" pitchFamily="34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de-DE" sz="2400" b="1" i="1" smtClean="0"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 Narrow" panose="020B0604020202020204" pitchFamily="34" charset="0"/>
                                </a:rPr>
                              </m:ctrlPr>
                            </m:sSupPr>
                            <m:e>
                              <m:r>
                                <a:rPr lang="de-DE" sz="2400" b="1" i="1" smtClean="0"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 Narrow" panose="020B0604020202020204" pitchFamily="34" charset="0"/>
                                </a:rPr>
                                <m:t>𝒙</m:t>
                              </m:r>
                            </m:e>
                            <m:sup>
                              <m:r>
                                <a:rPr lang="de-DE" sz="2400" b="1" i="1" smtClean="0"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 Narrow" panose="020B0604020202020204" pitchFamily="34" charset="0"/>
                                </a:rPr>
                                <m:t>𝟐</m:t>
                              </m:r>
                            </m:sup>
                          </m:sSup>
                        </m:num>
                        <m:den>
                          <m:r>
                            <a:rPr lang="de-DE" sz="2400" b="1" i="1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 Narrow" panose="020B0604020202020204" pitchFamily="34" charset="0"/>
                            </a:rPr>
                            <m:t>𝟐</m:t>
                          </m:r>
                          <m:r>
                            <a:rPr lang="de-DE" sz="2400" b="1" i="1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 Narrow" panose="020B0604020202020204" pitchFamily="34" charset="0"/>
                            </a:rPr>
                            <m:t>∗</m:t>
                          </m:r>
                          <m:sSup>
                            <m:sSupPr>
                              <m:ctrlPr>
                                <a:rPr lang="de-DE" sz="2400" b="1" i="1" smtClean="0"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 Narrow" panose="020B0604020202020204" pitchFamily="34" charset="0"/>
                                </a:rPr>
                              </m:ctrlPr>
                            </m:sSupPr>
                            <m:e>
                              <m:r>
                                <a:rPr lang="de-DE" sz="2400" b="1" i="1" smtClean="0"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 Narrow" panose="020B0604020202020204" pitchFamily="34" charset="0"/>
                                </a:rPr>
                                <m:t>𝟏𝟐𝟖</m:t>
                              </m:r>
                            </m:e>
                            <m:sup>
                              <m:r>
                                <a:rPr lang="de-DE" sz="2400" b="1" i="1" smtClean="0"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 Narrow" panose="020B0604020202020204" pitchFamily="34" charset="0"/>
                                </a:rPr>
                                <m:t>𝟐</m:t>
                              </m:r>
                            </m:sup>
                          </m:sSup>
                        </m:den>
                      </m:f>
                      <m:r>
                        <a:rPr lang="de-DE" sz="2400" b="1" i="1" smtClean="0"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 Narrow" panose="020B0604020202020204" pitchFamily="34" charset="0"/>
                        </a:rPr>
                        <m:t>+</m:t>
                      </m:r>
                      <m:f>
                        <m:fPr>
                          <m:ctrlPr>
                            <a:rPr lang="de-DE" sz="2400" b="1" i="1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 Narrow" panose="020B0604020202020204" pitchFamily="34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de-DE" sz="2400" b="1" i="1" smtClean="0"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 Narrow" panose="020B0604020202020204" pitchFamily="34" charset="0"/>
                                </a:rPr>
                              </m:ctrlPr>
                            </m:sSupPr>
                            <m:e>
                              <m:r>
                                <a:rPr lang="de-DE" sz="2400" b="1" i="1" smtClean="0"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 Narrow" panose="020B0604020202020204" pitchFamily="34" charset="0"/>
                                </a:rPr>
                                <m:t>𝒙</m:t>
                              </m:r>
                            </m:e>
                            <m:sup>
                              <m:r>
                                <a:rPr lang="de-DE" sz="2400" b="1" i="1" smtClean="0"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 Narrow" panose="020B0604020202020204" pitchFamily="34" charset="0"/>
                                </a:rPr>
                                <m:t>𝟑</m:t>
                              </m:r>
                            </m:sup>
                          </m:sSup>
                        </m:num>
                        <m:den>
                          <m:r>
                            <a:rPr lang="de-DE" sz="2400" b="1" i="1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 Narrow" panose="020B0604020202020204" pitchFamily="34" charset="0"/>
                            </a:rPr>
                            <m:t>𝟔</m:t>
                          </m:r>
                          <m:r>
                            <a:rPr lang="de-DE" sz="2400" b="1" i="1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 Narrow" panose="020B0604020202020204" pitchFamily="34" charset="0"/>
                            </a:rPr>
                            <m:t>∗</m:t>
                          </m:r>
                          <m:sSup>
                            <m:sSupPr>
                              <m:ctrlPr>
                                <a:rPr lang="de-DE" sz="2400" b="1" i="1" smtClean="0"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 Narrow" panose="020B0604020202020204" pitchFamily="34" charset="0"/>
                                </a:rPr>
                              </m:ctrlPr>
                            </m:sSupPr>
                            <m:e>
                              <m:r>
                                <a:rPr lang="de-DE" sz="2400" b="1" i="1" smtClean="0"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 Narrow" panose="020B0604020202020204" pitchFamily="34" charset="0"/>
                                </a:rPr>
                                <m:t>𝟏𝟐𝟖</m:t>
                              </m:r>
                            </m:e>
                            <m:sup>
                              <m:r>
                                <a:rPr lang="de-DE" sz="2400" b="1" i="1" smtClean="0"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 Narrow" panose="020B0604020202020204" pitchFamily="34" charset="0"/>
                                </a:rPr>
                                <m:t>𝟑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de-DE" sz="2400" b="1" i="0" cap="none" spc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latin typeface="+mj-lt"/>
                  <a:cs typeface="Arial Narrow" panose="020B0604020202020204" pitchFamily="34" charset="0"/>
                </a:endParaRPr>
              </a:p>
              <a:p>
                <a:pPr algn="ctr"/>
                <a:endParaRPr lang="de-DE" sz="2400" b="1" dirty="0">
                  <a:solidFill>
                    <a:sysClr val="windowText" lastClr="000000"/>
                  </a:solidFill>
                  <a:latin typeface="+mj-lt"/>
                  <a:cs typeface="Arial Narrow" panose="020B0604020202020204" pitchFamily="34" charset="0"/>
                </a:endParaRPr>
              </a:p>
              <a:p>
                <a:pPr algn="ctr"/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de-DE" sz="2400" b="1" i="1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  <a:cs typeface="Arial Narrow" panose="020B0604020202020204" pitchFamily="34" charset="0"/>
                            </a:rPr>
                          </m:ctrlPr>
                        </m:sSupPr>
                        <m:e>
                          <m:r>
                            <a:rPr lang="de-DE" sz="2400" b="1" i="1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  <a:cs typeface="Arial Narrow" panose="020B0604020202020204" pitchFamily="34" charset="0"/>
                            </a:rPr>
                            <m:t>𝒆</m:t>
                          </m:r>
                        </m:e>
                        <m:sup>
                          <m:r>
                            <a:rPr lang="de-DE" sz="2400" b="1" i="1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  <a:cs typeface="Arial Narrow" panose="020B0604020202020204" pitchFamily="34" charset="0"/>
                            </a:rPr>
                            <m:t>𝒙</m:t>
                          </m:r>
                        </m:sup>
                      </m:sSup>
                      <m:r>
                        <a:rPr lang="de-DE" sz="2400" b="1" i="1" smtClean="0"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  <a:cs typeface="Arial Narrow" panose="020B0604020202020204" pitchFamily="34" charset="0"/>
                        </a:rPr>
                        <m:t>=</m:t>
                      </m:r>
                      <m:sSup>
                        <m:sSupPr>
                          <m:ctrlPr>
                            <a:rPr lang="de-DE" sz="2400" b="1" i="1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  <a:cs typeface="Arial Narrow" panose="020B0604020202020204" pitchFamily="34" charset="0"/>
                            </a:rPr>
                          </m:ctrlPr>
                        </m:sSupPr>
                        <m:e>
                          <m:r>
                            <a:rPr lang="de-DE" sz="2400" b="1" i="1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  <a:cs typeface="Arial Narrow" panose="020B0604020202020204" pitchFamily="34" charset="0"/>
                            </a:rPr>
                            <m:t>𝒑</m:t>
                          </m:r>
                        </m:e>
                        <m:sup>
                          <m:r>
                            <a:rPr lang="de-DE" sz="2400" b="1" i="1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  <a:cs typeface="Arial Narrow" panose="020B0604020202020204" pitchFamily="34" charset="0"/>
                            </a:rPr>
                            <m:t>𝟏𝟐𝟖</m:t>
                          </m:r>
                          <m:r>
                            <a:rPr lang="de-DE" sz="2400" b="1" i="1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  <a:cs typeface="Arial Narrow" panose="020B0604020202020204" pitchFamily="34" charset="0"/>
                            </a:rPr>
                            <m:t> (=</m:t>
                          </m:r>
                          <m:sSup>
                            <m:sSupPr>
                              <m:ctrlPr>
                                <a:rPr lang="de-DE" sz="2400" b="1" i="1" smtClean="0"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  <a:cs typeface="Arial Narrow" panose="020B0604020202020204" pitchFamily="34" charset="0"/>
                                </a:rPr>
                              </m:ctrlPr>
                            </m:sSupPr>
                            <m:e>
                              <m:r>
                                <a:rPr lang="de-DE" sz="2400" b="1" i="1" smtClean="0"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  <a:cs typeface="Arial Narrow" panose="020B0604020202020204" pitchFamily="34" charset="0"/>
                                </a:rPr>
                                <m:t>𝟐</m:t>
                              </m:r>
                            </m:e>
                            <m:sup>
                              <m:r>
                                <a:rPr lang="de-DE" sz="2400" b="1" i="1" smtClean="0"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  <a:cs typeface="Arial Narrow" panose="020B0604020202020204" pitchFamily="34" charset="0"/>
                                </a:rPr>
                                <m:t>𝟕</m:t>
                              </m:r>
                            </m:sup>
                          </m:sSup>
                          <m:r>
                            <a:rPr lang="de-DE" sz="2400" b="1" i="1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  <a:cs typeface="Arial Narrow" panose="020B0604020202020204" pitchFamily="34" charset="0"/>
                            </a:rPr>
                            <m:t>)</m:t>
                          </m:r>
                        </m:sup>
                      </m:sSup>
                    </m:oMath>
                  </m:oMathPara>
                </a14:m>
                <a:endParaRPr lang="de-DE" sz="2400" b="1" i="0" cap="none" spc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latin typeface="+mj-lt"/>
                  <a:cs typeface="Arial Narrow" panose="020B0604020202020204" pitchFamily="34" charset="0"/>
                </a:endParaRPr>
              </a:p>
              <a:p>
                <a:pPr algn="ctr"/>
                <a:endParaRPr lang="de-DE" sz="2400" b="1" dirty="0">
                  <a:solidFill>
                    <a:sysClr val="windowText" lastClr="000000"/>
                  </a:solidFill>
                  <a:latin typeface="+mj-lt"/>
                  <a:cs typeface="Arial Narrow" panose="020B0604020202020204" pitchFamily="34" charset="0"/>
                </a:endParaRPr>
              </a:p>
              <a:p>
                <a:pPr algn="ctr"/>
                <a:r>
                  <a:rPr lang="en-DE" sz="2800" b="1" dirty="0">
                    <a:solidFill>
                      <a:sysClr val="windowText" lastClr="000000"/>
                    </a:solidFill>
                  </a:rPr>
                  <a:t>Max error in [-23,0] ≈ 0.64%</a:t>
                </a:r>
                <a:endParaRPr lang="de-DE" sz="2000" b="1" i="0" cap="none" spc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latin typeface="+mj-lt"/>
                  <a:cs typeface="Arial Narrow" panose="020B0604020202020204" pitchFamily="34" charset="0"/>
                </a:endParaRPr>
              </a:p>
            </p:txBody>
          </p:sp>
        </mc:Choice>
        <mc:Fallback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658F78DB-0D12-6EA5-EA78-C804C93F896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70310" y="1228420"/>
                <a:ext cx="5080112" cy="4737665"/>
              </a:xfrm>
              <a:prstGeom prst="rect">
                <a:avLst/>
              </a:prstGeom>
              <a:blipFill>
                <a:blip r:embed="rId4"/>
                <a:stretch>
                  <a:fillRect b="-1316"/>
                </a:stretch>
              </a:blipFill>
              <a:ln w="76200">
                <a:solidFill>
                  <a:schemeClr val="accent2"/>
                </a:solidFill>
              </a:ln>
              <a:effectLst/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88A5EB67-3DC8-781E-85C5-354BF77780CD}"/>
              </a:ext>
            </a:extLst>
          </p:cNvPr>
          <p:cNvSpPr txBox="1"/>
          <p:nvPr/>
        </p:nvSpPr>
        <p:spPr>
          <a:xfrm>
            <a:off x="347403" y="5688933"/>
            <a:ext cx="5786438" cy="417621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defTabSz="720000"/>
            <a:r>
              <a:rPr lang="en-DE" sz="1200" dirty="0">
                <a:solidFill>
                  <a:schemeClr val="bg1"/>
                </a:solidFill>
              </a:rPr>
              <a:t>[2] J. Sastre et al., “New Scaling-Squaring Taylor Algorithms for Computing the Matrix Exponential,” SIAM J. Sci. Comput., 37(1), A439–A455, 2015.</a:t>
            </a:r>
            <a:endParaRPr lang="de-DE" sz="1200" b="0" i="0" dirty="0">
              <a:solidFill>
                <a:schemeClr val="bg1"/>
              </a:solidFill>
              <a:latin typeface="+mn-lt"/>
              <a:cs typeface="Arial Narrow" panose="020B0604020202020204" pitchFamily="34" charset="0"/>
            </a:endParaRP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33E076FF-E4E0-758E-A616-038ED867029F}"/>
              </a:ext>
            </a:extLst>
          </p:cNvPr>
          <p:cNvGrpSpPr/>
          <p:nvPr/>
        </p:nvGrpSpPr>
        <p:grpSpPr>
          <a:xfrm>
            <a:off x="6322180" y="1228420"/>
            <a:ext cx="5176372" cy="3697409"/>
            <a:chOff x="6322180" y="1228420"/>
            <a:chExt cx="5176372" cy="3697409"/>
          </a:xfrm>
        </p:grpSpPr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E00FA949-609B-3702-A510-7F2DBBBA6D6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322180" y="1228420"/>
              <a:ext cx="5176372" cy="3697409"/>
            </a:xfrm>
            <a:prstGeom prst="rect">
              <a:avLst/>
            </a:prstGeom>
          </p:spPr>
        </p:pic>
        <p:sp>
          <p:nvSpPr>
            <p:cNvPr id="12" name="Left Arrow 11">
              <a:extLst>
                <a:ext uri="{FF2B5EF4-FFF2-40B4-BE49-F238E27FC236}">
                  <a16:creationId xmlns:a16="http://schemas.microsoft.com/office/drawing/2014/main" id="{C2B2071E-FF9B-C7EA-3692-88CEAB844596}"/>
                </a:ext>
              </a:extLst>
            </p:cNvPr>
            <p:cNvSpPr/>
            <p:nvPr/>
          </p:nvSpPr>
          <p:spPr>
            <a:xfrm rot="13191477">
              <a:off x="7908912" y="2643715"/>
              <a:ext cx="2500313" cy="708935"/>
            </a:xfrm>
            <a:prstGeom prst="leftArrow">
              <a:avLst/>
            </a:prstGeom>
            <a:solidFill>
              <a:schemeClr val="accent3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de-DE" b="1" i="0" cap="none" spc="0" dirty="0">
                <a:ln>
                  <a:noFill/>
                </a:ln>
                <a:solidFill>
                  <a:schemeClr val="bg2"/>
                </a:solidFill>
                <a:effectLst/>
                <a:latin typeface="+mj-lt"/>
                <a:cs typeface="Arial Narrow" panose="020B0604020202020204" pitchFamily="34" charset="0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0C096505-441D-8AC2-6C4D-D0EE582665F8}"/>
                </a:ext>
              </a:extLst>
            </p:cNvPr>
            <p:cNvSpPr txBox="1"/>
            <p:nvPr/>
          </p:nvSpPr>
          <p:spPr>
            <a:xfrm>
              <a:off x="9257338" y="1959067"/>
              <a:ext cx="1280647" cy="78581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algn="l" defTabSz="720000"/>
              <a:r>
                <a:rPr lang="de-DE" sz="3600" b="1" i="0" dirty="0">
                  <a:solidFill>
                    <a:schemeClr val="accent3"/>
                  </a:solidFill>
                  <a:latin typeface="+mn-lt"/>
                  <a:cs typeface="Arial Narrow" panose="020B0604020202020204" pitchFamily="34" charset="0"/>
                </a:rPr>
                <a:t>13.3x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8359862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6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34E807-2681-4000-6C6A-48BB36C1F3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+mj-lt"/>
                <a:cs typeface="+mj-lt"/>
              </a:rPr>
              <a:t>Optimization 3 — Overlap K/V Transfer with Compute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4F932E-1EAA-5073-B5CE-01B7E7040D9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99071" y="1205082"/>
            <a:ext cx="5725812" cy="5220000"/>
          </a:xfrm>
        </p:spPr>
        <p:txBody>
          <a:bodyPr/>
          <a:lstStyle/>
          <a:p>
            <a:pPr lvl="0"/>
            <a:r>
              <a:rPr lang="en-DE" dirty="0"/>
              <a:t>Keep two K/V tile buffers in TCDM</a:t>
            </a:r>
          </a:p>
          <a:p>
            <a:pPr lvl="1"/>
            <a:r>
              <a:rPr lang="en-DE" dirty="0"/>
              <a:t>Classical Double-Buffering</a:t>
            </a:r>
          </a:p>
          <a:p>
            <a:pPr lvl="0"/>
            <a:r>
              <a:rPr lang="en-DE" dirty="0"/>
              <a:t>Use AXI Burst-Aligned placement for DMA transfers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E9BB6A-4109-EF05-EB4D-ECAB1C7E2B3C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de-DE"/>
              <a:t>SoC DaML Mini Project Presentation Lars Kröger, 20.08.2026</a:t>
            </a: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BFB16BC-DA2A-D62F-AB66-B800F1B3B567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33867F2A-E750-44E7-A740-D3E09DF683AD}" type="slidenum">
              <a:rPr lang="en-US" smtClean="0"/>
              <a:pPr/>
              <a:t>12</a:t>
            </a:fld>
            <a:endParaRPr lang="en-US"/>
          </a:p>
        </p:txBody>
      </p:sp>
      <p:pic>
        <p:nvPicPr>
          <p:cNvPr id="7" name="Picture 6" descr="A diagram of a mathematical equation&#10;&#10;AI-generated content may be incorrect.">
            <a:extLst>
              <a:ext uri="{FF2B5EF4-FFF2-40B4-BE49-F238E27FC236}">
                <a16:creationId xmlns:a16="http://schemas.microsoft.com/office/drawing/2014/main" id="{56AE946A-19E9-999B-74D8-38EAFBCBB5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6986" y="1419433"/>
            <a:ext cx="4613068" cy="3784166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41C2D567-BA81-A3DA-F63F-D49C79C4EDF6}"/>
              </a:ext>
            </a:extLst>
          </p:cNvPr>
          <p:cNvSpPr/>
          <p:nvPr/>
        </p:nvSpPr>
        <p:spPr>
          <a:xfrm>
            <a:off x="985750" y="3316143"/>
            <a:ext cx="4352453" cy="156972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76200">
            <a:solidFill>
              <a:schemeClr val="accent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de-DE" sz="2800" b="1" i="0" cap="none" spc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cs typeface="Arial Narrow" panose="020B0604020202020204" pitchFamily="34" charset="0"/>
              </a:rPr>
              <a:t>Current </a:t>
            </a:r>
            <a:r>
              <a:rPr lang="de-DE" sz="2800" b="1" i="0" cap="none" spc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  <a:cs typeface="Arial Narrow" panose="020B0604020202020204" pitchFamily="34" charset="0"/>
              </a:rPr>
              <a:t>FlashAttention</a:t>
            </a:r>
            <a:r>
              <a:rPr lang="de-DE" sz="2800" b="1" i="0" cap="none" spc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cs typeface="Arial Narrow" panose="020B0604020202020204" pitchFamily="34" charset="0"/>
              </a:rPr>
              <a:t> </a:t>
            </a:r>
            <a:r>
              <a:rPr lang="de-DE" sz="2800" b="1" i="0" cap="none" spc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  <a:cs typeface="Arial Narrow" panose="020B0604020202020204" pitchFamily="34" charset="0"/>
              </a:rPr>
              <a:t>serializes</a:t>
            </a:r>
            <a:r>
              <a:rPr lang="de-DE" sz="2800" b="1" i="0" cap="none" spc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cs typeface="Arial Narrow" panose="020B0604020202020204" pitchFamily="34" charset="0"/>
              </a:rPr>
              <a:t> DMA and </a:t>
            </a:r>
            <a:r>
              <a:rPr lang="de-DE" sz="2800" b="1" i="0" cap="none" spc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  <a:cs typeface="Arial Narrow" panose="020B0604020202020204" pitchFamily="34" charset="0"/>
              </a:rPr>
              <a:t>Compute</a:t>
            </a:r>
            <a:endParaRPr lang="de-DE" sz="2800" b="1" i="0" cap="none" spc="0">
              <a:ln>
                <a:noFill/>
              </a:ln>
              <a:solidFill>
                <a:schemeClr val="tx1"/>
              </a:solidFill>
              <a:effectLst/>
              <a:latin typeface="+mj-lt"/>
              <a:cs typeface="Arial Narrow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335329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BB301D8F-A147-58A4-BF3A-FFF9E8E6C3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49208" y="1295229"/>
            <a:ext cx="6400800" cy="4572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966340E-8B65-2EF9-00F9-AEB6D6E876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070" y="170391"/>
            <a:ext cx="10836567" cy="620851"/>
          </a:xfrm>
        </p:spPr>
        <p:txBody>
          <a:bodyPr/>
          <a:lstStyle/>
          <a:p>
            <a:r>
              <a:rPr lang="en-DE"/>
              <a:t>Single-Cluster Results: Decode-Specialized FlashAttention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6FB80C-CC4D-627F-9649-E21655167F55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lvl="0"/>
            <a:r>
              <a:rPr lang="en-DE" dirty="0"/>
              <a:t>Single-cluster benchmark: d=64, B</a:t>
            </a:r>
            <a:r>
              <a:rPr lang="en-DE" baseline="-25000" dirty="0"/>
              <a:t>c</a:t>
            </a:r>
            <a:r>
              <a:rPr lang="en-DE" dirty="0"/>
              <a:t>= 64, FP32</a:t>
            </a:r>
          </a:p>
          <a:p>
            <a:pPr lvl="1"/>
            <a:r>
              <a:rPr lang="en-DE" dirty="0"/>
              <a:t>Double-buffered K/V tiles</a:t>
            </a:r>
          </a:p>
          <a:p>
            <a:pPr lvl="1"/>
            <a:r>
              <a:rPr lang="en-DE" dirty="0"/>
              <a:t>Full 512-bit NoC/DMA bandwidth available to one cluster</a:t>
            </a:r>
          </a:p>
          <a:p>
            <a:pPr lvl="0"/>
            <a:r>
              <a:rPr lang="en-DE" dirty="0"/>
              <a:t>Baseline: existing GEMM-based FlashAttention-2 kernel</a:t>
            </a:r>
          </a:p>
          <a:p>
            <a:pPr lvl="1"/>
            <a:r>
              <a:rPr lang="en-DE" dirty="0"/>
              <a:t>Compared against our decode-specialized GEMV implementation</a:t>
            </a:r>
            <a:endParaRPr lang="de-DE" dirty="0"/>
          </a:p>
          <a:p>
            <a:pPr lvl="0"/>
            <a:r>
              <a:rPr lang="en-DE" dirty="0"/>
              <a:t>Decode specialization: </a:t>
            </a:r>
            <a:r>
              <a:rPr lang="en-DE" dirty="0">
                <a:solidFill>
                  <a:schemeClr val="accent3"/>
                </a:solidFill>
              </a:rPr>
              <a:t>17.6×</a:t>
            </a:r>
            <a:r>
              <a:rPr lang="en-DE" dirty="0"/>
              <a:t> compute speedup</a:t>
            </a:r>
          </a:p>
          <a:p>
            <a:r>
              <a:rPr lang="en-DE" dirty="0"/>
              <a:t>Compute </a:t>
            </a:r>
            <a:r>
              <a:rPr lang="en-DE" b="1" dirty="0">
                <a:solidFill>
                  <a:schemeClr val="accent3"/>
                </a:solidFill>
              </a:rPr>
              <a:t>2.2x</a:t>
            </a:r>
            <a:r>
              <a:rPr lang="en-DE" dirty="0"/>
              <a:t> longer </a:t>
            </a:r>
            <a:r>
              <a:rPr lang="en-GB" dirty="0"/>
              <a:t>than</a:t>
            </a:r>
            <a:r>
              <a:rPr lang="en-DE" dirty="0"/>
              <a:t> data movement</a:t>
            </a:r>
          </a:p>
          <a:p>
            <a:endParaRPr lang="de-DE" dirty="0"/>
          </a:p>
          <a:p>
            <a:endParaRPr lang="de-DE" dirty="0"/>
          </a:p>
          <a:p>
            <a:endParaRPr lang="de-DE" dirty="0"/>
          </a:p>
          <a:p>
            <a:pPr lvl="1"/>
            <a:endParaRPr lang="de-DE" dirty="0"/>
          </a:p>
          <a:p>
            <a:pPr lvl="1"/>
            <a:endParaRPr lang="de-DE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6DD0BD-691C-5DC6-30E1-092FBD500C31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de-DE"/>
              <a:t>SoC DaML Mini Project Presentation Lars Kröger, 20.08.2026</a:t>
            </a: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7CEA34-D8A1-6983-9A81-641870997E66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33867F2A-E750-44E7-A740-D3E09DF683AD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15949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646932-20CD-DA3B-8B32-B1CAEEABCA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Memory </a:t>
            </a:r>
            <a:r>
              <a:rPr lang="de-DE" err="1"/>
              <a:t>Boundness</a:t>
            </a:r>
            <a:endParaRPr lang="de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DE89E2-6297-A77D-1E96-A51E29F3B59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99069" y="936000"/>
            <a:ext cx="5938894" cy="5220000"/>
          </a:xfrm>
        </p:spPr>
        <p:txBody>
          <a:bodyPr/>
          <a:lstStyle/>
          <a:p>
            <a:pPr marL="287655" indent="-287655"/>
            <a:r>
              <a:rPr lang="en-US" dirty="0">
                <a:ea typeface="Roboto Light"/>
                <a:cs typeface="Roboto Light"/>
              </a:rPr>
              <a:t>Working with tile-based </a:t>
            </a:r>
            <a:r>
              <a:rPr lang="en-US" dirty="0" err="1">
                <a:ea typeface="Roboto Light"/>
                <a:cs typeface="Roboto Light"/>
              </a:rPr>
              <a:t>Gwaihir</a:t>
            </a:r>
            <a:r>
              <a:rPr lang="en-US" dirty="0">
                <a:ea typeface="Roboto Light"/>
                <a:cs typeface="Roboto Light"/>
              </a:rPr>
              <a:t> SoC</a:t>
            </a:r>
          </a:p>
          <a:p>
            <a:pPr marL="503555" lvl="1" indent="-215900"/>
            <a:r>
              <a:rPr lang="en-US" dirty="0">
                <a:ea typeface="Roboto Light"/>
                <a:cs typeface="Roboto Light"/>
              </a:rPr>
              <a:t>4x4 compute tile array + 4 L2 memory tiles</a:t>
            </a:r>
          </a:p>
          <a:p>
            <a:pPr marL="503555" lvl="1" indent="-215900"/>
            <a:r>
              <a:rPr lang="en-US" dirty="0">
                <a:ea typeface="Roboto Light"/>
                <a:cs typeface="Roboto Light"/>
              </a:rPr>
              <a:t>Open source NoC: </a:t>
            </a:r>
            <a:r>
              <a:rPr lang="en-US" dirty="0" err="1">
                <a:ea typeface="Roboto Light"/>
                <a:cs typeface="Roboto Light"/>
              </a:rPr>
              <a:t>FlooNoC</a:t>
            </a:r>
            <a:r>
              <a:rPr lang="en-US" baseline="30000" dirty="0">
                <a:ea typeface="Roboto Light"/>
                <a:cs typeface="Roboto Light"/>
              </a:rPr>
              <a:t>[3]</a:t>
            </a:r>
            <a:r>
              <a:rPr lang="en-US" dirty="0">
                <a:ea typeface="Roboto Light"/>
                <a:cs typeface="Roboto Light"/>
              </a:rPr>
              <a:t> , configured to </a:t>
            </a:r>
            <a:r>
              <a:rPr lang="en-US" b="1" dirty="0">
                <a:ea typeface="Roboto Light"/>
                <a:cs typeface="Roboto Light"/>
              </a:rPr>
              <a:t>512 Bit Link width</a:t>
            </a:r>
          </a:p>
          <a:p>
            <a:r>
              <a:rPr lang="de-DE" dirty="0" err="1"/>
              <a:t>We</a:t>
            </a:r>
            <a:r>
              <a:rPr lang="de-DE" dirty="0"/>
              <a:t> </a:t>
            </a:r>
            <a:r>
              <a:rPr lang="de-DE" dirty="0" err="1"/>
              <a:t>can</a:t>
            </a:r>
            <a:r>
              <a:rPr lang="de-DE" dirty="0"/>
              <a:t> </a:t>
            </a:r>
            <a:r>
              <a:rPr lang="de-DE" dirty="0" err="1"/>
              <a:t>extend</a:t>
            </a:r>
            <a:r>
              <a:rPr lang="de-DE" dirty="0"/>
              <a:t> NoC and DMA </a:t>
            </a:r>
            <a:r>
              <a:rPr lang="de-DE" dirty="0" err="1"/>
              <a:t>data</a:t>
            </a:r>
            <a:r>
              <a:rPr lang="de-DE" dirty="0"/>
              <a:t> </a:t>
            </a:r>
            <a:r>
              <a:rPr lang="de-DE" dirty="0" err="1"/>
              <a:t>width</a:t>
            </a:r>
            <a:r>
              <a:rPr lang="de-DE" dirty="0"/>
              <a:t>, as </a:t>
            </a:r>
            <a:r>
              <a:rPr lang="de-DE" dirty="0" err="1"/>
              <a:t>done</a:t>
            </a:r>
            <a:r>
              <a:rPr lang="de-DE" dirty="0"/>
              <a:t> in </a:t>
            </a:r>
            <a:r>
              <a:rPr lang="de-DE" dirty="0" err="1"/>
              <a:t>previous</a:t>
            </a:r>
            <a:r>
              <a:rPr lang="de-DE" dirty="0"/>
              <a:t> </a:t>
            </a:r>
            <a:r>
              <a:rPr lang="de-DE" dirty="0" err="1"/>
              <a:t>semester</a:t>
            </a:r>
            <a:r>
              <a:rPr lang="de-DE" dirty="0"/>
              <a:t> </a:t>
            </a:r>
            <a:r>
              <a:rPr lang="de-DE" dirty="0" err="1"/>
              <a:t>project</a:t>
            </a:r>
            <a:endParaRPr lang="de-DE" dirty="0"/>
          </a:p>
          <a:p>
            <a:endParaRPr lang="de-DE" dirty="0"/>
          </a:p>
          <a:p>
            <a:r>
              <a:rPr lang="de-DE" dirty="0"/>
              <a:t>With </a:t>
            </a:r>
            <a:r>
              <a:rPr lang="de-DE" dirty="0" err="1"/>
              <a:t>our</a:t>
            </a:r>
            <a:r>
              <a:rPr lang="de-DE" dirty="0"/>
              <a:t> </a:t>
            </a:r>
            <a:r>
              <a:rPr lang="de-DE" dirty="0" err="1"/>
              <a:t>optimizations</a:t>
            </a:r>
            <a:r>
              <a:rPr lang="de-DE" dirty="0"/>
              <a:t>, FlashAttention-2 </a:t>
            </a:r>
            <a:r>
              <a:rPr lang="de-DE" dirty="0" err="1"/>
              <a:t>becomes</a:t>
            </a:r>
            <a:r>
              <a:rPr lang="de-DE" dirty="0"/>
              <a:t> </a:t>
            </a:r>
            <a:r>
              <a:rPr lang="de-DE" dirty="0" err="1"/>
              <a:t>memory-bound</a:t>
            </a:r>
            <a:r>
              <a:rPr lang="de-DE" dirty="0"/>
              <a:t>!</a:t>
            </a:r>
          </a:p>
          <a:p>
            <a:pPr lvl="1"/>
            <a:r>
              <a:rPr lang="de-DE" b="1" dirty="0">
                <a:solidFill>
                  <a:schemeClr val="accent3"/>
                </a:solidFill>
              </a:rPr>
              <a:t>1.8x</a:t>
            </a:r>
            <a:r>
              <a:rPr lang="de-DE" dirty="0"/>
              <a:t> </a:t>
            </a:r>
            <a:r>
              <a:rPr lang="de-DE" dirty="0" err="1"/>
              <a:t>speedup</a:t>
            </a:r>
            <a:r>
              <a:rPr lang="de-DE" dirty="0"/>
              <a:t> </a:t>
            </a:r>
            <a:r>
              <a:rPr lang="de-DE" dirty="0" err="1"/>
              <a:t>with</a:t>
            </a:r>
            <a:r>
              <a:rPr lang="de-DE" dirty="0"/>
              <a:t> 1024-bit DMA!</a:t>
            </a:r>
          </a:p>
          <a:p>
            <a:endParaRPr lang="de-DE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568742-D6B7-B2FB-D95E-EF99530E02B1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de-DE"/>
              <a:t>SoC DaML Mini Project Presentation Lars Kröger, 20.08.2026</a:t>
            </a: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D4AC804-9EFA-3B69-71F1-912AF55FF396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33867F2A-E750-44E7-A740-D3E09DF683AD}" type="slidenum">
              <a:rPr lang="en-US" smtClean="0"/>
              <a:pPr/>
              <a:t>14</a:t>
            </a:fld>
            <a:endParaRPr lang="en-US"/>
          </a:p>
        </p:txBody>
      </p:sp>
      <p:pic>
        <p:nvPicPr>
          <p:cNvPr id="6" name="Picture 5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6D4A194C-0848-CD89-AD41-BFDAAF8A21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66447" y="277616"/>
            <a:ext cx="2815491" cy="236750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CB2231B-3198-DD94-989E-887B0755A77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25907" y="2972621"/>
            <a:ext cx="3624569" cy="3020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49197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04883820"/>
      </p:ext>
    </p:extLst>
  </p:cSld>
  <p:clrMapOvr>
    <a:masterClrMapping/>
  </p:clrMapOvr>
</p:sld>
</file>

<file path=ppt/theme/theme1.xml><?xml version="1.0" encoding="utf-8"?>
<a:theme xmlns:a="http://schemas.openxmlformats.org/drawingml/2006/main" name="PULP Triangle">
  <a:themeElements>
    <a:clrScheme name="PULP palette">
      <a:dk1>
        <a:srgbClr val="000000"/>
      </a:dk1>
      <a:lt1>
        <a:srgbClr val="ABABAB"/>
      </a:lt1>
      <a:dk2>
        <a:srgbClr val="5D5D5D"/>
      </a:dk2>
      <a:lt2>
        <a:srgbClr val="FFFFFF"/>
      </a:lt2>
      <a:accent1>
        <a:srgbClr val="A8322C"/>
      </a:accent1>
      <a:accent2>
        <a:srgbClr val="1269B0"/>
      </a:accent2>
      <a:accent3>
        <a:srgbClr val="168638"/>
      </a:accent3>
      <a:accent4>
        <a:srgbClr val="F29545"/>
      </a:accent4>
      <a:accent5>
        <a:srgbClr val="910569"/>
      </a:accent5>
      <a:accent6>
        <a:srgbClr val="48592C"/>
      </a:accent6>
      <a:hlink>
        <a:srgbClr val="007996"/>
      </a:hlink>
      <a:folHlink>
        <a:srgbClr val="ABABAB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  <a:effectLst/>
      </a:spPr>
      <a:bodyPr rot="0" spcFirstLastPara="0" vertOverflow="overflow" horzOverflow="overflow" vert="horz" wrap="square" lIns="0" tIns="0" rIns="0" bIns="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b="1" i="0" cap="none" spc="0" dirty="0" smtClean="0">
            <a:ln>
              <a:noFill/>
            </a:ln>
            <a:solidFill>
              <a:schemeClr val="bg2"/>
            </a:solidFill>
            <a:effectLst/>
            <a:latin typeface="+mj-lt"/>
            <a:cs typeface="Arial Narrow" panose="020B0604020202020204" pitchFamily="34" charset="0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38100">
          <a:tailEnd type="triangl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 algn="l" defTabSz="720000">
          <a:defRPr sz="2400" b="0" i="0" dirty="0" smtClean="0">
            <a:solidFill>
              <a:schemeClr val="accent1"/>
            </a:solidFill>
            <a:latin typeface="+mn-lt"/>
            <a:cs typeface="Arial Narrow" panose="020B060402020202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2" id="{B8BA4FBB-27E3-B54C-A4F6-33F92A1B8962}" vid="{F046BBE3-FD9F-414A-BCD1-2FABE79EC859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3B727A0BC19BDA40A15B78EF4EA6A333" ma:contentTypeVersion="4" ma:contentTypeDescription="Ein neues Dokument erstellen." ma:contentTypeScope="" ma:versionID="740674bf627e5d9f2477de13f9ae3b0e">
  <xsd:schema xmlns:xsd="http://www.w3.org/2001/XMLSchema" xmlns:xs="http://www.w3.org/2001/XMLSchema" xmlns:p="http://schemas.microsoft.com/office/2006/metadata/properties" xmlns:ns3="c8edf7ca-e63a-4581-9fa2-287a76a8566f" targetNamespace="http://schemas.microsoft.com/office/2006/metadata/properties" ma:root="true" ma:fieldsID="0663cb524646d0633c2ceb3da247dbaa" ns3:_="">
    <xsd:import namespace="c8edf7ca-e63a-4581-9fa2-287a76a8566f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8edf7ca-e63a-4581-9fa2-287a76a8566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F2EAE6D9-6FFA-453C-A776-C791E19F140C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C7C63BF1-8421-4E77-B2DC-6656849F0F36}">
  <ds:schemaRefs>
    <ds:schemaRef ds:uri="c8edf7ca-e63a-4581-9fa2-287a76a8566f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B2256854-27BA-4BE7-9275-29FDD3BC72C9}">
  <ds:schemaRefs>
    <ds:schemaRef ds:uri="http://purl.org/dc/terms/"/>
    <ds:schemaRef ds:uri="http://www.w3.org/XML/1998/namespace"/>
    <ds:schemaRef ds:uri="http://schemas.microsoft.com/office/2006/documentManagement/types"/>
    <ds:schemaRef ds:uri="http://schemas.microsoft.com/office/2006/metadata/properties"/>
    <ds:schemaRef ds:uri="http://purl.org/dc/dcmitype/"/>
    <ds:schemaRef ds:uri="http://purl.org/dc/elements/1.1/"/>
    <ds:schemaRef ds:uri="http://schemas.microsoft.com/office/infopath/2007/PartnerControls"/>
    <ds:schemaRef ds:uri="http://schemas.openxmlformats.org/package/2006/metadata/core-properties"/>
    <ds:schemaRef ds:uri="c8edf7ca-e63a-4581-9fa2-287a76a8566f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2402</TotalTime>
  <Words>1025</Words>
  <Application>Microsoft Macintosh PowerPoint</Application>
  <PresentationFormat>Custom</PresentationFormat>
  <Paragraphs>179</Paragraphs>
  <Slides>15</Slides>
  <Notes>8</Notes>
  <HiddenSlides>5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15</vt:i4>
      </vt:variant>
    </vt:vector>
  </HeadingPairs>
  <TitlesOfParts>
    <vt:vector size="27" baseType="lpstr">
      <vt:lpstr>Aptos</vt:lpstr>
      <vt:lpstr>Aptos Display</vt:lpstr>
      <vt:lpstr>Arial</vt:lpstr>
      <vt:lpstr>Arial Narrow</vt:lpstr>
      <vt:lpstr>Calibri</vt:lpstr>
      <vt:lpstr>Calibri Light</vt:lpstr>
      <vt:lpstr>Cambria Math</vt:lpstr>
      <vt:lpstr>Consolas</vt:lpstr>
      <vt:lpstr>Roboto</vt:lpstr>
      <vt:lpstr>Roboto Light</vt:lpstr>
      <vt:lpstr>PULP Triangle</vt:lpstr>
      <vt:lpstr>Custom Design</vt:lpstr>
      <vt:lpstr>FlashAttention-2 for Autoregressive Inference</vt:lpstr>
      <vt:lpstr>Why Optimize FlashAttention-2 for Autoregressive Decode?</vt:lpstr>
      <vt:lpstr>Autoregressive Decode - QKV projection</vt:lpstr>
      <vt:lpstr>Attention</vt:lpstr>
      <vt:lpstr>Why autoregressive decoding changes attention</vt:lpstr>
      <vt:lpstr>FlashAttention-2</vt:lpstr>
      <vt:lpstr>Optimization 1 — K*q: Decode-specialized GEMV</vt:lpstr>
      <vt:lpstr>Optimization 1 — K*q: Decode-specialized GEMV</vt:lpstr>
      <vt:lpstr>Optimization 2 –  Bank-aware TCDM placement</vt:lpstr>
      <vt:lpstr>Optimization 2 — Vectorized Online Softmax</vt:lpstr>
      <vt:lpstr>Optimization 3 — Vectorized Online Softmax</vt:lpstr>
      <vt:lpstr>Optimization 3 — Overlap K/V Transfer with Compute</vt:lpstr>
      <vt:lpstr>Single-Cluster Results: Decode-Specialized FlashAttention</vt:lpstr>
      <vt:lpstr>Memory Boundness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Mazzola  Sergio</dc:creator>
  <cp:lastModifiedBy>Lars Kröger</cp:lastModifiedBy>
  <cp:revision>2</cp:revision>
  <dcterms:created xsi:type="dcterms:W3CDTF">2025-03-05T10:50:21Z</dcterms:created>
  <dcterms:modified xsi:type="dcterms:W3CDTF">2026-08-20T22:07:31Z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0x0101003B727A0BC19BDA40A15B78EF4EA6A333</vt:lpwstr>
  </property>
</Properties>
</file>